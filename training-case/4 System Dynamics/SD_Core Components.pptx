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3" autoAdjust="0"/>
    <p:restoredTop sz="94660"/>
  </p:normalViewPr>
  <p:slideViewPr>
    <p:cSldViewPr snapToGrid="0">
      <p:cViewPr varScale="1">
        <p:scale>
          <a:sx n="99" d="100"/>
          <a:sy n="99" d="100"/>
        </p:scale>
        <p:origin x="88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AFF7FC-AE79-C469-8A66-C829D4CB79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8224DA8-A869-F909-1BB9-F217588425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C7921A-C4BB-9720-D77D-C3C26649F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30CC6-7FB2-4C3D-99E8-73F6F6FE0E6A}" type="datetimeFigureOut">
              <a:rPr lang="de-DE" smtClean="0"/>
              <a:t>21.07.2025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B82C71-C8CA-86AB-65D7-D1B991FFC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40DED7-089F-79C9-1F72-D95D80964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32E1E-4A3A-44A5-B56E-A6942BD71DE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765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107FE6-96F5-D5A4-398F-2E6AD5EBC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FEF9FB5-646D-7D15-AA1A-E5FAB39DC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DC54B8-EF95-3FC9-10AA-7D52D7BC2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30CC6-7FB2-4C3D-99E8-73F6F6FE0E6A}" type="datetimeFigureOut">
              <a:rPr lang="de-DE" smtClean="0"/>
              <a:t>21.07.2025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3B6CC0-0A98-AAE9-D534-AAD39A827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21EE8D-6589-7B0E-5520-2EE067536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32E1E-4A3A-44A5-B56E-A6942BD71DE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5540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536948-0D34-0AA0-7A6E-4046471A8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F41A797-AC45-D410-8FF9-EBA02DCF9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72EE2FE-5D55-6246-A97E-D4E559ABE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30CC6-7FB2-4C3D-99E8-73F6F6FE0E6A}" type="datetimeFigureOut">
              <a:rPr lang="de-DE" smtClean="0"/>
              <a:t>21.07.2025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EA16325-D220-FF2C-36E9-A237984C4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2A9EA-9136-185D-BD1F-4A6F6679C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32E1E-4A3A-44A5-B56E-A6942BD71DE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4870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DAD47C-835F-6275-8215-0625C2005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98D1B-00BE-8A94-ED6B-27492350E0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043E495-E475-6B45-B6FE-DC5C759CBF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1C923DB-DAFF-F718-6066-F1E065B57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30CC6-7FB2-4C3D-99E8-73F6F6FE0E6A}" type="datetimeFigureOut">
              <a:rPr lang="de-DE" smtClean="0"/>
              <a:t>21.07.2025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C062E2B-1E0C-B9A9-9D16-5B10A56A2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96388ED-BE83-0C2E-462D-9F65D7431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32E1E-4A3A-44A5-B56E-A6942BD71DE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7891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7D4295-6561-34B5-CD2B-C35914C69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C8BBA95-30B2-92F4-6676-6A0B86E28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E6BAF91-C104-B8CC-2997-8689C1E08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8D35C9F-1BCE-D9F7-BD41-932E1D415D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535F9C7-78C9-E6D8-369C-3AB6CCC80F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B9E18C0-CCC5-C83F-A223-E4E44F9F9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30CC6-7FB2-4C3D-99E8-73F6F6FE0E6A}" type="datetimeFigureOut">
              <a:rPr lang="de-DE" smtClean="0"/>
              <a:t>21.07.2025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1F51585-27AD-D5FC-DCAD-18053A45E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3D0759B-6166-6ED5-89F7-3A72DBDDA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32E1E-4A3A-44A5-B56E-A6942BD71DE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3816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EC0B96-BD56-FAA5-1716-5D4337876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DD9DDFD-5958-605C-CF92-DA0F300C5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30CC6-7FB2-4C3D-99E8-73F6F6FE0E6A}" type="datetimeFigureOut">
              <a:rPr lang="de-DE" smtClean="0"/>
              <a:t>21.07.2025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B75E99F-CE50-BDC8-20D2-4C11F84E2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E7289F5-95A3-5210-7FCC-2580181AF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32E1E-4A3A-44A5-B56E-A6942BD71DE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1127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DAEC219-C1C7-EF3E-E1F5-3ABA2105E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30CC6-7FB2-4C3D-99E8-73F6F6FE0E6A}" type="datetimeFigureOut">
              <a:rPr lang="de-DE" smtClean="0"/>
              <a:t>21.07.2025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C1BCEBF-B29A-FF75-B061-0B1B47352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92FB29-FA26-7BBF-D6D0-81B576714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32E1E-4A3A-44A5-B56E-A6942BD71DE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4074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4E6D74-991A-1002-B822-4D920D69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4AC7C1C-3FA0-16FF-EFBA-8FAF5EB2C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6DA9C4D-1F37-6021-99DA-51E4AC45F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8BA221D-6DD8-0EC0-D4C2-06B2D700C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30CC6-7FB2-4C3D-99E8-73F6F6FE0E6A}" type="datetimeFigureOut">
              <a:rPr lang="de-DE" smtClean="0"/>
              <a:t>21.07.2025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858E9D9-56AA-A225-BE1B-772BAB943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7485A92-52A4-7F03-F122-EBA892800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32E1E-4A3A-44A5-B56E-A6942BD71DE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844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D385CA-56CE-AB51-0331-97DE36954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BFEEF19-C600-E72B-1AB1-A1BB248814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7CD9603-B671-DD0B-8952-D841012D59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A8B8B9A-7642-8382-83B9-842A9EFF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30CC6-7FB2-4C3D-99E8-73F6F6FE0E6A}" type="datetimeFigureOut">
              <a:rPr lang="de-DE" smtClean="0"/>
              <a:t>21.07.2025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9915E6A-AB59-97F9-2B03-96CBC1FE2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ACEAAD4-315B-DF12-030F-6AAD420EA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32E1E-4A3A-44A5-B56E-A6942BD71DE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6970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C0795E-6339-AA83-B5E2-02C1822F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0BA9E3C-CC7B-9189-43F7-329A66A6FE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07EB76D-DB25-A34D-666F-6BFFCDE63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30CC6-7FB2-4C3D-99E8-73F6F6FE0E6A}" type="datetimeFigureOut">
              <a:rPr lang="de-DE" smtClean="0"/>
              <a:t>21.07.2025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2CBDC7F-39A7-720C-D637-8B747B4A4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EE27CE8-E839-16EB-A2F4-6B39688C6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32E1E-4A3A-44A5-B56E-A6942BD71DE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2146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5904A2F-1897-3AD0-35A0-2DF038C381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DBA2716-584D-2647-23D8-6EFEB88C1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B35479-5C0E-07E9-D484-3A6A706BE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30CC6-7FB2-4C3D-99E8-73F6F6FE0E6A}" type="datetimeFigureOut">
              <a:rPr lang="de-DE" smtClean="0"/>
              <a:t>21.07.2025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09029E-964F-408E-674F-BA1892854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9F679F-7759-B5A4-0285-D73EECF1D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32E1E-4A3A-44A5-B56E-A6942BD71DE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8323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2269F1C-BE4D-A5B2-8423-F8C273277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ACEAC30-11A4-4142-34C7-5DA727EFC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13DED98-4739-06B1-7AB5-5E3B89BB3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630CC6-7FB2-4C3D-99E8-73F6F6FE0E6A}" type="datetimeFigureOut">
              <a:rPr lang="de-DE" smtClean="0"/>
              <a:t>21.07.2025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2D79BE-6EC4-D185-683D-AF83A5E7CE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1C045A-1D09-2D1B-F47D-5A2A87F0C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732E1E-4A3A-44A5-B56E-A6942BD71DE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3838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A93C356-43B7-C1ED-0659-BE1EE61F3E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416" t="34210" r="15349" b="11133"/>
          <a:stretch/>
        </p:blipFill>
        <p:spPr>
          <a:xfrm>
            <a:off x="746750" y="914400"/>
            <a:ext cx="920416" cy="54142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A8BAF1B-E585-F32F-9123-F6D6B37783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553" t="20236" b="14428"/>
          <a:stretch/>
        </p:blipFill>
        <p:spPr>
          <a:xfrm>
            <a:off x="218864" y="2177717"/>
            <a:ext cx="1976188" cy="54142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77A60AA2-D81B-D3AE-8C49-1904BB9624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956511"/>
            <a:ext cx="819150" cy="4572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A21D6F73-2C32-462B-00B9-DAB96CADAD1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799" t="6855" r="2529" b="39292"/>
          <a:stretch/>
        </p:blipFill>
        <p:spPr>
          <a:xfrm>
            <a:off x="144957" y="4808459"/>
            <a:ext cx="2124000" cy="467517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777D055B-3C7B-FFCF-BD22-76B44DE56B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0689" y="2391320"/>
            <a:ext cx="1409772" cy="69218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A5AD5937-131F-BCC2-8186-23FDCF4B43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9575" y="4808459"/>
            <a:ext cx="2052000" cy="816668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08819E8E-A5BE-B18A-89D5-3A62F70E7F76}"/>
              </a:ext>
            </a:extLst>
          </p:cNvPr>
          <p:cNvSpPr txBox="1"/>
          <p:nvPr/>
        </p:nvSpPr>
        <p:spPr>
          <a:xfrm>
            <a:off x="2268957" y="868661"/>
            <a:ext cx="27704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/>
              <a:t>Stocks are represented by rectangles (suggesting a container holding the contents of the stock).</a:t>
            </a:r>
            <a:endParaRPr lang="de-DE" sz="1200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9ED01DD-C869-83B9-23C0-9604828B8A76}"/>
              </a:ext>
            </a:extLst>
          </p:cNvPr>
          <p:cNvSpPr txBox="1"/>
          <p:nvPr/>
        </p:nvSpPr>
        <p:spPr>
          <a:xfrm>
            <a:off x="7531574" y="813546"/>
            <a:ext cx="44737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/>
              <a:t>Clouds represent the sources and sinks for the flows. A source represents the stock from which a flow originating outside the boundary of the model arises; sinks represent the stocks into which flows leaving the model boundary drain. Sources and sinks are assumed to have infinite capacity and can never constrain the flows they support.</a:t>
            </a:r>
            <a:endParaRPr lang="de-DE" sz="1200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68376233-1C18-D2C2-BDE9-D1EFC44C449F}"/>
              </a:ext>
            </a:extLst>
          </p:cNvPr>
          <p:cNvSpPr txBox="1"/>
          <p:nvPr/>
        </p:nvSpPr>
        <p:spPr>
          <a:xfrm>
            <a:off x="2226948" y="2035583"/>
            <a:ext cx="28124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/>
              <a:t>Flows are shown as lines with arrows. Inflows point into the stock (adding to it), while outflows point away from the stock (subtracting from it).</a:t>
            </a:r>
            <a:endParaRPr lang="de-DE" sz="1200" dirty="0"/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CDD4A3FC-14B6-516D-2681-3828E3D33F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1305" y="3522244"/>
            <a:ext cx="1831305" cy="360000"/>
          </a:xfrm>
          <a:prstGeom prst="rect">
            <a:avLst/>
          </a:prstGeom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DE7F0095-B08A-6E4A-1CE6-F777F581C0F1}"/>
              </a:ext>
            </a:extLst>
          </p:cNvPr>
          <p:cNvSpPr txBox="1"/>
          <p:nvPr/>
        </p:nvSpPr>
        <p:spPr>
          <a:xfrm>
            <a:off x="7531573" y="2211307"/>
            <a:ext cx="447379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/>
              <a:t>Relationships are shown as arrows connecting variables to flows, other variables, or from stocks to variables. They represent informational influence, not material flow. Only flows change stocks; variables influence flows and stocks can influence variables, but never the other way around.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EC658A5A-A9EF-5053-E23F-B4759341B7F4}"/>
              </a:ext>
            </a:extLst>
          </p:cNvPr>
          <p:cNvSpPr txBox="1"/>
          <p:nvPr/>
        </p:nvSpPr>
        <p:spPr>
          <a:xfrm>
            <a:off x="2195052" y="3329688"/>
            <a:ext cx="286937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/>
              <a:t>Variables hold formulas, parameters, or constants that provide input for calculations. They influence flows or other variables, but do not store or move material.</a:t>
            </a:r>
            <a:endParaRPr lang="de-DE" sz="1200" dirty="0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34D5210E-FB67-2F11-4FE6-2B0701B38CAC}"/>
              </a:ext>
            </a:extLst>
          </p:cNvPr>
          <p:cNvSpPr txBox="1"/>
          <p:nvPr/>
        </p:nvSpPr>
        <p:spPr>
          <a:xfrm>
            <a:off x="2226948" y="4688274"/>
            <a:ext cx="281242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100" b="1" dirty="0"/>
              <a:t>Stock with Inflow and Outflow:</a:t>
            </a:r>
            <a:br>
              <a:rPr lang="en-US" sz="1100" dirty="0"/>
            </a:br>
            <a:r>
              <a:rPr lang="en-US" sz="1100" i="1" dirty="0"/>
              <a:t>A stock collects inflows and loses outflows, illustrating accumulation and depletion over time.</a:t>
            </a:r>
            <a:endParaRPr lang="de-DE" sz="1100" dirty="0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7700B4F9-A9E1-E1B4-5CF2-4079AD9C17C7}"/>
              </a:ext>
            </a:extLst>
          </p:cNvPr>
          <p:cNvSpPr txBox="1"/>
          <p:nvPr/>
        </p:nvSpPr>
        <p:spPr>
          <a:xfrm>
            <a:off x="7531572" y="4626718"/>
            <a:ext cx="44737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1" dirty="0"/>
              <a:t>Inventory Example with Demand Influence:</a:t>
            </a:r>
            <a:br>
              <a:rPr lang="en-US" sz="1200" dirty="0"/>
            </a:br>
            <a:r>
              <a:rPr lang="en-US" sz="1200" i="1" dirty="0"/>
              <a:t>Production adds to inventory; shipments remove from inventory. The shipment flow is influenced by demand, demonstrating how variables control flows based on system conditions.</a:t>
            </a: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1486683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tails xmlns="9c642b00-82eb-4310-a86b-99343f535c9e" xsi:nil="true"/>
    <lcf76f155ced4ddcb4097134ff3c332f xmlns="9c642b00-82eb-4310-a86b-99343f535c9e">
      <Terms xmlns="http://schemas.microsoft.com/office/infopath/2007/PartnerControls"/>
    </lcf76f155ced4ddcb4097134ff3c332f>
    <TaxCatchAll xmlns="1f36c8dc-9efc-4660-963f-c7e2f29c9f7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E60F93FC61461408EC6F41A83D095A7" ma:contentTypeVersion="16" ma:contentTypeDescription="Ein neues Dokument erstellen." ma:contentTypeScope="" ma:versionID="d0009f49c7761262f43f5eaf3f0c33f4">
  <xsd:schema xmlns:xsd="http://www.w3.org/2001/XMLSchema" xmlns:xs="http://www.w3.org/2001/XMLSchema" xmlns:p="http://schemas.microsoft.com/office/2006/metadata/properties" xmlns:ns2="9c642b00-82eb-4310-a86b-99343f535c9e" xmlns:ns3="1f36c8dc-9efc-4660-963f-c7e2f29c9f75" targetNamespace="http://schemas.microsoft.com/office/2006/metadata/properties" ma:root="true" ma:fieldsID="5df22cdf2b9d468ae6039835eab97ddd" ns2:_="" ns3:_="">
    <xsd:import namespace="9c642b00-82eb-4310-a86b-99343f535c9e"/>
    <xsd:import namespace="1f36c8dc-9efc-4660-963f-c7e2f29c9f75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Detail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642b00-82eb-4310-a86b-99343f535c9e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Bildmarkierungen" ma:readOnly="false" ma:fieldId="{5cf76f15-5ced-4ddc-b409-7134ff3c332f}" ma:taxonomyMulti="true" ma:sspId="c6159e26-e387-4955-8c38-302e604e49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Details" ma:index="18" nillable="true" ma:displayName="Details" ma:description="Information regarding the content of files &amp; folders" ma:format="Dropdown" ma:internalName="Details">
      <xsd:simpleType>
        <xsd:restriction base="dms:Note">
          <xsd:maxLength value="255"/>
        </xsd:restriction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36c8dc-9efc-4660-963f-c7e2f29c9f75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ae5e2c36-b0a9-43f1-af99-7d8809ee7206}" ma:internalName="TaxCatchAll" ma:showField="CatchAllData" ma:web="1f36c8dc-9efc-4660-963f-c7e2f29c9f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9ED3620-1016-4492-B9F4-18646A971C9F}">
  <ds:schemaRefs>
    <ds:schemaRef ds:uri="http://schemas.microsoft.com/office/2006/metadata/properties"/>
    <ds:schemaRef ds:uri="http://schemas.microsoft.com/office/infopath/2007/PartnerControls"/>
    <ds:schemaRef ds:uri="9c642b00-82eb-4310-a86b-99343f535c9e"/>
    <ds:schemaRef ds:uri="1f36c8dc-9efc-4660-963f-c7e2f29c9f75"/>
  </ds:schemaRefs>
</ds:datastoreItem>
</file>

<file path=customXml/itemProps2.xml><?xml version="1.0" encoding="utf-8"?>
<ds:datastoreItem xmlns:ds="http://schemas.openxmlformats.org/officeDocument/2006/customXml" ds:itemID="{7E56029A-B60A-45E1-BE3F-E8A1F0DC8F2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811EEC9-A826-41B6-90B3-C4535328BDF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642b00-82eb-4310-a86b-99343f535c9e"/>
    <ds:schemaRef ds:uri="1f36c8dc-9efc-4660-963f-c7e2f29c9f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</Words>
  <Application>Microsoft Office PowerPoint</Application>
  <PresentationFormat>Breitbild</PresentationFormat>
  <Paragraphs>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Fauser, Jan</dc:creator>
  <cp:lastModifiedBy>Fauser, Jan</cp:lastModifiedBy>
  <cp:revision>2</cp:revision>
  <dcterms:created xsi:type="dcterms:W3CDTF">2025-07-16T09:25:22Z</dcterms:created>
  <dcterms:modified xsi:type="dcterms:W3CDTF">2025-07-21T04:45:17Z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0x010100BE60F93FC61461408EC6F41A83D095A7</vt:lpwstr>
  </property>
</Properties>
</file>