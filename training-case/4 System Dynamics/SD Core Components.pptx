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FF7FC-AE79-C469-8A66-C829D4CB7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224DA8-A869-F909-1BB9-F21758842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C7921A-C4BB-9720-D77D-C3C26649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B82C71-C8CA-86AB-65D7-D1B991FF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40DED7-089F-79C9-1F72-D95D8096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6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07FE6-96F5-D5A4-398F-2E6AD5E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EF9FB5-646D-7D15-AA1A-E5FAB39D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DC54B8-EF95-3FC9-10AA-7D52D7BC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B6CC0-0A98-AAE9-D534-AAD39A82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21EE8D-6589-7B0E-5520-2EE06753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54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36948-0D34-0AA0-7A6E-4046471A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41A797-AC45-D410-8FF9-EBA02DCF9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2EE2FE-5D55-6246-A97E-D4E559AB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A16325-D220-FF2C-36E9-A237984C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2A9EA-9136-185D-BD1F-4A6F6679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87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AD47C-835F-6275-8215-0625C200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98D1B-00BE-8A94-ED6B-27492350E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43E495-E475-6B45-B6FE-DC5C759CB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C923DB-DAFF-F718-6066-F1E065B5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062E2B-1E0C-B9A9-9D16-5B10A56A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6388ED-BE83-0C2E-462D-9F65D743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89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4295-6561-34B5-CD2B-C35914C6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8BBA95-30B2-92F4-6676-6A0B86E28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6BAF91-C104-B8CC-2997-8689C1E08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D35C9F-1BCE-D9F7-BD41-932E1D415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535F9C7-78C9-E6D8-369C-3AB6CCC80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9E18C0-CCC5-C83F-A223-E4E44F9F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F51585-27AD-D5FC-DCAD-18053A45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3D0759B-6166-6ED5-89F7-3A72DBDD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C0B96-BD56-FAA5-1716-5D433787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D9DDFD-5958-605C-CF92-DA0F300C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75E99F-CE50-BDC8-20D2-4C11F84E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7289F5-95A3-5210-7FCC-2580181A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1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AEC219-C1C7-EF3E-E1F5-3ABA2105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1BCEBF-B29A-FF75-B061-0B1B4735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2FB29-FA26-7BBF-D6D0-81B57671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07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E6D74-991A-1002-B822-4D920D69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AC7C1C-3FA0-16FF-EFBA-8FAF5EB2C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DA9C4D-1F37-6021-99DA-51E4AC45F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BA221D-6DD8-0EC0-D4C2-06B2D700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8E9D9-56AA-A225-BE1B-772BAB94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485A92-52A4-7F03-F122-EBA89280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4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385CA-56CE-AB51-0331-97DE3695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FEEF19-C600-E72B-1AB1-A1BB24881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CD9603-B671-DD0B-8952-D841012D5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8B8B9A-7642-8382-83B9-842A9EFF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915E6A-AB59-97F9-2B03-96CBC1FE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CEAAD4-315B-DF12-030F-6AAD420E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97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0795E-6339-AA83-B5E2-02C1822F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BA9E3C-CC7B-9189-43F7-329A66A6F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7EB76D-DB25-A34D-666F-6BFFCDE6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BDC7F-39A7-720C-D637-8B747B4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E27CE8-E839-16EB-A2F4-6B39688C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14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5904A2F-1897-3AD0-35A0-2DF038C38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BA2716-584D-2647-23D8-6EFEB88C1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35479-5C0E-07E9-D484-3A6A706B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09029E-964F-408E-674F-BA189285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F679F-7759-B5A4-0285-D73EECF1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32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2269F1C-BE4D-A5B2-8423-F8C27327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CEAC30-11A4-4142-34C7-5DA727EFC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3DED98-4739-06B1-7AB5-5E3B89BB3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30CC6-7FB2-4C3D-99E8-73F6F6FE0E6A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D79BE-6EC4-D185-683D-AF83A5E7C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C045A-1D09-2D1B-F47D-5A2A87F0C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32E1E-4A3A-44A5-B56E-A6942BD71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83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93C356-43B7-C1ED-0659-BE1EE61F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16" t="34210" r="15349" b="11133"/>
          <a:stretch/>
        </p:blipFill>
        <p:spPr>
          <a:xfrm>
            <a:off x="746750" y="914400"/>
            <a:ext cx="920416" cy="5414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8BAF1B-E585-F32F-9123-F6D6B37783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53" t="20236" b="14428"/>
          <a:stretch/>
        </p:blipFill>
        <p:spPr>
          <a:xfrm>
            <a:off x="218864" y="2177717"/>
            <a:ext cx="1976188" cy="5414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7A60AA2-D81B-D3AE-8C49-1904BB962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56511"/>
            <a:ext cx="819150" cy="4572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21D6F73-2C32-462B-00B9-DAB96CADAD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99" t="6855" r="2529" b="39292"/>
          <a:stretch/>
        </p:blipFill>
        <p:spPr>
          <a:xfrm>
            <a:off x="144957" y="4808459"/>
            <a:ext cx="2124000" cy="46751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77D055B-3C7B-FFCF-BD22-76B44DE56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0689" y="2391320"/>
            <a:ext cx="1409772" cy="6921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5AD5937-131F-BCC2-8186-23FDCF4B4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75" y="4808459"/>
            <a:ext cx="2052000" cy="8166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8819E8E-A5BE-B18A-89D5-3A62F70E7F76}"/>
              </a:ext>
            </a:extLst>
          </p:cNvPr>
          <p:cNvSpPr txBox="1"/>
          <p:nvPr/>
        </p:nvSpPr>
        <p:spPr>
          <a:xfrm>
            <a:off x="2268957" y="868661"/>
            <a:ext cx="2770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Stocks are represented by rectangles (suggesting a container holding the contents of the stock).</a:t>
            </a:r>
            <a:endParaRPr lang="de-DE" sz="1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9ED01DD-C869-83B9-23C0-9604828B8A76}"/>
              </a:ext>
            </a:extLst>
          </p:cNvPr>
          <p:cNvSpPr txBox="1"/>
          <p:nvPr/>
        </p:nvSpPr>
        <p:spPr>
          <a:xfrm>
            <a:off x="7531574" y="813546"/>
            <a:ext cx="44737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Clouds represent the sources and sinks for the flows. A source represents the stock from which a flow originating outside the boundary of the model arises; sinks represent the stocks into which flows leaving the model boundary drain. Sources and sinks are assumed to have infinite capacity and can never constrain the flows they support.</a:t>
            </a:r>
            <a:endParaRPr lang="de-DE" sz="12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8376233-1C18-D2C2-BDE9-D1EFC44C449F}"/>
              </a:ext>
            </a:extLst>
          </p:cNvPr>
          <p:cNvSpPr txBox="1"/>
          <p:nvPr/>
        </p:nvSpPr>
        <p:spPr>
          <a:xfrm>
            <a:off x="2226948" y="2035583"/>
            <a:ext cx="2812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Flows are shown as lines with arrows. Inflows point into the stock (adding to it), while outflows point away from the stock (subtracting from it).</a:t>
            </a:r>
            <a:endParaRPr lang="de-DE" sz="120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DD4A3FC-14B6-516D-2681-3828E3D33F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05" y="3522244"/>
            <a:ext cx="1831305" cy="3600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E7F0095-B08A-6E4A-1CE6-F777F581C0F1}"/>
              </a:ext>
            </a:extLst>
          </p:cNvPr>
          <p:cNvSpPr txBox="1"/>
          <p:nvPr/>
        </p:nvSpPr>
        <p:spPr>
          <a:xfrm>
            <a:off x="7531573" y="2211307"/>
            <a:ext cx="44737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Relationships are shown as arrows connecting variables to flows, other variables, or from stocks to variables. They represent informational influence, not material flow. Only flows change stocks; variables influence flows and stocks can influence variables, but never the other way around.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C658A5A-A9EF-5053-E23F-B4759341B7F4}"/>
              </a:ext>
            </a:extLst>
          </p:cNvPr>
          <p:cNvSpPr txBox="1"/>
          <p:nvPr/>
        </p:nvSpPr>
        <p:spPr>
          <a:xfrm>
            <a:off x="2195052" y="3329688"/>
            <a:ext cx="28693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Variables hold formulas, parameters, or constants that provide input for calculations. They influence flows or other variables, but do not store or move material.</a:t>
            </a:r>
            <a:endParaRPr lang="de-DE" sz="12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4D5210E-FB67-2F11-4FE6-2B0701B38CAC}"/>
              </a:ext>
            </a:extLst>
          </p:cNvPr>
          <p:cNvSpPr txBox="1"/>
          <p:nvPr/>
        </p:nvSpPr>
        <p:spPr>
          <a:xfrm>
            <a:off x="2226948" y="4688274"/>
            <a:ext cx="28124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b="1" dirty="0"/>
              <a:t>Stock with Inflow and Outflow:</a:t>
            </a:r>
            <a:br>
              <a:rPr lang="en-US" sz="1100" dirty="0"/>
            </a:br>
            <a:r>
              <a:rPr lang="en-US" sz="1100" i="1" dirty="0"/>
              <a:t>A stock collects inflows and loses outflows, illustrating accumulation and depletion over time.</a:t>
            </a:r>
            <a:endParaRPr lang="de-DE" sz="11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00B4F9-A9E1-E1B4-5CF2-4079AD9C17C7}"/>
              </a:ext>
            </a:extLst>
          </p:cNvPr>
          <p:cNvSpPr txBox="1"/>
          <p:nvPr/>
        </p:nvSpPr>
        <p:spPr>
          <a:xfrm>
            <a:off x="7531572" y="4626718"/>
            <a:ext cx="44737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/>
              <a:t>Inventory Example with Demand Influence:</a:t>
            </a:r>
            <a:br>
              <a:rPr lang="en-US" sz="1200" dirty="0"/>
            </a:br>
            <a:r>
              <a:rPr lang="en-US" sz="1200" i="1" dirty="0"/>
              <a:t>Production adds to inventory; shipments remove from inventory. The shipment flow is influenced by demand, demonstrating how variables control flows based on system conditions.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48668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ED3620-1016-4492-B9F4-18646A971C9F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customXml/itemProps2.xml><?xml version="1.0" encoding="utf-8"?>
<ds:datastoreItem xmlns:ds="http://schemas.openxmlformats.org/officeDocument/2006/customXml" ds:itemID="{7E56029A-B60A-45E1-BE3F-E8A1F0DC8F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11EEC9-A826-41B6-90B3-C4535328BD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Fauser, Jan</dc:creator>
  <cp:lastModifiedBy>Fauser, Jan</cp:lastModifiedBy>
  <cp:revision>2</cp:revision>
  <dcterms:created xsi:type="dcterms:W3CDTF">2025-07-16T09:25:22Z</dcterms:created>
  <dcterms:modified xsi:type="dcterms:W3CDTF">2025-07-21T04:45:17Z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  <property fmtid="{D5CDD505-2E9C-101B-9397-08002B2CF9AE}" pid="3" name="MediaServiceImageTags">
    <vt:lpwstr/>
  </property>
</Properties>
</file>