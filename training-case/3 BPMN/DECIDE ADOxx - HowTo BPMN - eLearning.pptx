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9" r:id="rId4"/>
  </p:sldMasterIdLst>
  <p:notesMasterIdLst>
    <p:notesMasterId r:id="rId32"/>
  </p:notesMasterIdLst>
  <p:sldIdLst>
    <p:sldId id="256" r:id="rId5"/>
    <p:sldId id="258" r:id="rId6"/>
    <p:sldId id="259" r:id="rId7"/>
    <p:sldId id="260" r:id="rId8"/>
    <p:sldId id="261" r:id="rId9"/>
    <p:sldId id="262" r:id="rId10"/>
    <p:sldId id="263" r:id="rId11"/>
    <p:sldId id="264" r:id="rId12"/>
    <p:sldId id="276" r:id="rId13"/>
    <p:sldId id="274" r:id="rId14"/>
    <p:sldId id="267" r:id="rId15"/>
    <p:sldId id="268" r:id="rId16"/>
    <p:sldId id="273" r:id="rId17"/>
    <p:sldId id="271" r:id="rId18"/>
    <p:sldId id="269" r:id="rId19"/>
    <p:sldId id="272" r:id="rId20"/>
    <p:sldId id="283" r:id="rId21"/>
    <p:sldId id="270" r:id="rId22"/>
    <p:sldId id="266" r:id="rId23"/>
    <p:sldId id="275" r:id="rId24"/>
    <p:sldId id="277" r:id="rId25"/>
    <p:sldId id="278" r:id="rId26"/>
    <p:sldId id="279" r:id="rId27"/>
    <p:sldId id="280" r:id="rId28"/>
    <p:sldId id="281" r:id="rId29"/>
    <p:sldId id="282" r:id="rId30"/>
    <p:sldId id="265" r:id="rId31"/>
  </p:sldIdLst>
  <p:sldSz cx="12192000" cy="6858000"/>
  <p:notesSz cx="6858000" cy="9144000"/>
  <p:defaultTextStyle>
    <a:defPPr>
      <a:defRPr lang="bg-BG"/>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tandardabschnitt" id="{84C96A51-EFF2-4C1C-917D-1E047600ED10}">
          <p14:sldIdLst>
            <p14:sldId id="256"/>
          </p14:sldIdLst>
        </p14:section>
        <p14:section name="Getting Started" id="{8E20AA65-EE1A-466B-A525-C1E64362CF5A}">
          <p14:sldIdLst>
            <p14:sldId id="258"/>
            <p14:sldId id="259"/>
          </p14:sldIdLst>
        </p14:section>
        <p14:section name="Modeling" id="{BD5DA2A2-3761-414B-8EB4-7132E21BC4B6}">
          <p14:sldIdLst>
            <p14:sldId id="260"/>
            <p14:sldId id="261"/>
            <p14:sldId id="262"/>
            <p14:sldId id="263"/>
            <p14:sldId id="264"/>
          </p14:sldIdLst>
        </p14:section>
        <p14:section name="Activities" id="{5E121B8F-5517-444C-8FC9-1DC3408CC1C9}">
          <p14:sldIdLst>
            <p14:sldId id="276"/>
          </p14:sldIdLst>
        </p14:section>
        <p14:section name="Events" id="{B7CF6181-5614-4C5B-8559-EBDFBA9A32DB}">
          <p14:sldIdLst>
            <p14:sldId id="274"/>
          </p14:sldIdLst>
        </p14:section>
        <p14:section name="Gateways" id="{F7876B5C-1173-4167-9792-E8A9C0C9B9A8}">
          <p14:sldIdLst>
            <p14:sldId id="267"/>
            <p14:sldId id="268"/>
            <p14:sldId id="273"/>
            <p14:sldId id="271"/>
            <p14:sldId id="269"/>
            <p14:sldId id="272"/>
            <p14:sldId id="283"/>
            <p14:sldId id="270"/>
          </p14:sldIdLst>
        </p14:section>
        <p14:section name="Simulation" id="{D3566B00-2A5C-4A4C-824F-BC88F0FD1C9E}">
          <p14:sldIdLst>
            <p14:sldId id="266"/>
            <p14:sldId id="275"/>
            <p14:sldId id="277"/>
            <p14:sldId id="278"/>
            <p14:sldId id="279"/>
            <p14:sldId id="280"/>
            <p14:sldId id="281"/>
            <p14:sldId id="282"/>
          </p14:sldIdLst>
        </p14:section>
        <p14:section name="Further Information" id="{313C7FFD-E71B-4458-9939-B42D7C5BAB44}">
          <p14:sldIdLst>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99"/>
    <a:srgbClr val="0133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B26B750-669F-3688-F43C-B50BB3EFDB4B}" v="1" dt="2025-07-19T11:50:03.13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Keine Formatvorlage, Tabellenraster">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50" d="100"/>
          <a:sy n="150" d="100"/>
        </p:scale>
        <p:origin x="654" y="1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presProps" Target="presProps.xml"/><Relationship Id="rId38"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notesMaster" Target="notesMasters/notesMaster1.xml"/><Relationship Id="rId37"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theme" Target="theme/theme1.xml"/><Relationship Id="rId8" Type="http://schemas.openxmlformats.org/officeDocument/2006/relationships/slide" Target="slides/slide4.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orovin, Tamara" userId="95465f2a-ec50-412b-8d43-57c911a31e05" providerId="ADAL" clId="{07B911CB-2228-4338-8FEA-EBC2A75F2E83}"/>
    <pc:docChg chg="undo redo custSel addSld delSld modSld sldOrd addSection modSection">
      <pc:chgData name="Korovin, Tamara" userId="95465f2a-ec50-412b-8d43-57c911a31e05" providerId="ADAL" clId="{07B911CB-2228-4338-8FEA-EBC2A75F2E83}" dt="2024-12-12T12:41:50.556" v="7447" actId="17846"/>
      <pc:docMkLst>
        <pc:docMk/>
      </pc:docMkLst>
      <pc:sldChg chg="modSp mod">
        <pc:chgData name="Korovin, Tamara" userId="95465f2a-ec50-412b-8d43-57c911a31e05" providerId="ADAL" clId="{07B911CB-2228-4338-8FEA-EBC2A75F2E83}" dt="2024-12-10T17:31:31.637" v="1764" actId="20577"/>
        <pc:sldMkLst>
          <pc:docMk/>
          <pc:sldMk cId="0" sldId="256"/>
        </pc:sldMkLst>
      </pc:sldChg>
      <pc:sldChg chg="new del">
        <pc:chgData name="Korovin, Tamara" userId="95465f2a-ec50-412b-8d43-57c911a31e05" providerId="ADAL" clId="{07B911CB-2228-4338-8FEA-EBC2A75F2E83}" dt="2024-12-10T16:32:42.549" v="219" actId="47"/>
        <pc:sldMkLst>
          <pc:docMk/>
          <pc:sldMk cId="1058751268" sldId="257"/>
        </pc:sldMkLst>
      </pc:sldChg>
      <pc:sldChg chg="del">
        <pc:chgData name="Korovin, Tamara" userId="95465f2a-ec50-412b-8d43-57c911a31e05" providerId="ADAL" clId="{07B911CB-2228-4338-8FEA-EBC2A75F2E83}" dt="2024-12-10T16:23:39.059" v="1" actId="47"/>
        <pc:sldMkLst>
          <pc:docMk/>
          <pc:sldMk cId="2692059510" sldId="257"/>
        </pc:sldMkLst>
      </pc:sldChg>
      <pc:sldChg chg="addSp delSp modSp new mod">
        <pc:chgData name="Korovin, Tamara" userId="95465f2a-ec50-412b-8d43-57c911a31e05" providerId="ADAL" clId="{07B911CB-2228-4338-8FEA-EBC2A75F2E83}" dt="2024-12-10T16:32:27.970" v="218" actId="20577"/>
        <pc:sldMkLst>
          <pc:docMk/>
          <pc:sldMk cId="3346408852" sldId="258"/>
        </pc:sldMkLst>
      </pc:sldChg>
      <pc:sldChg chg="addSp delSp modSp new mod">
        <pc:chgData name="Korovin, Tamara" userId="95465f2a-ec50-412b-8d43-57c911a31e05" providerId="ADAL" clId="{07B911CB-2228-4338-8FEA-EBC2A75F2E83}" dt="2024-12-10T16:39:31.280" v="476" actId="20577"/>
        <pc:sldMkLst>
          <pc:docMk/>
          <pc:sldMk cId="1844858881" sldId="259"/>
        </pc:sldMkLst>
      </pc:sldChg>
      <pc:sldChg chg="addSp delSp modSp new mod">
        <pc:chgData name="Korovin, Tamara" userId="95465f2a-ec50-412b-8d43-57c911a31e05" providerId="ADAL" clId="{07B911CB-2228-4338-8FEA-EBC2A75F2E83}" dt="2024-12-10T16:54:43.138" v="746" actId="1076"/>
        <pc:sldMkLst>
          <pc:docMk/>
          <pc:sldMk cId="3750786714" sldId="260"/>
        </pc:sldMkLst>
      </pc:sldChg>
      <pc:sldChg chg="addSp delSp modSp new mod">
        <pc:chgData name="Korovin, Tamara" userId="95465f2a-ec50-412b-8d43-57c911a31e05" providerId="ADAL" clId="{07B911CB-2228-4338-8FEA-EBC2A75F2E83}" dt="2024-12-10T16:56:22.448" v="1104" actId="20577"/>
        <pc:sldMkLst>
          <pc:docMk/>
          <pc:sldMk cId="1644077808" sldId="261"/>
        </pc:sldMkLst>
      </pc:sldChg>
      <pc:sldChg chg="addSp delSp modSp new mod">
        <pc:chgData name="Korovin, Tamara" userId="95465f2a-ec50-412b-8d43-57c911a31e05" providerId="ADAL" clId="{07B911CB-2228-4338-8FEA-EBC2A75F2E83}" dt="2024-12-10T17:01:46.049" v="1373" actId="20577"/>
        <pc:sldMkLst>
          <pc:docMk/>
          <pc:sldMk cId="432802626" sldId="262"/>
        </pc:sldMkLst>
      </pc:sldChg>
      <pc:sldChg chg="addSp delSp modSp new mod">
        <pc:chgData name="Korovin, Tamara" userId="95465f2a-ec50-412b-8d43-57c911a31e05" providerId="ADAL" clId="{07B911CB-2228-4338-8FEA-EBC2A75F2E83}" dt="2024-12-10T17:11:33.377" v="1533" actId="790"/>
        <pc:sldMkLst>
          <pc:docMk/>
          <pc:sldMk cId="1976090882" sldId="263"/>
        </pc:sldMkLst>
      </pc:sldChg>
      <pc:sldChg chg="addSp delSp modSp new mod modClrScheme chgLayout">
        <pc:chgData name="Korovin, Tamara" userId="95465f2a-ec50-412b-8d43-57c911a31e05" providerId="ADAL" clId="{07B911CB-2228-4338-8FEA-EBC2A75F2E83}" dt="2024-12-10T17:32:46.018" v="1766" actId="700"/>
        <pc:sldMkLst>
          <pc:docMk/>
          <pc:sldMk cId="78448054" sldId="264"/>
        </pc:sldMkLst>
      </pc:sldChg>
      <pc:sldChg chg="addSp delSp modSp new mod">
        <pc:chgData name="Korovin, Tamara" userId="95465f2a-ec50-412b-8d43-57c911a31e05" providerId="ADAL" clId="{07B911CB-2228-4338-8FEA-EBC2A75F2E83}" dt="2024-12-12T12:41:19.076" v="7444" actId="948"/>
        <pc:sldMkLst>
          <pc:docMk/>
          <pc:sldMk cId="1087490392" sldId="265"/>
        </pc:sldMkLst>
      </pc:sldChg>
      <pc:sldChg chg="addSp delSp modSp new mod">
        <pc:chgData name="Korovin, Tamara" userId="95465f2a-ec50-412b-8d43-57c911a31e05" providerId="ADAL" clId="{07B911CB-2228-4338-8FEA-EBC2A75F2E83}" dt="2024-12-11T21:48:03.799" v="4316" actId="207"/>
        <pc:sldMkLst>
          <pc:docMk/>
          <pc:sldMk cId="1016940930" sldId="266"/>
        </pc:sldMkLst>
      </pc:sldChg>
      <pc:sldChg chg="addSp delSp modSp new mod">
        <pc:chgData name="Korovin, Tamara" userId="95465f2a-ec50-412b-8d43-57c911a31e05" providerId="ADAL" clId="{07B911CB-2228-4338-8FEA-EBC2A75F2E83}" dt="2024-12-11T19:58:55.273" v="2560" actId="20577"/>
        <pc:sldMkLst>
          <pc:docMk/>
          <pc:sldMk cId="3598927956" sldId="267"/>
        </pc:sldMkLst>
      </pc:sldChg>
      <pc:sldChg chg="addSp delSp modSp new mod">
        <pc:chgData name="Korovin, Tamara" userId="95465f2a-ec50-412b-8d43-57c911a31e05" providerId="ADAL" clId="{07B911CB-2228-4338-8FEA-EBC2A75F2E83}" dt="2024-12-11T21:16:09.558" v="3467" actId="20577"/>
        <pc:sldMkLst>
          <pc:docMk/>
          <pc:sldMk cId="2135757017" sldId="268"/>
        </pc:sldMkLst>
      </pc:sldChg>
      <pc:sldChg chg="addSp delSp modSp add mod">
        <pc:chgData name="Korovin, Tamara" userId="95465f2a-ec50-412b-8d43-57c911a31e05" providerId="ADAL" clId="{07B911CB-2228-4338-8FEA-EBC2A75F2E83}" dt="2024-12-11T20:55:27.328" v="2854" actId="14826"/>
        <pc:sldMkLst>
          <pc:docMk/>
          <pc:sldMk cId="1424749569" sldId="269"/>
        </pc:sldMkLst>
      </pc:sldChg>
      <pc:sldChg chg="addSp delSp modSp add mod">
        <pc:chgData name="Korovin, Tamara" userId="95465f2a-ec50-412b-8d43-57c911a31e05" providerId="ADAL" clId="{07B911CB-2228-4338-8FEA-EBC2A75F2E83}" dt="2024-12-11T21:22:43.331" v="3680" actId="1038"/>
        <pc:sldMkLst>
          <pc:docMk/>
          <pc:sldMk cId="2596137796" sldId="270"/>
        </pc:sldMkLst>
      </pc:sldChg>
      <pc:sldChg chg="addSp delSp modSp add mod ord">
        <pc:chgData name="Korovin, Tamara" userId="95465f2a-ec50-412b-8d43-57c911a31e05" providerId="ADAL" clId="{07B911CB-2228-4338-8FEA-EBC2A75F2E83}" dt="2024-12-11T20:55:31.466" v="2855" actId="14826"/>
        <pc:sldMkLst>
          <pc:docMk/>
          <pc:sldMk cId="2102525329" sldId="271"/>
        </pc:sldMkLst>
      </pc:sldChg>
      <pc:sldChg chg="modSp add mod">
        <pc:chgData name="Korovin, Tamara" userId="95465f2a-ec50-412b-8d43-57c911a31e05" providerId="ADAL" clId="{07B911CB-2228-4338-8FEA-EBC2A75F2E83}" dt="2024-12-11T21:09:16.340" v="3298" actId="20577"/>
        <pc:sldMkLst>
          <pc:docMk/>
          <pc:sldMk cId="1082067918" sldId="272"/>
        </pc:sldMkLst>
      </pc:sldChg>
      <pc:sldChg chg="modSp add mod">
        <pc:chgData name="Korovin, Tamara" userId="95465f2a-ec50-412b-8d43-57c911a31e05" providerId="ADAL" clId="{07B911CB-2228-4338-8FEA-EBC2A75F2E83}" dt="2024-12-11T21:10:31.591" v="3316" actId="20577"/>
        <pc:sldMkLst>
          <pc:docMk/>
          <pc:sldMk cId="3590185223" sldId="273"/>
        </pc:sldMkLst>
      </pc:sldChg>
      <pc:sldChg chg="addSp delSp modSp new mod">
        <pc:chgData name="Korovin, Tamara" userId="95465f2a-ec50-412b-8d43-57c911a31e05" providerId="ADAL" clId="{07B911CB-2228-4338-8FEA-EBC2A75F2E83}" dt="2024-12-11T21:43:39.921" v="4248" actId="20577"/>
        <pc:sldMkLst>
          <pc:docMk/>
          <pc:sldMk cId="513263300" sldId="274"/>
        </pc:sldMkLst>
      </pc:sldChg>
      <pc:sldChg chg="addSp delSp modSp new mod">
        <pc:chgData name="Korovin, Tamara" userId="95465f2a-ec50-412b-8d43-57c911a31e05" providerId="ADAL" clId="{07B911CB-2228-4338-8FEA-EBC2A75F2E83}" dt="2024-12-12T12:27:38.343" v="6661" actId="20577"/>
        <pc:sldMkLst>
          <pc:docMk/>
          <pc:sldMk cId="867436272" sldId="275"/>
        </pc:sldMkLst>
      </pc:sldChg>
      <pc:sldChg chg="addSp delSp modSp new mod">
        <pc:chgData name="Korovin, Tamara" userId="95465f2a-ec50-412b-8d43-57c911a31e05" providerId="ADAL" clId="{07B911CB-2228-4338-8FEA-EBC2A75F2E83}" dt="2024-12-11T22:02:12.839" v="4891" actId="1076"/>
        <pc:sldMkLst>
          <pc:docMk/>
          <pc:sldMk cId="3765799857" sldId="276"/>
        </pc:sldMkLst>
      </pc:sldChg>
      <pc:sldChg chg="addSp delSp modSp new mod">
        <pc:chgData name="Korovin, Tamara" userId="95465f2a-ec50-412b-8d43-57c911a31e05" providerId="ADAL" clId="{07B911CB-2228-4338-8FEA-EBC2A75F2E83}" dt="2024-12-12T12:27:44.428" v="6671" actId="20577"/>
        <pc:sldMkLst>
          <pc:docMk/>
          <pc:sldMk cId="2878299338" sldId="277"/>
        </pc:sldMkLst>
      </pc:sldChg>
      <pc:sldChg chg="addSp delSp modSp new mod">
        <pc:chgData name="Korovin, Tamara" userId="95465f2a-ec50-412b-8d43-57c911a31e05" providerId="ADAL" clId="{07B911CB-2228-4338-8FEA-EBC2A75F2E83}" dt="2024-12-12T12:27:50.571" v="6681" actId="20577"/>
        <pc:sldMkLst>
          <pc:docMk/>
          <pc:sldMk cId="1965812703" sldId="278"/>
        </pc:sldMkLst>
      </pc:sldChg>
      <pc:sldChg chg="addSp delSp modSp new mod">
        <pc:chgData name="Korovin, Tamara" userId="95465f2a-ec50-412b-8d43-57c911a31e05" providerId="ADAL" clId="{07B911CB-2228-4338-8FEA-EBC2A75F2E83}" dt="2024-12-12T12:30:16.686" v="6738" actId="404"/>
        <pc:sldMkLst>
          <pc:docMk/>
          <pc:sldMk cId="1072228802" sldId="279"/>
        </pc:sldMkLst>
      </pc:sldChg>
      <pc:sldChg chg="addSp delSp modSp new mod">
        <pc:chgData name="Korovin, Tamara" userId="95465f2a-ec50-412b-8d43-57c911a31e05" providerId="ADAL" clId="{07B911CB-2228-4338-8FEA-EBC2A75F2E83}" dt="2024-12-12T12:28:02.636" v="6701" actId="20577"/>
        <pc:sldMkLst>
          <pc:docMk/>
          <pc:sldMk cId="2260064766" sldId="280"/>
        </pc:sldMkLst>
      </pc:sldChg>
      <pc:sldChg chg="addSp delSp modSp new mod">
        <pc:chgData name="Korovin, Tamara" userId="95465f2a-ec50-412b-8d43-57c911a31e05" providerId="ADAL" clId="{07B911CB-2228-4338-8FEA-EBC2A75F2E83}" dt="2024-12-12T12:33:36.596" v="7040" actId="113"/>
        <pc:sldMkLst>
          <pc:docMk/>
          <pc:sldMk cId="1951135470" sldId="281"/>
        </pc:sldMkLst>
      </pc:sldChg>
      <pc:sldChg chg="addSp delSp modSp new mod">
        <pc:chgData name="Korovin, Tamara" userId="95465f2a-ec50-412b-8d43-57c911a31e05" providerId="ADAL" clId="{07B911CB-2228-4338-8FEA-EBC2A75F2E83}" dt="2024-12-12T12:39:41.828" v="7306" actId="1582"/>
        <pc:sldMkLst>
          <pc:docMk/>
          <pc:sldMk cId="1633713892" sldId="282"/>
        </pc:sldMkLst>
      </pc:sldChg>
      <pc:sldChg chg="del">
        <pc:chgData name="Korovin, Tamara" userId="95465f2a-ec50-412b-8d43-57c911a31e05" providerId="ADAL" clId="{07B911CB-2228-4338-8FEA-EBC2A75F2E83}" dt="2024-12-10T16:23:39.059" v="1" actId="47"/>
        <pc:sldMkLst>
          <pc:docMk/>
          <pc:sldMk cId="3486821984" sldId="4405"/>
        </pc:sldMkLst>
      </pc:sldChg>
      <pc:sldChg chg="del">
        <pc:chgData name="Korovin, Tamara" userId="95465f2a-ec50-412b-8d43-57c911a31e05" providerId="ADAL" clId="{07B911CB-2228-4338-8FEA-EBC2A75F2E83}" dt="2024-12-10T16:23:39.059" v="1" actId="47"/>
        <pc:sldMkLst>
          <pc:docMk/>
          <pc:sldMk cId="779096976" sldId="4406"/>
        </pc:sldMkLst>
      </pc:sldChg>
      <pc:sldChg chg="del">
        <pc:chgData name="Korovin, Tamara" userId="95465f2a-ec50-412b-8d43-57c911a31e05" providerId="ADAL" clId="{07B911CB-2228-4338-8FEA-EBC2A75F2E83}" dt="2024-12-10T16:23:39.059" v="1" actId="47"/>
        <pc:sldMkLst>
          <pc:docMk/>
          <pc:sldMk cId="3962148690" sldId="4407"/>
        </pc:sldMkLst>
      </pc:sldChg>
      <pc:sldChg chg="del">
        <pc:chgData name="Korovin, Tamara" userId="95465f2a-ec50-412b-8d43-57c911a31e05" providerId="ADAL" clId="{07B911CB-2228-4338-8FEA-EBC2A75F2E83}" dt="2024-12-10T16:23:34.715" v="0" actId="47"/>
        <pc:sldMkLst>
          <pc:docMk/>
          <pc:sldMk cId="1156451733" sldId="4408"/>
        </pc:sldMkLst>
      </pc:sldChg>
      <pc:sldChg chg="del">
        <pc:chgData name="Korovin, Tamara" userId="95465f2a-ec50-412b-8d43-57c911a31e05" providerId="ADAL" clId="{07B911CB-2228-4338-8FEA-EBC2A75F2E83}" dt="2024-12-10T16:23:34.715" v="0" actId="47"/>
        <pc:sldMkLst>
          <pc:docMk/>
          <pc:sldMk cId="746685193" sldId="4409"/>
        </pc:sldMkLst>
      </pc:sldChg>
      <pc:sldChg chg="del">
        <pc:chgData name="Korovin, Tamara" userId="95465f2a-ec50-412b-8d43-57c911a31e05" providerId="ADAL" clId="{07B911CB-2228-4338-8FEA-EBC2A75F2E83}" dt="2024-12-10T16:23:39.059" v="1" actId="47"/>
        <pc:sldMkLst>
          <pc:docMk/>
          <pc:sldMk cId="3028083118" sldId="4410"/>
        </pc:sldMkLst>
      </pc:sldChg>
    </pc:docChg>
  </pc:docChgLst>
  <pc:docChgLst>
    <pc:chgData name="Fauser, Jan" userId="98abba51-ab11-47ff-94bd-d183bfe2fe16" providerId="ADAL" clId="{887E0895-6B68-4A53-97BF-32B193BE4D12}"/>
    <pc:docChg chg="modSld">
      <pc:chgData name="Fauser, Jan" userId="98abba51-ab11-47ff-94bd-d183bfe2fe16" providerId="ADAL" clId="{887E0895-6B68-4A53-97BF-32B193BE4D12}" dt="2025-02-06T08:21:48.672" v="0" actId="113"/>
      <pc:docMkLst>
        <pc:docMk/>
      </pc:docMkLst>
      <pc:sldChg chg="modSp mod">
        <pc:chgData name="Fauser, Jan" userId="98abba51-ab11-47ff-94bd-d183bfe2fe16" providerId="ADAL" clId="{887E0895-6B68-4A53-97BF-32B193BE4D12}" dt="2025-02-06T08:21:48.672" v="0" actId="113"/>
        <pc:sldMkLst>
          <pc:docMk/>
          <pc:sldMk cId="1633713892" sldId="282"/>
        </pc:sldMkLst>
      </pc:sldChg>
    </pc:docChg>
  </pc:docChgLst>
  <pc:docChgLst>
    <pc:chgData name="Albena Antonova" userId="S::a_antonova_fmi.uni-sofia.bg#ext#@reutlingenuniversityde.onmicrosoft.com::7f7f2630-2318-4f73-b98d-52e7a4e1045c" providerId="AD" clId="Web-{BB26B750-669F-3688-F43C-B50BB3EFDB4B}"/>
    <pc:docChg chg="sldOrd">
      <pc:chgData name="Albena Antonova" userId="S::a_antonova_fmi.uni-sofia.bg#ext#@reutlingenuniversityde.onmicrosoft.com::7f7f2630-2318-4f73-b98d-52e7a4e1045c" providerId="AD" clId="Web-{BB26B750-669F-3688-F43C-B50BB3EFDB4B}" dt="2025-07-19T11:50:03.136" v="0"/>
      <pc:docMkLst>
        <pc:docMk/>
      </pc:docMkLst>
      <pc:sldChg chg="ord">
        <pc:chgData name="Albena Antonova" userId="S::a_antonova_fmi.uni-sofia.bg#ext#@reutlingenuniversityde.onmicrosoft.com::7f7f2630-2318-4f73-b98d-52e7a4e1045c" providerId="AD" clId="Web-{BB26B750-669F-3688-F43C-B50BB3EFDB4B}" dt="2025-07-19T11:50:03.136" v="0"/>
        <pc:sldMkLst>
          <pc:docMk/>
          <pc:sldMk cId="1087490392" sldId="265"/>
        </pc:sldMkLst>
      </pc:sldChg>
    </pc:docChg>
  </pc:docChgLst>
  <pc:docChgLst>
    <pc:chgData name="Korovin, Tamara" userId="95465f2a-ec50-412b-8d43-57c911a31e05" providerId="ADAL" clId="{240E2069-A236-4464-A509-15E3D517D2B7}"/>
    <pc:docChg chg="custSel addSld modSld sldOrd modSection">
      <pc:chgData name="Korovin, Tamara" userId="95465f2a-ec50-412b-8d43-57c911a31e05" providerId="ADAL" clId="{240E2069-A236-4464-A509-15E3D517D2B7}" dt="2025-02-04T17:23:24.837" v="337" actId="20577"/>
      <pc:docMkLst>
        <pc:docMk/>
      </pc:docMkLst>
      <pc:sldChg chg="modSp mod">
        <pc:chgData name="Korovin, Tamara" userId="95465f2a-ec50-412b-8d43-57c911a31e05" providerId="ADAL" clId="{240E2069-A236-4464-A509-15E3D517D2B7}" dt="2025-02-04T17:23:24.837" v="337" actId="20577"/>
        <pc:sldMkLst>
          <pc:docMk/>
          <pc:sldMk cId="2596137796" sldId="270"/>
        </pc:sldMkLst>
      </pc:sldChg>
      <pc:sldChg chg="modSp add mod ord">
        <pc:chgData name="Korovin, Tamara" userId="95465f2a-ec50-412b-8d43-57c911a31e05" providerId="ADAL" clId="{240E2069-A236-4464-A509-15E3D517D2B7}" dt="2025-02-04T17:23:02.950" v="332"/>
        <pc:sldMkLst>
          <pc:docMk/>
          <pc:sldMk cId="3868962220" sldId="283"/>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69D606-5041-474A-B713-2B913150DE7D}" type="datetimeFigureOut">
              <a:rPr lang="de-DE" smtClean="0"/>
              <a:t>19.07.2025</a:t>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8FBBDBB-0E03-46CA-8063-E5797A0843DF}" type="slidenum">
              <a:rPr lang="de-DE" smtClean="0"/>
              <a:t>‹#›</a:t>
            </a:fld>
            <a:endParaRPr lang="de-DE"/>
          </a:p>
        </p:txBody>
      </p:sp>
    </p:spTree>
    <p:extLst>
      <p:ext uri="{BB962C8B-B14F-4D97-AF65-F5344CB8AC3E}">
        <p14:creationId xmlns:p14="http://schemas.microsoft.com/office/powerpoint/2010/main" val="29194841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PhAnim="0" preserve="1" userDrawn="1">
  <p:cSld name="Címdia">
    <p:spTree>
      <p:nvGrpSpPr>
        <p:cNvPr id="1" name=""/>
        <p:cNvGrpSpPr/>
        <p:nvPr/>
      </p:nvGrpSpPr>
      <p:grpSpPr bwMode="auto">
        <a:xfrm>
          <a:off x="0" y="0"/>
          <a:ext cx="0" cy="0"/>
          <a:chOff x="0" y="0"/>
          <a:chExt cx="0" cy="0"/>
        </a:xfrm>
      </p:grpSpPr>
      <p:pic>
        <p:nvPicPr>
          <p:cNvPr id="10" name="Kép 9"/>
          <p:cNvPicPr>
            <a:picLocks noChangeAspect="1"/>
          </p:cNvPicPr>
          <p:nvPr userDrawn="1"/>
        </p:nvPicPr>
        <p:blipFill>
          <a:blip r:embed="rId2"/>
          <a:srcRect l="137" t="169" r="62843" b="-137"/>
          <a:stretch/>
        </p:blipFill>
        <p:spPr bwMode="auto">
          <a:xfrm>
            <a:off x="0" y="0"/>
            <a:ext cx="2541039" cy="6862941"/>
          </a:xfrm>
          <a:prstGeom prst="rect">
            <a:avLst/>
          </a:prstGeom>
        </p:spPr>
      </p:pic>
      <p:sp>
        <p:nvSpPr>
          <p:cNvPr id="8" name="Szövegdoboz 7"/>
          <p:cNvSpPr txBox="1"/>
          <p:nvPr userDrawn="1"/>
        </p:nvSpPr>
        <p:spPr bwMode="auto">
          <a:xfrm>
            <a:off x="3217855" y="3251239"/>
            <a:ext cx="6239933" cy="400110"/>
          </a:xfrm>
          <a:prstGeom prst="rect">
            <a:avLst/>
          </a:prstGeom>
          <a:noFill/>
        </p:spPr>
        <p:txBody>
          <a:bodyPr wrap="square" rtlCol="0">
            <a:spAutoFit/>
          </a:bodyPr>
          <a:lstStyle/>
          <a:p>
            <a:pPr>
              <a:defRPr/>
            </a:pPr>
            <a:endParaRPr lang="en-GB" sz="2000" b="1">
              <a:solidFill>
                <a:srgbClr val="003399"/>
              </a:solidFill>
              <a:latin typeface="Open Sans"/>
              <a:ea typeface="Open Sans"/>
              <a:cs typeface="Open Sans"/>
            </a:endParaRPr>
          </a:p>
        </p:txBody>
      </p:sp>
      <p:sp>
        <p:nvSpPr>
          <p:cNvPr id="14" name="Title 1"/>
          <p:cNvSpPr>
            <a:spLocks noGrp="1"/>
          </p:cNvSpPr>
          <p:nvPr>
            <p:ph type="title" hasCustomPrompt="1"/>
          </p:nvPr>
        </p:nvSpPr>
        <p:spPr bwMode="auto">
          <a:xfrm>
            <a:off x="3124200" y="2651258"/>
            <a:ext cx="8483600" cy="784619"/>
          </a:xfrm>
          <a:prstGeom prst="rect">
            <a:avLst/>
          </a:prstGeom>
        </p:spPr>
        <p:txBody>
          <a:bodyPr/>
          <a:lstStyle>
            <a:lvl1pPr>
              <a:defRPr sz="5999" b="1">
                <a:solidFill>
                  <a:srgbClr val="003399"/>
                </a:solidFill>
              </a:defRPr>
            </a:lvl1pPr>
          </a:lstStyle>
          <a:p>
            <a:pPr>
              <a:defRPr/>
            </a:pPr>
            <a:r>
              <a:rPr lang="hu-HU"/>
              <a:t>Annual Event</a:t>
            </a:r>
            <a:endParaRPr lang="en-US"/>
          </a:p>
        </p:txBody>
      </p:sp>
      <p:sp>
        <p:nvSpPr>
          <p:cNvPr id="16" name="Szöveg helye 15"/>
          <p:cNvSpPr>
            <a:spLocks noGrp="1"/>
          </p:cNvSpPr>
          <p:nvPr>
            <p:ph type="body" sz="quarter" idx="13" hasCustomPrompt="1"/>
          </p:nvPr>
        </p:nvSpPr>
        <p:spPr bwMode="auto">
          <a:xfrm>
            <a:off x="3124200" y="3462978"/>
            <a:ext cx="8483600" cy="714264"/>
          </a:xfrm>
        </p:spPr>
        <p:txBody>
          <a:bodyPr>
            <a:normAutofit/>
          </a:bodyPr>
          <a:lstStyle>
            <a:lvl1pPr marL="0" indent="0">
              <a:buNone/>
              <a:defRPr sz="2133">
                <a:solidFill>
                  <a:srgbClr val="003399"/>
                </a:solidFill>
              </a:defRPr>
            </a:lvl1pPr>
          </a:lstStyle>
          <a:p>
            <a:pPr lvl="0">
              <a:defRPr/>
            </a:pPr>
            <a:r>
              <a:rPr lang="hu-HU"/>
              <a:t>Cybersecurity Protocol Setup</a:t>
            </a:r>
            <a:endParaRPr/>
          </a:p>
        </p:txBody>
      </p:sp>
      <p:sp>
        <p:nvSpPr>
          <p:cNvPr id="18" name="Szöveg helye 17"/>
          <p:cNvSpPr>
            <a:spLocks noGrp="1"/>
          </p:cNvSpPr>
          <p:nvPr>
            <p:ph type="body" sz="quarter" idx="14" hasCustomPrompt="1"/>
          </p:nvPr>
        </p:nvSpPr>
        <p:spPr bwMode="auto">
          <a:xfrm>
            <a:off x="3124200" y="6073276"/>
            <a:ext cx="2607733" cy="364010"/>
          </a:xfrm>
        </p:spPr>
        <p:txBody>
          <a:bodyPr>
            <a:normAutofit/>
          </a:bodyPr>
          <a:lstStyle>
            <a:lvl1pPr marL="0" indent="0">
              <a:buNone/>
              <a:defRPr sz="1333">
                <a:solidFill>
                  <a:srgbClr val="003399"/>
                </a:solidFill>
              </a:defRPr>
            </a:lvl1pPr>
          </a:lstStyle>
          <a:p>
            <a:pPr lvl="0">
              <a:defRPr/>
            </a:pPr>
            <a:r>
              <a:rPr lang="hu-HU"/>
              <a:t>Budapest – 1 March 2024</a:t>
            </a:r>
            <a:endParaRPr/>
          </a:p>
        </p:txBody>
      </p:sp>
      <p:sp>
        <p:nvSpPr>
          <p:cNvPr id="19" name="Szöveg helye 17"/>
          <p:cNvSpPr>
            <a:spLocks noGrp="1"/>
          </p:cNvSpPr>
          <p:nvPr>
            <p:ph type="body" sz="quarter" idx="15" hasCustomPrompt="1"/>
          </p:nvPr>
        </p:nvSpPr>
        <p:spPr bwMode="auto">
          <a:xfrm>
            <a:off x="3124200" y="5823858"/>
            <a:ext cx="2607733" cy="262426"/>
          </a:xfrm>
        </p:spPr>
        <p:txBody>
          <a:bodyPr>
            <a:normAutofit/>
          </a:bodyPr>
          <a:lstStyle>
            <a:lvl1pPr marL="0" indent="0">
              <a:buNone/>
              <a:defRPr sz="1333" b="1">
                <a:solidFill>
                  <a:srgbClr val="003399"/>
                </a:solidFill>
              </a:defRPr>
            </a:lvl1pPr>
          </a:lstStyle>
          <a:p>
            <a:pPr lvl="0">
              <a:defRPr/>
            </a:pPr>
            <a:r>
              <a:rPr lang="hu-HU"/>
              <a:t>Meeting</a:t>
            </a:r>
            <a:endParaRPr/>
          </a:p>
        </p:txBody>
      </p:sp>
      <p:sp>
        <p:nvSpPr>
          <p:cNvPr id="20" name="Szöveg helye 17"/>
          <p:cNvSpPr>
            <a:spLocks noGrp="1"/>
          </p:cNvSpPr>
          <p:nvPr>
            <p:ph type="body" sz="quarter" idx="16" hasCustomPrompt="1"/>
          </p:nvPr>
        </p:nvSpPr>
        <p:spPr bwMode="auto">
          <a:xfrm>
            <a:off x="5731933" y="6073276"/>
            <a:ext cx="2607733" cy="364010"/>
          </a:xfrm>
        </p:spPr>
        <p:txBody>
          <a:bodyPr>
            <a:normAutofit/>
          </a:bodyPr>
          <a:lstStyle>
            <a:lvl1pPr marL="0" indent="0">
              <a:buNone/>
              <a:defRPr sz="1333">
                <a:solidFill>
                  <a:srgbClr val="003399"/>
                </a:solidFill>
              </a:defRPr>
            </a:lvl1pPr>
          </a:lstStyle>
          <a:p>
            <a:pPr lvl="0">
              <a:defRPr/>
            </a:pPr>
            <a:r>
              <a:rPr lang="hu-HU"/>
              <a:t>First Last</a:t>
            </a:r>
            <a:endParaRPr/>
          </a:p>
        </p:txBody>
      </p:sp>
      <p:sp>
        <p:nvSpPr>
          <p:cNvPr id="21" name="Szöveg helye 17"/>
          <p:cNvSpPr>
            <a:spLocks noGrp="1"/>
          </p:cNvSpPr>
          <p:nvPr>
            <p:ph type="body" sz="quarter" idx="17" hasCustomPrompt="1"/>
          </p:nvPr>
        </p:nvSpPr>
        <p:spPr bwMode="auto">
          <a:xfrm>
            <a:off x="5731933" y="5823858"/>
            <a:ext cx="2607733" cy="262426"/>
          </a:xfrm>
        </p:spPr>
        <p:txBody>
          <a:bodyPr>
            <a:normAutofit/>
          </a:bodyPr>
          <a:lstStyle>
            <a:lvl1pPr marL="0" indent="0">
              <a:buNone/>
              <a:defRPr sz="1333" b="1">
                <a:solidFill>
                  <a:srgbClr val="003399"/>
                </a:solidFill>
              </a:defRPr>
            </a:lvl1pPr>
          </a:lstStyle>
          <a:p>
            <a:pPr lvl="0">
              <a:defRPr/>
            </a:pPr>
            <a:r>
              <a:rPr lang="hu-HU"/>
              <a:t>Presenter</a:t>
            </a:r>
            <a:endParaRPr/>
          </a:p>
        </p:txBody>
      </p:sp>
      <p:pic>
        <p:nvPicPr>
          <p:cNvPr id="11" name="Grafik 10"/>
          <p:cNvPicPr>
            <a:picLocks noChangeAspect="1"/>
          </p:cNvPicPr>
          <p:nvPr userDrawn="1"/>
        </p:nvPicPr>
        <p:blipFill>
          <a:blip r:embed="rId3"/>
          <a:stretch/>
        </p:blipFill>
        <p:spPr bwMode="auto">
          <a:xfrm>
            <a:off x="3128604" y="432393"/>
            <a:ext cx="3665345" cy="1175818"/>
          </a:xfrm>
          <a:prstGeom prst="rect">
            <a:avLst/>
          </a:prstGeom>
        </p:spPr>
      </p:pic>
    </p:spTree>
    <p:extLst>
      <p:ext uri="{BB962C8B-B14F-4D97-AF65-F5344CB8AC3E}">
        <p14:creationId xmlns:p14="http://schemas.microsoft.com/office/powerpoint/2010/main" val="12249352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PhAnim="0" preserve="1" userDrawn="1">
  <p:cSld name="Cím és tartalom">
    <p:spTree>
      <p:nvGrpSpPr>
        <p:cNvPr id="1" name=""/>
        <p:cNvGrpSpPr/>
        <p:nvPr/>
      </p:nvGrpSpPr>
      <p:grpSpPr bwMode="auto">
        <a:xfrm>
          <a:off x="0" y="0"/>
          <a:ext cx="0" cy="0"/>
          <a:chOff x="0" y="0"/>
          <a:chExt cx="0" cy="0"/>
        </a:xfrm>
      </p:grpSpPr>
      <p:sp>
        <p:nvSpPr>
          <p:cNvPr id="2" name="Title 1"/>
          <p:cNvSpPr>
            <a:spLocks noGrp="1"/>
          </p:cNvSpPr>
          <p:nvPr>
            <p:ph type="title" hasCustomPrompt="1"/>
          </p:nvPr>
        </p:nvSpPr>
        <p:spPr bwMode="auto">
          <a:xfrm>
            <a:off x="1676400" y="441314"/>
            <a:ext cx="3920067" cy="2250671"/>
          </a:xfrm>
          <a:prstGeom prst="rect">
            <a:avLst/>
          </a:prstGeom>
        </p:spPr>
        <p:txBody>
          <a:bodyPr/>
          <a:lstStyle>
            <a:lvl1pPr>
              <a:defRPr sz="3333" b="1">
                <a:solidFill>
                  <a:srgbClr val="003399"/>
                </a:solidFill>
              </a:defRPr>
            </a:lvl1pPr>
          </a:lstStyle>
          <a:p>
            <a:pPr>
              <a:defRPr/>
            </a:pPr>
            <a:r>
              <a:rPr lang="hu-HU"/>
              <a:t>Presentation</a:t>
            </a:r>
            <a:br>
              <a:rPr lang="hu-HU"/>
            </a:br>
            <a:r>
              <a:rPr lang="hu-HU"/>
              <a:t>Content</a:t>
            </a:r>
            <a:endParaRPr lang="en-US"/>
          </a:p>
        </p:txBody>
      </p:sp>
      <p:sp>
        <p:nvSpPr>
          <p:cNvPr id="3" name="Content Placeholder 2"/>
          <p:cNvSpPr>
            <a:spLocks noGrp="1"/>
          </p:cNvSpPr>
          <p:nvPr>
            <p:ph idx="1" hasCustomPrompt="1"/>
          </p:nvPr>
        </p:nvSpPr>
        <p:spPr bwMode="auto">
          <a:xfrm>
            <a:off x="5596467" y="441314"/>
            <a:ext cx="6129867" cy="5975372"/>
          </a:xfrm>
        </p:spPr>
        <p:txBody>
          <a:bodyPr/>
          <a:lstStyle>
            <a:lvl1pPr marL="495250" indent="-495250">
              <a:buFont typeface="+mj-lt"/>
              <a:buAutoNum type="arabicPeriod"/>
              <a:defRPr b="1">
                <a:solidFill>
                  <a:srgbClr val="003399"/>
                </a:solidFill>
              </a:defRPr>
            </a:lvl1pPr>
            <a:lvl2pPr marL="457154" indent="0">
              <a:buNone/>
              <a:defRPr sz="1333">
                <a:solidFill>
                  <a:srgbClr val="003399"/>
                </a:solidFill>
              </a:defRPr>
            </a:lvl2pPr>
            <a:lvl3pPr marL="914309" indent="0">
              <a:buNone/>
              <a:defRPr/>
            </a:lvl3pPr>
            <a:lvl4pPr marL="1371463" indent="0">
              <a:buNone/>
              <a:defRPr/>
            </a:lvl4pPr>
            <a:lvl5pPr marL="1828617" indent="0">
              <a:buNone/>
              <a:defRPr/>
            </a:lvl5pPr>
          </a:lstStyle>
          <a:p>
            <a:pPr lvl="0">
              <a:defRPr/>
            </a:pPr>
            <a:r>
              <a:rPr lang="hu-HU"/>
              <a:t>Introduction</a:t>
            </a:r>
            <a:endParaRPr/>
          </a:p>
          <a:p>
            <a:pPr lvl="1">
              <a:defRPr/>
            </a:pPr>
            <a:r>
              <a:rPr lang="hu-HU"/>
              <a:t>Setting the Stage for Understanding the Topic.</a:t>
            </a:r>
            <a:endParaRPr/>
          </a:p>
        </p:txBody>
      </p:sp>
      <p:pic>
        <p:nvPicPr>
          <p:cNvPr id="8" name="Kép 7"/>
          <p:cNvPicPr>
            <a:picLocks noChangeAspect="1"/>
          </p:cNvPicPr>
          <p:nvPr userDrawn="1"/>
        </p:nvPicPr>
        <p:blipFill>
          <a:blip r:embed="rId2"/>
          <a:srcRect l="137" t="169" r="81731" b="-137"/>
          <a:stretch/>
        </p:blipFill>
        <p:spPr bwMode="auto">
          <a:xfrm>
            <a:off x="0" y="0"/>
            <a:ext cx="1244600" cy="6862941"/>
          </a:xfrm>
          <a:prstGeom prst="rect">
            <a:avLst/>
          </a:prstGeom>
        </p:spPr>
      </p:pic>
      <p:pic>
        <p:nvPicPr>
          <p:cNvPr id="9" name="Grafik 8"/>
          <p:cNvPicPr>
            <a:picLocks noChangeAspect="1"/>
          </p:cNvPicPr>
          <p:nvPr userDrawn="1"/>
        </p:nvPicPr>
        <p:blipFill>
          <a:blip r:embed="rId3"/>
          <a:stretch/>
        </p:blipFill>
        <p:spPr bwMode="auto">
          <a:xfrm>
            <a:off x="1612386" y="5992845"/>
            <a:ext cx="2168028" cy="708668"/>
          </a:xfrm>
          <a:prstGeom prst="rect">
            <a:avLst/>
          </a:prstGeom>
        </p:spPr>
      </p:pic>
    </p:spTree>
    <p:extLst>
      <p:ext uri="{BB962C8B-B14F-4D97-AF65-F5344CB8AC3E}">
        <p14:creationId xmlns:p14="http://schemas.microsoft.com/office/powerpoint/2010/main" val="25955524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PhAnim="0" preserve="1" userDrawn="1">
  <p:cSld name="2_Címdia">
    <p:spTree>
      <p:nvGrpSpPr>
        <p:cNvPr id="1" name=""/>
        <p:cNvGrpSpPr/>
        <p:nvPr/>
      </p:nvGrpSpPr>
      <p:grpSpPr bwMode="auto">
        <a:xfrm>
          <a:off x="0" y="0"/>
          <a:ext cx="0" cy="0"/>
          <a:chOff x="0" y="0"/>
          <a:chExt cx="0" cy="0"/>
        </a:xfrm>
      </p:grpSpPr>
      <p:pic>
        <p:nvPicPr>
          <p:cNvPr id="10" name="Kép 9"/>
          <p:cNvPicPr>
            <a:picLocks noChangeAspect="1"/>
          </p:cNvPicPr>
          <p:nvPr userDrawn="1"/>
        </p:nvPicPr>
        <p:blipFill>
          <a:blip r:embed="rId2"/>
          <a:srcRect l="137" t="169" r="62843" b="-137"/>
          <a:stretch/>
        </p:blipFill>
        <p:spPr bwMode="auto">
          <a:xfrm>
            <a:off x="0" y="0"/>
            <a:ext cx="2541039" cy="6862941"/>
          </a:xfrm>
          <a:prstGeom prst="rect">
            <a:avLst/>
          </a:prstGeom>
        </p:spPr>
      </p:pic>
      <p:sp>
        <p:nvSpPr>
          <p:cNvPr id="8" name="Szövegdoboz 7"/>
          <p:cNvSpPr txBox="1"/>
          <p:nvPr userDrawn="1"/>
        </p:nvSpPr>
        <p:spPr bwMode="auto">
          <a:xfrm>
            <a:off x="3217855" y="3251239"/>
            <a:ext cx="6239933" cy="400110"/>
          </a:xfrm>
          <a:prstGeom prst="rect">
            <a:avLst/>
          </a:prstGeom>
          <a:noFill/>
        </p:spPr>
        <p:txBody>
          <a:bodyPr wrap="square" rtlCol="0">
            <a:spAutoFit/>
          </a:bodyPr>
          <a:lstStyle/>
          <a:p>
            <a:pPr>
              <a:defRPr/>
            </a:pPr>
            <a:endParaRPr lang="en-GB" sz="2000" b="1">
              <a:solidFill>
                <a:srgbClr val="003399"/>
              </a:solidFill>
              <a:latin typeface="Open Sans"/>
              <a:ea typeface="Open Sans"/>
              <a:cs typeface="Open Sans"/>
            </a:endParaRPr>
          </a:p>
        </p:txBody>
      </p:sp>
      <p:sp>
        <p:nvSpPr>
          <p:cNvPr id="14" name="Title 1"/>
          <p:cNvSpPr>
            <a:spLocks noGrp="1"/>
          </p:cNvSpPr>
          <p:nvPr>
            <p:ph type="title" hasCustomPrompt="1"/>
          </p:nvPr>
        </p:nvSpPr>
        <p:spPr bwMode="auto">
          <a:xfrm>
            <a:off x="3124200" y="1826392"/>
            <a:ext cx="8483600" cy="1602608"/>
          </a:xfrm>
          <a:prstGeom prst="rect">
            <a:avLst/>
          </a:prstGeom>
        </p:spPr>
        <p:txBody>
          <a:bodyPr/>
          <a:lstStyle>
            <a:lvl1pPr>
              <a:defRPr sz="5999" b="1">
                <a:solidFill>
                  <a:srgbClr val="003399"/>
                </a:solidFill>
              </a:defRPr>
            </a:lvl1pPr>
          </a:lstStyle>
          <a:p>
            <a:pPr>
              <a:defRPr/>
            </a:pPr>
            <a:r>
              <a:rPr lang="hu-HU"/>
              <a:t>Problem </a:t>
            </a:r>
            <a:br>
              <a:rPr lang="hu-HU"/>
            </a:br>
            <a:r>
              <a:rPr lang="hu-HU"/>
              <a:t>Statement</a:t>
            </a:r>
            <a:endParaRPr lang="en-US"/>
          </a:p>
        </p:txBody>
      </p:sp>
      <p:sp>
        <p:nvSpPr>
          <p:cNvPr id="16" name="Szöveg helye 15"/>
          <p:cNvSpPr>
            <a:spLocks noGrp="1"/>
          </p:cNvSpPr>
          <p:nvPr>
            <p:ph type="body" sz="quarter" idx="13" hasCustomPrompt="1"/>
          </p:nvPr>
        </p:nvSpPr>
        <p:spPr bwMode="auto">
          <a:xfrm>
            <a:off x="3124200" y="3461983"/>
            <a:ext cx="8483600" cy="714264"/>
          </a:xfrm>
        </p:spPr>
        <p:txBody>
          <a:bodyPr>
            <a:normAutofit/>
          </a:bodyPr>
          <a:lstStyle>
            <a:lvl1pPr marL="0" indent="0">
              <a:buNone/>
              <a:defRPr sz="2133">
                <a:solidFill>
                  <a:srgbClr val="003399"/>
                </a:solidFill>
              </a:defRPr>
            </a:lvl1pPr>
          </a:lstStyle>
          <a:p>
            <a:pPr lvl="0">
              <a:defRPr/>
            </a:pPr>
            <a:r>
              <a:rPr lang="hu-HU"/>
              <a:t>Identifying the Challenge Faced by the Organization</a:t>
            </a:r>
            <a:endParaRPr/>
          </a:p>
        </p:txBody>
      </p:sp>
      <p:sp>
        <p:nvSpPr>
          <p:cNvPr id="20" name="Szöveg helye 17"/>
          <p:cNvSpPr>
            <a:spLocks noGrp="1"/>
          </p:cNvSpPr>
          <p:nvPr>
            <p:ph type="body" sz="quarter" idx="16" hasCustomPrompt="1"/>
          </p:nvPr>
        </p:nvSpPr>
        <p:spPr bwMode="auto">
          <a:xfrm>
            <a:off x="3124200" y="462581"/>
            <a:ext cx="2607733" cy="364010"/>
          </a:xfrm>
        </p:spPr>
        <p:txBody>
          <a:bodyPr>
            <a:noAutofit/>
          </a:bodyPr>
          <a:lstStyle>
            <a:lvl1pPr marL="0" indent="0">
              <a:buNone/>
              <a:defRPr sz="2666" b="1">
                <a:solidFill>
                  <a:srgbClr val="003399"/>
                </a:solidFill>
              </a:defRPr>
            </a:lvl1pPr>
          </a:lstStyle>
          <a:p>
            <a:pPr lvl="0">
              <a:defRPr/>
            </a:pPr>
            <a:r>
              <a:rPr lang="hu-HU"/>
              <a:t>2/5</a:t>
            </a:r>
            <a:endParaRPr/>
          </a:p>
        </p:txBody>
      </p:sp>
      <p:pic>
        <p:nvPicPr>
          <p:cNvPr id="9" name="Grafik 8"/>
          <p:cNvPicPr>
            <a:picLocks noChangeAspect="1"/>
          </p:cNvPicPr>
          <p:nvPr userDrawn="1"/>
        </p:nvPicPr>
        <p:blipFill>
          <a:blip r:embed="rId3"/>
          <a:stretch/>
        </p:blipFill>
        <p:spPr bwMode="auto">
          <a:xfrm>
            <a:off x="2933419" y="5993713"/>
            <a:ext cx="2168028" cy="708668"/>
          </a:xfrm>
          <a:prstGeom prst="rect">
            <a:avLst/>
          </a:prstGeom>
        </p:spPr>
      </p:pic>
    </p:spTree>
    <p:extLst>
      <p:ext uri="{BB962C8B-B14F-4D97-AF65-F5344CB8AC3E}">
        <p14:creationId xmlns:p14="http://schemas.microsoft.com/office/powerpoint/2010/main" val="889034960"/>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showMasterPhAnim="0" preserve="1" userDrawn="1">
  <p:cSld name="1_Cím és tartalom">
    <p:spTree>
      <p:nvGrpSpPr>
        <p:cNvPr id="1" name=""/>
        <p:cNvGrpSpPr/>
        <p:nvPr/>
      </p:nvGrpSpPr>
      <p:grpSpPr bwMode="auto">
        <a:xfrm>
          <a:off x="0" y="0"/>
          <a:ext cx="0" cy="0"/>
          <a:chOff x="0" y="0"/>
          <a:chExt cx="0" cy="0"/>
        </a:xfrm>
      </p:grpSpPr>
      <p:sp>
        <p:nvSpPr>
          <p:cNvPr id="2" name="Title 1"/>
          <p:cNvSpPr>
            <a:spLocks noGrp="1"/>
          </p:cNvSpPr>
          <p:nvPr>
            <p:ph type="title" hasCustomPrompt="1"/>
          </p:nvPr>
        </p:nvSpPr>
        <p:spPr bwMode="auto">
          <a:xfrm>
            <a:off x="1676400" y="441314"/>
            <a:ext cx="4080933" cy="1581907"/>
          </a:xfrm>
          <a:prstGeom prst="rect">
            <a:avLst/>
          </a:prstGeom>
        </p:spPr>
        <p:txBody>
          <a:bodyPr/>
          <a:lstStyle>
            <a:lvl1pPr>
              <a:defRPr sz="3333" b="1">
                <a:solidFill>
                  <a:srgbClr val="003399"/>
                </a:solidFill>
              </a:defRPr>
            </a:lvl1pPr>
          </a:lstStyle>
          <a:p>
            <a:pPr>
              <a:defRPr/>
            </a:pPr>
            <a:r>
              <a:rPr lang="hu-HU"/>
              <a:t>Security Measures</a:t>
            </a:r>
            <a:endParaRPr lang="en-US"/>
          </a:p>
        </p:txBody>
      </p:sp>
      <p:pic>
        <p:nvPicPr>
          <p:cNvPr id="8" name="Kép 7"/>
          <p:cNvPicPr>
            <a:picLocks noChangeAspect="1"/>
          </p:cNvPicPr>
          <p:nvPr userDrawn="1"/>
        </p:nvPicPr>
        <p:blipFill>
          <a:blip r:embed="rId2"/>
          <a:srcRect l="137" t="169" r="81731" b="-137"/>
          <a:stretch/>
        </p:blipFill>
        <p:spPr bwMode="auto">
          <a:xfrm>
            <a:off x="0" y="0"/>
            <a:ext cx="1244600" cy="6862941"/>
          </a:xfrm>
          <a:prstGeom prst="rect">
            <a:avLst/>
          </a:prstGeom>
        </p:spPr>
      </p:pic>
      <p:sp>
        <p:nvSpPr>
          <p:cNvPr id="6" name="Szöveg helye 5"/>
          <p:cNvSpPr>
            <a:spLocks noGrp="1"/>
          </p:cNvSpPr>
          <p:nvPr>
            <p:ph type="body" sz="quarter" idx="10" hasCustomPrompt="1"/>
          </p:nvPr>
        </p:nvSpPr>
        <p:spPr bwMode="auto">
          <a:xfrm>
            <a:off x="6189134" y="442316"/>
            <a:ext cx="5477933" cy="6077070"/>
          </a:xfrm>
        </p:spPr>
        <p:txBody>
          <a:bodyPr anchor="ctr">
            <a:normAutofit/>
          </a:bodyPr>
          <a:lstStyle>
            <a:lvl1pPr marL="0" indent="0">
              <a:buNone/>
              <a:defRPr sz="2000">
                <a:solidFill>
                  <a:srgbClr val="003399"/>
                </a:solidFill>
              </a:defRPr>
            </a:lvl1pPr>
          </a:lstStyle>
          <a:p>
            <a:pPr lvl="0">
              <a:defRPr/>
            </a:pPr>
            <a:r>
              <a:rPr lang="en-GB"/>
              <a:t>Recent data breaches in the industry underscore the pressing need for enhanced cybersecurity protocols. With sophisticated hacking techniques on the rise, our organization faces heightened risks of data theft and system compromise.</a:t>
            </a:r>
            <a:r>
              <a:rPr lang="hu-HU"/>
              <a:t> </a:t>
            </a:r>
            <a:r>
              <a:rPr lang="en-GB"/>
              <a:t>Failure to address these vulnerabilities not only jeopardizes our reputation but also exposes us to legal and financial repercussions in an ever-changing digital landscape.</a:t>
            </a:r>
            <a:endParaRPr/>
          </a:p>
        </p:txBody>
      </p:sp>
      <p:sp>
        <p:nvSpPr>
          <p:cNvPr id="9" name="Szöveg helye 8"/>
          <p:cNvSpPr>
            <a:spLocks noGrp="1"/>
          </p:cNvSpPr>
          <p:nvPr>
            <p:ph type="body" sz="quarter" idx="11" hasCustomPrompt="1"/>
          </p:nvPr>
        </p:nvSpPr>
        <p:spPr bwMode="auto">
          <a:xfrm>
            <a:off x="1676400" y="2023221"/>
            <a:ext cx="4080933" cy="4496165"/>
          </a:xfrm>
        </p:spPr>
        <p:txBody>
          <a:bodyPr>
            <a:normAutofit/>
          </a:bodyPr>
          <a:lstStyle>
            <a:lvl1pPr marL="0" indent="0">
              <a:buNone/>
              <a:defRPr sz="2133">
                <a:solidFill>
                  <a:srgbClr val="003399"/>
                </a:solidFill>
              </a:defRPr>
            </a:lvl1pPr>
          </a:lstStyle>
          <a:p>
            <a:pPr lvl="0">
              <a:defRPr/>
            </a:pPr>
            <a:r>
              <a:rPr lang="en-GB"/>
              <a:t>Inadequate cybersecurity measures pose a significant threat to our company's sensitive data and operations. As cyber threats evolve, our current defenses are increasingly vulnerable, necessitating urgent action.</a:t>
            </a:r>
            <a:endParaRPr/>
          </a:p>
        </p:txBody>
      </p:sp>
      <p:pic>
        <p:nvPicPr>
          <p:cNvPr id="10" name="Grafik 9"/>
          <p:cNvPicPr>
            <a:picLocks noChangeAspect="1"/>
          </p:cNvPicPr>
          <p:nvPr userDrawn="1"/>
        </p:nvPicPr>
        <p:blipFill>
          <a:blip r:embed="rId3"/>
          <a:stretch/>
        </p:blipFill>
        <p:spPr bwMode="auto">
          <a:xfrm>
            <a:off x="1649506" y="6024007"/>
            <a:ext cx="2168028" cy="708668"/>
          </a:xfrm>
          <a:prstGeom prst="rect">
            <a:avLst/>
          </a:prstGeom>
        </p:spPr>
      </p:pic>
    </p:spTree>
    <p:extLst>
      <p:ext uri="{BB962C8B-B14F-4D97-AF65-F5344CB8AC3E}">
        <p14:creationId xmlns:p14="http://schemas.microsoft.com/office/powerpoint/2010/main" val="26503397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PhAnim="0" preserve="1" userDrawn="1">
  <p:cSld name="2_Cím és tartalom">
    <p:spTree>
      <p:nvGrpSpPr>
        <p:cNvPr id="1" name=""/>
        <p:cNvGrpSpPr/>
        <p:nvPr/>
      </p:nvGrpSpPr>
      <p:grpSpPr bwMode="auto">
        <a:xfrm>
          <a:off x="0" y="0"/>
          <a:ext cx="0" cy="0"/>
          <a:chOff x="0" y="0"/>
          <a:chExt cx="0" cy="0"/>
        </a:xfrm>
      </p:grpSpPr>
      <p:sp>
        <p:nvSpPr>
          <p:cNvPr id="2" name="Title 1"/>
          <p:cNvSpPr>
            <a:spLocks noGrp="1"/>
          </p:cNvSpPr>
          <p:nvPr>
            <p:ph type="title" hasCustomPrompt="1"/>
          </p:nvPr>
        </p:nvSpPr>
        <p:spPr bwMode="auto">
          <a:xfrm>
            <a:off x="1676400" y="441314"/>
            <a:ext cx="10075333" cy="5907706"/>
          </a:xfrm>
          <a:prstGeom prst="rect">
            <a:avLst/>
          </a:prstGeom>
        </p:spPr>
        <p:txBody>
          <a:bodyPr/>
          <a:lstStyle>
            <a:lvl1pPr>
              <a:defRPr sz="3333" b="1">
                <a:solidFill>
                  <a:srgbClr val="003399"/>
                </a:solidFill>
              </a:defRPr>
            </a:lvl1pPr>
          </a:lstStyle>
          <a:p>
            <a:pPr>
              <a:defRPr/>
            </a:pPr>
            <a:r>
              <a:rPr lang="hu-HU"/>
              <a:t>”Addressing cybersecurity risks is not an option but a necessity in safeguarding our data and preserving organizational integrity.”</a:t>
            </a:r>
            <a:endParaRPr lang="en-US"/>
          </a:p>
        </p:txBody>
      </p:sp>
      <p:pic>
        <p:nvPicPr>
          <p:cNvPr id="8" name="Kép 7"/>
          <p:cNvPicPr>
            <a:picLocks noChangeAspect="1"/>
          </p:cNvPicPr>
          <p:nvPr userDrawn="1"/>
        </p:nvPicPr>
        <p:blipFill>
          <a:blip r:embed="rId2"/>
          <a:srcRect l="137" t="169" r="81731" b="-137"/>
          <a:stretch/>
        </p:blipFill>
        <p:spPr bwMode="auto">
          <a:xfrm>
            <a:off x="0" y="0"/>
            <a:ext cx="1244600" cy="6862941"/>
          </a:xfrm>
          <a:prstGeom prst="rect">
            <a:avLst/>
          </a:prstGeom>
        </p:spPr>
      </p:pic>
      <p:pic>
        <p:nvPicPr>
          <p:cNvPr id="5" name="Grafik 4"/>
          <p:cNvPicPr>
            <a:picLocks noChangeAspect="1"/>
          </p:cNvPicPr>
          <p:nvPr userDrawn="1"/>
        </p:nvPicPr>
        <p:blipFill>
          <a:blip r:embed="rId3"/>
          <a:stretch/>
        </p:blipFill>
        <p:spPr bwMode="auto">
          <a:xfrm>
            <a:off x="1673877" y="6000938"/>
            <a:ext cx="2168028" cy="708668"/>
          </a:xfrm>
          <a:prstGeom prst="rect">
            <a:avLst/>
          </a:prstGeom>
        </p:spPr>
      </p:pic>
      <p:sp>
        <p:nvSpPr>
          <p:cNvPr id="3" name="Datumsplatzhalter 2">
            <a:extLst>
              <a:ext uri="{FF2B5EF4-FFF2-40B4-BE49-F238E27FC236}">
                <a16:creationId xmlns:a16="http://schemas.microsoft.com/office/drawing/2014/main" id="{557191CC-DBE4-40F6-85AA-F2D96A3C3C20}"/>
              </a:ext>
            </a:extLst>
          </p:cNvPr>
          <p:cNvSpPr>
            <a:spLocks noGrp="1"/>
          </p:cNvSpPr>
          <p:nvPr>
            <p:ph type="dt" sz="half" idx="10"/>
          </p:nvPr>
        </p:nvSpPr>
        <p:spPr>
          <a:xfrm>
            <a:off x="10794751" y="6355272"/>
            <a:ext cx="1073976" cy="365125"/>
          </a:xfrm>
        </p:spPr>
        <p:txBody>
          <a:bodyPr/>
          <a:lstStyle/>
          <a:p>
            <a:pPr>
              <a:defRPr/>
            </a:pPr>
            <a:fld id="{8A9EB465-E3B1-4E46-9988-63ED5774821D}" type="datetimeFigureOut">
              <a:rPr lang="en-GB" smtClean="0"/>
              <a:t>19/07/2025</a:t>
            </a:fld>
            <a:endParaRPr lang="en-GB"/>
          </a:p>
        </p:txBody>
      </p:sp>
    </p:spTree>
    <p:extLst>
      <p:ext uri="{BB962C8B-B14F-4D97-AF65-F5344CB8AC3E}">
        <p14:creationId xmlns:p14="http://schemas.microsoft.com/office/powerpoint/2010/main" val="35539103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PhAnim="0" preserve="1" userDrawn="1">
  <p:cSld name="4_Cím és tartalom">
    <p:spTree>
      <p:nvGrpSpPr>
        <p:cNvPr id="1" name=""/>
        <p:cNvGrpSpPr/>
        <p:nvPr/>
      </p:nvGrpSpPr>
      <p:grpSpPr bwMode="auto">
        <a:xfrm>
          <a:off x="0" y="0"/>
          <a:ext cx="0" cy="0"/>
          <a:chOff x="0" y="0"/>
          <a:chExt cx="0" cy="0"/>
        </a:xfrm>
      </p:grpSpPr>
      <p:sp>
        <p:nvSpPr>
          <p:cNvPr id="2" name="Title 1"/>
          <p:cNvSpPr>
            <a:spLocks noGrp="1"/>
          </p:cNvSpPr>
          <p:nvPr>
            <p:ph type="title" hasCustomPrompt="1"/>
          </p:nvPr>
        </p:nvSpPr>
        <p:spPr bwMode="auto">
          <a:xfrm>
            <a:off x="1676400" y="441314"/>
            <a:ext cx="4080933" cy="1581907"/>
          </a:xfrm>
          <a:prstGeom prst="rect">
            <a:avLst/>
          </a:prstGeom>
        </p:spPr>
        <p:txBody>
          <a:bodyPr/>
          <a:lstStyle>
            <a:lvl1pPr>
              <a:defRPr sz="3333" b="1">
                <a:solidFill>
                  <a:srgbClr val="003399"/>
                </a:solidFill>
              </a:defRPr>
            </a:lvl1pPr>
          </a:lstStyle>
          <a:p>
            <a:pPr>
              <a:defRPr/>
            </a:pPr>
            <a:r>
              <a:rPr lang="hu-HU"/>
              <a:t>Security Measures</a:t>
            </a:r>
            <a:endParaRPr lang="en-US"/>
          </a:p>
        </p:txBody>
      </p:sp>
      <p:pic>
        <p:nvPicPr>
          <p:cNvPr id="8" name="Kép 7"/>
          <p:cNvPicPr>
            <a:picLocks noChangeAspect="1"/>
          </p:cNvPicPr>
          <p:nvPr userDrawn="1"/>
        </p:nvPicPr>
        <p:blipFill>
          <a:blip r:embed="rId2"/>
          <a:srcRect l="137" t="169" r="81731" b="-137"/>
          <a:stretch/>
        </p:blipFill>
        <p:spPr bwMode="auto">
          <a:xfrm>
            <a:off x="0" y="0"/>
            <a:ext cx="1244600" cy="6862941"/>
          </a:xfrm>
          <a:prstGeom prst="rect">
            <a:avLst/>
          </a:prstGeom>
        </p:spPr>
      </p:pic>
      <p:sp>
        <p:nvSpPr>
          <p:cNvPr id="9" name="Szöveg helye 8"/>
          <p:cNvSpPr>
            <a:spLocks noGrp="1"/>
          </p:cNvSpPr>
          <p:nvPr>
            <p:ph type="body" sz="quarter" idx="11" hasCustomPrompt="1"/>
          </p:nvPr>
        </p:nvSpPr>
        <p:spPr bwMode="auto">
          <a:xfrm>
            <a:off x="1676400" y="2023221"/>
            <a:ext cx="4080933" cy="4496165"/>
          </a:xfrm>
        </p:spPr>
        <p:txBody>
          <a:bodyPr>
            <a:normAutofit/>
          </a:bodyPr>
          <a:lstStyle>
            <a:lvl1pPr marL="0" indent="0">
              <a:buNone/>
              <a:defRPr sz="2133">
                <a:solidFill>
                  <a:srgbClr val="003399"/>
                </a:solidFill>
              </a:defRPr>
            </a:lvl1pPr>
          </a:lstStyle>
          <a:p>
            <a:pPr lvl="0">
              <a:defRPr/>
            </a:pPr>
            <a:r>
              <a:rPr lang="en-GB"/>
              <a:t>Inadequate cybersecurity measures pose a significant threat to our company's sensitive data and operations. As cyber threats evolve, our current defenses are increasingly vulnerable, necessitating urgent action.</a:t>
            </a:r>
            <a:endParaRPr/>
          </a:p>
        </p:txBody>
      </p:sp>
      <p:sp>
        <p:nvSpPr>
          <p:cNvPr id="4" name="Kép helye 3"/>
          <p:cNvSpPr>
            <a:spLocks noGrp="1"/>
          </p:cNvSpPr>
          <p:nvPr>
            <p:ph type="pic" sz="quarter" idx="12" hasCustomPrompt="1"/>
          </p:nvPr>
        </p:nvSpPr>
        <p:spPr bwMode="auto">
          <a:xfrm>
            <a:off x="6189133" y="0"/>
            <a:ext cx="6002867" cy="6858000"/>
          </a:xfrm>
        </p:spPr>
        <p:txBody>
          <a:bodyPr anchor="ctr">
            <a:normAutofit/>
          </a:bodyPr>
          <a:lstStyle>
            <a:lvl1pPr marL="0" indent="0" algn="ctr">
              <a:buNone/>
              <a:defRPr sz="1333">
                <a:solidFill>
                  <a:srgbClr val="003399"/>
                </a:solidFill>
              </a:defRPr>
            </a:lvl1pPr>
          </a:lstStyle>
          <a:p>
            <a:pPr>
              <a:defRPr/>
            </a:pPr>
            <a:r>
              <a:rPr lang="hu-HU"/>
              <a:t>Paste image here</a:t>
            </a:r>
            <a:endParaRPr lang="en-GB"/>
          </a:p>
        </p:txBody>
      </p:sp>
      <p:pic>
        <p:nvPicPr>
          <p:cNvPr id="7" name="Grafik 6"/>
          <p:cNvPicPr>
            <a:picLocks noChangeAspect="1"/>
          </p:cNvPicPr>
          <p:nvPr userDrawn="1"/>
        </p:nvPicPr>
        <p:blipFill>
          <a:blip r:embed="rId3"/>
          <a:stretch/>
        </p:blipFill>
        <p:spPr bwMode="auto">
          <a:xfrm>
            <a:off x="1674344" y="6018864"/>
            <a:ext cx="2168028" cy="708668"/>
          </a:xfrm>
          <a:prstGeom prst="rect">
            <a:avLst/>
          </a:prstGeom>
        </p:spPr>
      </p:pic>
    </p:spTree>
    <p:extLst>
      <p:ext uri="{BB962C8B-B14F-4D97-AF65-F5344CB8AC3E}">
        <p14:creationId xmlns:p14="http://schemas.microsoft.com/office/powerpoint/2010/main" val="34930944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PhAnim="0" preserve="1" userDrawn="1">
  <p:cSld name="5_Cím és tartalom">
    <p:spTree>
      <p:nvGrpSpPr>
        <p:cNvPr id="1" name=""/>
        <p:cNvGrpSpPr/>
        <p:nvPr/>
      </p:nvGrpSpPr>
      <p:grpSpPr bwMode="auto">
        <a:xfrm>
          <a:off x="0" y="0"/>
          <a:ext cx="0" cy="0"/>
          <a:chOff x="0" y="0"/>
          <a:chExt cx="0" cy="0"/>
        </a:xfrm>
      </p:grpSpPr>
      <p:sp>
        <p:nvSpPr>
          <p:cNvPr id="2" name="Title 1"/>
          <p:cNvSpPr>
            <a:spLocks noGrp="1"/>
          </p:cNvSpPr>
          <p:nvPr>
            <p:ph type="title" hasCustomPrompt="1"/>
          </p:nvPr>
        </p:nvSpPr>
        <p:spPr bwMode="auto">
          <a:xfrm>
            <a:off x="1676400" y="441314"/>
            <a:ext cx="4080933" cy="1581907"/>
          </a:xfrm>
          <a:prstGeom prst="rect">
            <a:avLst/>
          </a:prstGeom>
        </p:spPr>
        <p:txBody>
          <a:bodyPr/>
          <a:lstStyle>
            <a:lvl1pPr>
              <a:defRPr sz="3333" b="1">
                <a:solidFill>
                  <a:srgbClr val="003399"/>
                </a:solidFill>
              </a:defRPr>
            </a:lvl1pPr>
          </a:lstStyle>
          <a:p>
            <a:pPr>
              <a:defRPr/>
            </a:pPr>
            <a:r>
              <a:rPr lang="hu-HU"/>
              <a:t>Security Measures</a:t>
            </a:r>
            <a:endParaRPr lang="en-US"/>
          </a:p>
        </p:txBody>
      </p:sp>
      <p:pic>
        <p:nvPicPr>
          <p:cNvPr id="8" name="Kép 7"/>
          <p:cNvPicPr>
            <a:picLocks noChangeAspect="1"/>
          </p:cNvPicPr>
          <p:nvPr userDrawn="1"/>
        </p:nvPicPr>
        <p:blipFill>
          <a:blip r:embed="rId2"/>
          <a:srcRect l="137" t="169" r="81731" b="-137"/>
          <a:stretch/>
        </p:blipFill>
        <p:spPr bwMode="auto">
          <a:xfrm>
            <a:off x="0" y="0"/>
            <a:ext cx="1244600" cy="6862941"/>
          </a:xfrm>
          <a:prstGeom prst="rect">
            <a:avLst/>
          </a:prstGeom>
        </p:spPr>
      </p:pic>
      <p:sp>
        <p:nvSpPr>
          <p:cNvPr id="9" name="Szöveg helye 8"/>
          <p:cNvSpPr>
            <a:spLocks noGrp="1"/>
          </p:cNvSpPr>
          <p:nvPr>
            <p:ph type="body" sz="quarter" idx="11" hasCustomPrompt="1"/>
          </p:nvPr>
        </p:nvSpPr>
        <p:spPr bwMode="auto">
          <a:xfrm>
            <a:off x="1676400" y="2023221"/>
            <a:ext cx="4080933" cy="4496165"/>
          </a:xfrm>
        </p:spPr>
        <p:txBody>
          <a:bodyPr>
            <a:normAutofit/>
          </a:bodyPr>
          <a:lstStyle>
            <a:lvl1pPr marL="0" indent="0">
              <a:buNone/>
              <a:defRPr sz="2133">
                <a:solidFill>
                  <a:srgbClr val="003399"/>
                </a:solidFill>
              </a:defRPr>
            </a:lvl1pPr>
          </a:lstStyle>
          <a:p>
            <a:pPr lvl="0">
              <a:defRPr/>
            </a:pPr>
            <a:r>
              <a:rPr lang="en-GB"/>
              <a:t>Inadequate cybersecurity measures pose a significant threat to our company's sensitive data and operations. As cyber threats evolve, our current defenses are increasingly vulnerable, necessitating urgent action.</a:t>
            </a:r>
            <a:endParaRPr/>
          </a:p>
        </p:txBody>
      </p:sp>
      <p:sp>
        <p:nvSpPr>
          <p:cNvPr id="4" name="Kép helye 3"/>
          <p:cNvSpPr>
            <a:spLocks noGrp="1"/>
          </p:cNvSpPr>
          <p:nvPr>
            <p:ph type="pic" sz="quarter" idx="12" hasCustomPrompt="1"/>
          </p:nvPr>
        </p:nvSpPr>
        <p:spPr bwMode="auto">
          <a:xfrm>
            <a:off x="6189133" y="441257"/>
            <a:ext cx="5562600" cy="4866523"/>
          </a:xfrm>
        </p:spPr>
        <p:txBody>
          <a:bodyPr anchor="ctr">
            <a:normAutofit/>
          </a:bodyPr>
          <a:lstStyle>
            <a:lvl1pPr marL="0" indent="0" algn="ctr">
              <a:buNone/>
              <a:defRPr sz="1333">
                <a:solidFill>
                  <a:srgbClr val="003399"/>
                </a:solidFill>
              </a:defRPr>
            </a:lvl1pPr>
          </a:lstStyle>
          <a:p>
            <a:pPr>
              <a:defRPr/>
            </a:pPr>
            <a:r>
              <a:rPr lang="hu-HU"/>
              <a:t>Paste image here</a:t>
            </a:r>
            <a:endParaRPr lang="en-GB"/>
          </a:p>
        </p:txBody>
      </p:sp>
      <p:sp>
        <p:nvSpPr>
          <p:cNvPr id="5" name="Szöveg helye 4"/>
          <p:cNvSpPr>
            <a:spLocks noGrp="1"/>
          </p:cNvSpPr>
          <p:nvPr>
            <p:ph type="body" sz="quarter" idx="13" hasCustomPrompt="1"/>
          </p:nvPr>
        </p:nvSpPr>
        <p:spPr bwMode="auto">
          <a:xfrm>
            <a:off x="6189133" y="5307781"/>
            <a:ext cx="5621867" cy="1125893"/>
          </a:xfrm>
        </p:spPr>
        <p:txBody>
          <a:bodyPr anchor="ctr">
            <a:normAutofit/>
          </a:bodyPr>
          <a:lstStyle>
            <a:lvl1pPr marL="0" indent="0">
              <a:buNone/>
              <a:defRPr sz="1333">
                <a:solidFill>
                  <a:srgbClr val="003399"/>
                </a:solidFill>
              </a:defRPr>
            </a:lvl1pPr>
          </a:lstStyle>
          <a:p>
            <a:pPr lvl="0">
              <a:defRPr/>
            </a:pPr>
            <a:r>
              <a:rPr lang="hu-HU"/>
              <a:t>Image caption </a:t>
            </a:r>
            <a:r>
              <a:rPr lang="en-GB"/>
              <a:t>— Inadequate cybersecurity measures pose a significant threat to our company's sensitive data and Project Title operations.</a:t>
            </a:r>
            <a:endParaRPr/>
          </a:p>
        </p:txBody>
      </p:sp>
      <p:pic>
        <p:nvPicPr>
          <p:cNvPr id="10" name="Grafik 9"/>
          <p:cNvPicPr>
            <a:picLocks noChangeAspect="1"/>
          </p:cNvPicPr>
          <p:nvPr userDrawn="1"/>
        </p:nvPicPr>
        <p:blipFill>
          <a:blip r:embed="rId3"/>
          <a:stretch/>
        </p:blipFill>
        <p:spPr bwMode="auto">
          <a:xfrm>
            <a:off x="1649506" y="6024007"/>
            <a:ext cx="2168028" cy="708668"/>
          </a:xfrm>
          <a:prstGeom prst="rect">
            <a:avLst/>
          </a:prstGeom>
        </p:spPr>
      </p:pic>
    </p:spTree>
    <p:extLst>
      <p:ext uri="{BB962C8B-B14F-4D97-AF65-F5344CB8AC3E}">
        <p14:creationId xmlns:p14="http://schemas.microsoft.com/office/powerpoint/2010/main" val="1470163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PhAnim="0" preserve="1" userDrawn="1">
  <p:cSld name="3_Cím és tartalom">
    <p:spTree>
      <p:nvGrpSpPr>
        <p:cNvPr id="1" name=""/>
        <p:cNvGrpSpPr/>
        <p:nvPr/>
      </p:nvGrpSpPr>
      <p:grpSpPr bwMode="auto">
        <a:xfrm>
          <a:off x="0" y="0"/>
          <a:ext cx="0" cy="0"/>
          <a:chOff x="0" y="0"/>
          <a:chExt cx="0" cy="0"/>
        </a:xfrm>
      </p:grpSpPr>
      <p:sp>
        <p:nvSpPr>
          <p:cNvPr id="9" name="Szöveg helye 8"/>
          <p:cNvSpPr>
            <a:spLocks noGrp="1"/>
          </p:cNvSpPr>
          <p:nvPr>
            <p:ph type="body" sz="quarter" idx="11" hasCustomPrompt="1"/>
          </p:nvPr>
        </p:nvSpPr>
        <p:spPr bwMode="auto">
          <a:xfrm>
            <a:off x="5096934" y="389936"/>
            <a:ext cx="6671733" cy="1641751"/>
          </a:xfrm>
        </p:spPr>
        <p:txBody>
          <a:bodyPr>
            <a:normAutofit/>
          </a:bodyPr>
          <a:lstStyle>
            <a:lvl1pPr marL="0" indent="0">
              <a:buNone/>
              <a:defRPr sz="2133" b="1">
                <a:solidFill>
                  <a:srgbClr val="003399"/>
                </a:solidFill>
              </a:defRPr>
            </a:lvl1pPr>
          </a:lstStyle>
          <a:p>
            <a:pPr lvl="0">
              <a:defRPr/>
            </a:pPr>
            <a:r>
              <a:rPr lang="hu-HU"/>
              <a:t>projectTitle.com</a:t>
            </a:r>
            <a:endParaRPr lang="en-GB"/>
          </a:p>
        </p:txBody>
      </p:sp>
      <p:pic>
        <p:nvPicPr>
          <p:cNvPr id="7" name="Kép 6"/>
          <p:cNvPicPr>
            <a:picLocks noChangeAspect="1"/>
          </p:cNvPicPr>
          <p:nvPr userDrawn="1"/>
        </p:nvPicPr>
        <p:blipFill>
          <a:blip r:embed="rId2"/>
          <a:srcRect r="32109"/>
          <a:stretch/>
        </p:blipFill>
        <p:spPr bwMode="auto">
          <a:xfrm>
            <a:off x="0" y="0"/>
            <a:ext cx="4656667" cy="6858000"/>
          </a:xfrm>
          <a:prstGeom prst="rect">
            <a:avLst/>
          </a:prstGeom>
        </p:spPr>
      </p:pic>
      <p:sp>
        <p:nvSpPr>
          <p:cNvPr id="11" name="Szöveg helye 10"/>
          <p:cNvSpPr>
            <a:spLocks noGrp="1"/>
          </p:cNvSpPr>
          <p:nvPr>
            <p:ph type="body" sz="quarter" idx="12" hasCustomPrompt="1"/>
          </p:nvPr>
        </p:nvSpPr>
        <p:spPr bwMode="auto">
          <a:xfrm>
            <a:off x="423333" y="393639"/>
            <a:ext cx="3657600" cy="1820052"/>
          </a:xfrm>
        </p:spPr>
        <p:txBody>
          <a:bodyPr/>
          <a:lstStyle>
            <a:lvl1pPr marL="0" indent="0">
              <a:buNone/>
              <a:defRPr b="1">
                <a:solidFill>
                  <a:schemeClr val="bg1"/>
                </a:solidFill>
              </a:defRPr>
            </a:lvl1pPr>
          </a:lstStyle>
          <a:p>
            <a:pPr lvl="0">
              <a:defRPr/>
            </a:pPr>
            <a:r>
              <a:rPr lang="hu-HU"/>
              <a:t>Thank you for attending!</a:t>
            </a:r>
            <a:endParaRPr lang="en-GB"/>
          </a:p>
        </p:txBody>
      </p:sp>
      <p:sp>
        <p:nvSpPr>
          <p:cNvPr id="12" name="Szöveg helye 8"/>
          <p:cNvSpPr>
            <a:spLocks noGrp="1"/>
          </p:cNvSpPr>
          <p:nvPr>
            <p:ph type="body" sz="quarter" idx="13" hasCustomPrompt="1"/>
          </p:nvPr>
        </p:nvSpPr>
        <p:spPr bwMode="auto">
          <a:xfrm>
            <a:off x="5096933" y="2031687"/>
            <a:ext cx="3454400" cy="364010"/>
          </a:xfrm>
        </p:spPr>
        <p:txBody>
          <a:bodyPr>
            <a:normAutofit/>
          </a:bodyPr>
          <a:lstStyle>
            <a:lvl1pPr marL="0" indent="0">
              <a:buNone/>
              <a:defRPr sz="1667">
                <a:solidFill>
                  <a:srgbClr val="003399"/>
                </a:solidFill>
              </a:defRPr>
            </a:lvl1pPr>
          </a:lstStyle>
          <a:p>
            <a:pPr lvl="0">
              <a:defRPr/>
            </a:pPr>
            <a:r>
              <a:rPr lang="hu-HU"/>
              <a:t>First Last</a:t>
            </a:r>
            <a:endParaRPr lang="en-GB"/>
          </a:p>
        </p:txBody>
      </p:sp>
      <p:sp>
        <p:nvSpPr>
          <p:cNvPr id="13" name="Szöveg helye 8"/>
          <p:cNvSpPr>
            <a:spLocks noGrp="1"/>
          </p:cNvSpPr>
          <p:nvPr>
            <p:ph type="body" sz="quarter" idx="14" hasCustomPrompt="1"/>
          </p:nvPr>
        </p:nvSpPr>
        <p:spPr bwMode="auto">
          <a:xfrm>
            <a:off x="5096934" y="3673436"/>
            <a:ext cx="6671733" cy="1641751"/>
          </a:xfrm>
        </p:spPr>
        <p:txBody>
          <a:bodyPr>
            <a:normAutofit/>
          </a:bodyPr>
          <a:lstStyle>
            <a:lvl1pPr marL="0" indent="0">
              <a:buNone/>
              <a:defRPr sz="1667" b="0">
                <a:solidFill>
                  <a:srgbClr val="003399"/>
                </a:solidFill>
              </a:defRPr>
            </a:lvl1pPr>
          </a:lstStyle>
          <a:p>
            <a:pPr lvl="0">
              <a:defRPr/>
            </a:pPr>
            <a:r>
              <a:rPr lang="hu-HU"/>
              <a:t>Facebook.com/</a:t>
            </a:r>
            <a:r>
              <a:rPr lang="hu-HU" b="1"/>
              <a:t>projectTitle</a:t>
            </a:r>
            <a:br>
              <a:rPr lang="hu-HU" b="1"/>
            </a:br>
            <a:r>
              <a:rPr lang="hu-HU" b="0"/>
              <a:t>x.com/</a:t>
            </a:r>
            <a:r>
              <a:rPr lang="hu-HU" b="1"/>
              <a:t>projectTitle</a:t>
            </a:r>
            <a:br>
              <a:rPr lang="hu-HU" b="1"/>
            </a:br>
            <a:r>
              <a:rPr lang="hu-HU" b="0"/>
              <a:t>youtube.com/</a:t>
            </a:r>
            <a:r>
              <a:rPr lang="hu-HU" b="1"/>
              <a:t>projectTitle</a:t>
            </a:r>
            <a:endParaRPr lang="hu-HU" b="0"/>
          </a:p>
        </p:txBody>
      </p:sp>
      <p:sp>
        <p:nvSpPr>
          <p:cNvPr id="14" name="Szöveg helye 8"/>
          <p:cNvSpPr>
            <a:spLocks noGrp="1"/>
          </p:cNvSpPr>
          <p:nvPr>
            <p:ph type="body" sz="quarter" idx="15" hasCustomPrompt="1"/>
          </p:nvPr>
        </p:nvSpPr>
        <p:spPr bwMode="auto">
          <a:xfrm>
            <a:off x="5096933" y="2395697"/>
            <a:ext cx="3454400" cy="364010"/>
          </a:xfrm>
        </p:spPr>
        <p:txBody>
          <a:bodyPr>
            <a:normAutofit/>
          </a:bodyPr>
          <a:lstStyle>
            <a:lvl1pPr marL="0" indent="0">
              <a:buNone/>
              <a:defRPr sz="1667">
                <a:solidFill>
                  <a:srgbClr val="003399"/>
                </a:solidFill>
              </a:defRPr>
            </a:lvl1pPr>
          </a:lstStyle>
          <a:p>
            <a:pPr lvl="0">
              <a:defRPr/>
            </a:pPr>
            <a:r>
              <a:rPr lang="hu-HU"/>
              <a:t>info@projectTitle.com</a:t>
            </a:r>
            <a:endParaRPr lang="en-GB"/>
          </a:p>
        </p:txBody>
      </p:sp>
      <p:sp>
        <p:nvSpPr>
          <p:cNvPr id="16" name="Szöveg helye 8"/>
          <p:cNvSpPr>
            <a:spLocks noGrp="1"/>
          </p:cNvSpPr>
          <p:nvPr>
            <p:ph type="body" sz="quarter" idx="16" hasCustomPrompt="1"/>
          </p:nvPr>
        </p:nvSpPr>
        <p:spPr bwMode="auto">
          <a:xfrm>
            <a:off x="5096933" y="2763411"/>
            <a:ext cx="3454400" cy="364010"/>
          </a:xfrm>
        </p:spPr>
        <p:txBody>
          <a:bodyPr>
            <a:normAutofit/>
          </a:bodyPr>
          <a:lstStyle>
            <a:lvl1pPr marL="0" indent="0">
              <a:buNone/>
              <a:defRPr sz="1667">
                <a:solidFill>
                  <a:srgbClr val="003399"/>
                </a:solidFill>
              </a:defRPr>
            </a:lvl1pPr>
          </a:lstStyle>
          <a:p>
            <a:pPr lvl="0">
              <a:defRPr/>
            </a:pPr>
            <a:r>
              <a:rPr lang="hu-HU"/>
              <a:t>+32 123 456 789</a:t>
            </a:r>
            <a:endParaRPr lang="en-GB"/>
          </a:p>
        </p:txBody>
      </p:sp>
      <p:sp>
        <p:nvSpPr>
          <p:cNvPr id="17" name="Szöveg helye 8"/>
          <p:cNvSpPr>
            <a:spLocks noGrp="1"/>
          </p:cNvSpPr>
          <p:nvPr>
            <p:ph type="body" sz="quarter" idx="17" hasCustomPrompt="1"/>
          </p:nvPr>
        </p:nvSpPr>
        <p:spPr bwMode="auto">
          <a:xfrm>
            <a:off x="8551334" y="2031686"/>
            <a:ext cx="3217333" cy="728021"/>
          </a:xfrm>
        </p:spPr>
        <p:txBody>
          <a:bodyPr>
            <a:normAutofit/>
          </a:bodyPr>
          <a:lstStyle>
            <a:lvl1pPr marL="0" indent="0">
              <a:buNone/>
              <a:defRPr sz="1667">
                <a:solidFill>
                  <a:srgbClr val="003399"/>
                </a:solidFill>
              </a:defRPr>
            </a:lvl1pPr>
          </a:lstStyle>
          <a:p>
            <a:pPr lvl="0">
              <a:defRPr/>
            </a:pPr>
            <a:r>
              <a:rPr lang="hu-HU"/>
              <a:t>Budapest utca 1</a:t>
            </a:r>
            <a:br>
              <a:rPr lang="hu-HU"/>
            </a:br>
            <a:r>
              <a:rPr lang="hu-HU"/>
              <a:t>1055 Budapest, Hungary</a:t>
            </a:r>
            <a:endParaRPr lang="en-GB"/>
          </a:p>
        </p:txBody>
      </p:sp>
      <p:pic>
        <p:nvPicPr>
          <p:cNvPr id="15" name="Grafik 14"/>
          <p:cNvPicPr>
            <a:picLocks noChangeAspect="1"/>
          </p:cNvPicPr>
          <p:nvPr userDrawn="1"/>
        </p:nvPicPr>
        <p:blipFill>
          <a:blip r:embed="rId3"/>
          <a:stretch/>
        </p:blipFill>
        <p:spPr bwMode="auto">
          <a:xfrm>
            <a:off x="5003419" y="5413783"/>
            <a:ext cx="3713147" cy="1213725"/>
          </a:xfrm>
          <a:prstGeom prst="rect">
            <a:avLst/>
          </a:prstGeom>
        </p:spPr>
      </p:pic>
    </p:spTree>
    <p:extLst>
      <p:ext uri="{BB962C8B-B14F-4D97-AF65-F5344CB8AC3E}">
        <p14:creationId xmlns:p14="http://schemas.microsoft.com/office/powerpoint/2010/main" val="11732940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bwMode="auto">
        <a:xfrm>
          <a:off x="0" y="0"/>
          <a:ext cx="0" cy="0"/>
          <a:chOff x="0" y="0"/>
          <a:chExt cx="0" cy="0"/>
        </a:xfrm>
      </p:grpSpPr>
      <p:sp>
        <p:nvSpPr>
          <p:cNvPr id="3" name="Text Placeholder 2"/>
          <p:cNvSpPr>
            <a:spLocks noGrp="1"/>
          </p:cNvSpPr>
          <p:nvPr>
            <p:ph type="body" idx="1"/>
          </p:nvPr>
        </p:nvSpPr>
        <p:spPr bwMode="auto">
          <a:xfrm>
            <a:off x="3123028" y="611410"/>
            <a:ext cx="8102079" cy="5635180"/>
          </a:xfrm>
          <a:prstGeom prst="rect">
            <a:avLst/>
          </a:prstGeom>
        </p:spPr>
        <p:txBody>
          <a:bodyPr vert="horz" lIns="91440" tIns="45720" rIns="91440" bIns="45720" rtlCol="0">
            <a:normAutofit/>
          </a:bodyPr>
          <a:lstStyle/>
          <a:p>
            <a:pPr lvl="0">
              <a:defRPr/>
            </a:pPr>
            <a:r>
              <a:rPr lang="hu-HU"/>
              <a:t>Mintaszöveg szerkesztése</a:t>
            </a:r>
            <a:endParaRPr/>
          </a:p>
          <a:p>
            <a:pPr lvl="1">
              <a:defRPr/>
            </a:pPr>
            <a:r>
              <a:rPr lang="hu-HU"/>
              <a:t>Második szint</a:t>
            </a:r>
            <a:endParaRPr/>
          </a:p>
          <a:p>
            <a:pPr lvl="2">
              <a:defRPr/>
            </a:pPr>
            <a:r>
              <a:rPr lang="hu-HU"/>
              <a:t>Harmadik szint</a:t>
            </a:r>
            <a:endParaRPr/>
          </a:p>
          <a:p>
            <a:pPr lvl="3">
              <a:defRPr/>
            </a:pPr>
            <a:r>
              <a:rPr lang="hu-HU"/>
              <a:t>Negyedik szint</a:t>
            </a:r>
            <a:endParaRPr/>
          </a:p>
          <a:p>
            <a:pPr lvl="4">
              <a:defRPr/>
            </a:pPr>
            <a:r>
              <a:rPr lang="hu-HU"/>
              <a:t>Ötödik szint</a:t>
            </a:r>
            <a:endParaRPr lang="en-US"/>
          </a:p>
        </p:txBody>
      </p:sp>
      <p:sp>
        <p:nvSpPr>
          <p:cNvPr id="4" name="Date Placeholder 3"/>
          <p:cNvSpPr>
            <a:spLocks noGrp="1"/>
          </p:cNvSpPr>
          <p:nvPr>
            <p:ph type="dt" sz="half" idx="2"/>
          </p:nvPr>
        </p:nvSpPr>
        <p:spPr bwMode="auto">
          <a:xfrm>
            <a:off x="3488788" y="5811838"/>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8A9EB465-E3B1-4E46-9988-63ED5774821D}" type="datetimeFigureOut">
              <a:rPr lang="en-GB"/>
              <a:t>19/07/2025</a:t>
            </a:fld>
            <a:endParaRPr lang="en-GB"/>
          </a:p>
        </p:txBody>
      </p:sp>
      <p:sp>
        <p:nvSpPr>
          <p:cNvPr id="5" name="Footer Placeholder 4"/>
          <p:cNvSpPr>
            <a:spLocks noGrp="1"/>
          </p:cNvSpPr>
          <p:nvPr>
            <p:ph type="ftr" sz="quarter" idx="3"/>
          </p:nvPr>
        </p:nvSpPr>
        <p:spPr bwMode="auto">
          <a:xfrm>
            <a:off x="6231987" y="5811838"/>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GB"/>
          </a:p>
        </p:txBody>
      </p:sp>
    </p:spTree>
    <p:extLst>
      <p:ext uri="{BB962C8B-B14F-4D97-AF65-F5344CB8AC3E}">
        <p14:creationId xmlns:p14="http://schemas.microsoft.com/office/powerpoint/2010/main" val="4105496219"/>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Lst>
  <p:txStyles>
    <p:titleStyle>
      <a:lvl1pPr algn="l" defTabSz="914309">
        <a:lnSpc>
          <a:spcPct val="90000"/>
        </a:lnSpc>
        <a:spcBef>
          <a:spcPts val="0"/>
        </a:spcBef>
        <a:buNone/>
        <a:defRPr sz="4400">
          <a:solidFill>
            <a:schemeClr val="tx1"/>
          </a:solidFill>
          <a:latin typeface="+mj-lt"/>
          <a:ea typeface="+mj-ea"/>
          <a:cs typeface="+mj-cs"/>
        </a:defRPr>
      </a:lvl1pPr>
    </p:titleStyle>
    <p:bodyStyle>
      <a:lvl1pPr marL="228577" indent="-228577" algn="l" defTabSz="914309">
        <a:lnSpc>
          <a:spcPct val="90000"/>
        </a:lnSpc>
        <a:spcBef>
          <a:spcPts val="1000"/>
        </a:spcBef>
        <a:buFont typeface="Arial"/>
        <a:buChar char="•"/>
        <a:defRPr sz="2800">
          <a:solidFill>
            <a:schemeClr val="tx1"/>
          </a:solidFill>
          <a:latin typeface="+mn-lt"/>
          <a:ea typeface="+mn-ea"/>
          <a:cs typeface="+mn-cs"/>
        </a:defRPr>
      </a:lvl1pPr>
      <a:lvl2pPr marL="685731" indent="-228577" algn="l" defTabSz="914309">
        <a:lnSpc>
          <a:spcPct val="90000"/>
        </a:lnSpc>
        <a:spcBef>
          <a:spcPts val="500"/>
        </a:spcBef>
        <a:buFont typeface="Arial"/>
        <a:buChar char="•"/>
        <a:defRPr sz="2400">
          <a:solidFill>
            <a:schemeClr val="tx1"/>
          </a:solidFill>
          <a:latin typeface="+mn-lt"/>
          <a:ea typeface="+mn-ea"/>
          <a:cs typeface="+mn-cs"/>
        </a:defRPr>
      </a:lvl2pPr>
      <a:lvl3pPr marL="1142886" indent="-228577" algn="l" defTabSz="914309">
        <a:lnSpc>
          <a:spcPct val="90000"/>
        </a:lnSpc>
        <a:spcBef>
          <a:spcPts val="500"/>
        </a:spcBef>
        <a:buFont typeface="Arial"/>
        <a:buChar char="•"/>
        <a:defRPr sz="2000">
          <a:solidFill>
            <a:schemeClr val="tx1"/>
          </a:solidFill>
          <a:latin typeface="+mn-lt"/>
          <a:ea typeface="+mn-ea"/>
          <a:cs typeface="+mn-cs"/>
        </a:defRPr>
      </a:lvl3pPr>
      <a:lvl4pPr marL="1600040" indent="-228577" algn="l" defTabSz="914309">
        <a:lnSpc>
          <a:spcPct val="90000"/>
        </a:lnSpc>
        <a:spcBef>
          <a:spcPts val="500"/>
        </a:spcBef>
        <a:buFont typeface="Arial"/>
        <a:buChar char="•"/>
        <a:defRPr sz="1800">
          <a:solidFill>
            <a:schemeClr val="tx1"/>
          </a:solidFill>
          <a:latin typeface="+mn-lt"/>
          <a:ea typeface="+mn-ea"/>
          <a:cs typeface="+mn-cs"/>
        </a:defRPr>
      </a:lvl4pPr>
      <a:lvl5pPr marL="2057194" indent="-228577" algn="l" defTabSz="914309">
        <a:lnSpc>
          <a:spcPct val="90000"/>
        </a:lnSpc>
        <a:spcBef>
          <a:spcPts val="500"/>
        </a:spcBef>
        <a:buFont typeface="Arial"/>
        <a:buChar char="•"/>
        <a:defRPr sz="1800">
          <a:solidFill>
            <a:schemeClr val="tx1"/>
          </a:solidFill>
          <a:latin typeface="+mn-lt"/>
          <a:ea typeface="+mn-ea"/>
          <a:cs typeface="+mn-cs"/>
        </a:defRPr>
      </a:lvl5pPr>
      <a:lvl6pPr marL="2514349" indent="-228577" algn="l" defTabSz="914309">
        <a:lnSpc>
          <a:spcPct val="90000"/>
        </a:lnSpc>
        <a:spcBef>
          <a:spcPts val="500"/>
        </a:spcBef>
        <a:buFont typeface="Arial"/>
        <a:buChar char="•"/>
        <a:defRPr sz="1800">
          <a:solidFill>
            <a:schemeClr val="tx1"/>
          </a:solidFill>
          <a:latin typeface="+mn-lt"/>
          <a:ea typeface="+mn-ea"/>
          <a:cs typeface="+mn-cs"/>
        </a:defRPr>
      </a:lvl6pPr>
      <a:lvl7pPr marL="2971503" indent="-228577" algn="l" defTabSz="914309">
        <a:lnSpc>
          <a:spcPct val="90000"/>
        </a:lnSpc>
        <a:spcBef>
          <a:spcPts val="500"/>
        </a:spcBef>
        <a:buFont typeface="Arial"/>
        <a:buChar char="•"/>
        <a:defRPr sz="1800">
          <a:solidFill>
            <a:schemeClr val="tx1"/>
          </a:solidFill>
          <a:latin typeface="+mn-lt"/>
          <a:ea typeface="+mn-ea"/>
          <a:cs typeface="+mn-cs"/>
        </a:defRPr>
      </a:lvl7pPr>
      <a:lvl8pPr marL="3428657" indent="-228577" algn="l" defTabSz="914309">
        <a:lnSpc>
          <a:spcPct val="90000"/>
        </a:lnSpc>
        <a:spcBef>
          <a:spcPts val="500"/>
        </a:spcBef>
        <a:buFont typeface="Arial"/>
        <a:buChar char="•"/>
        <a:defRPr sz="1800">
          <a:solidFill>
            <a:schemeClr val="tx1"/>
          </a:solidFill>
          <a:latin typeface="+mn-lt"/>
          <a:ea typeface="+mn-ea"/>
          <a:cs typeface="+mn-cs"/>
        </a:defRPr>
      </a:lvl8pPr>
      <a:lvl9pPr marL="3885811" indent="-228577" algn="l" defTabSz="914309">
        <a:lnSpc>
          <a:spcPct val="90000"/>
        </a:lnSpc>
        <a:spcBef>
          <a:spcPts val="500"/>
        </a:spcBef>
        <a:buFont typeface="Arial"/>
        <a:buChar char="•"/>
        <a:defRPr sz="1800">
          <a:solidFill>
            <a:schemeClr val="tx1"/>
          </a:solidFill>
          <a:latin typeface="+mn-lt"/>
          <a:ea typeface="+mn-ea"/>
          <a:cs typeface="+mn-cs"/>
        </a:defRPr>
      </a:lvl9pPr>
    </p:bodyStyle>
    <p:otherStyle>
      <a:defPPr>
        <a:defRPr lang="en-US"/>
      </a:defPPr>
      <a:lvl1pPr marL="0" algn="l" defTabSz="914309">
        <a:defRPr sz="1800">
          <a:solidFill>
            <a:schemeClr val="tx1"/>
          </a:solidFill>
          <a:latin typeface="+mn-lt"/>
          <a:ea typeface="+mn-ea"/>
          <a:cs typeface="+mn-cs"/>
        </a:defRPr>
      </a:lvl1pPr>
      <a:lvl2pPr marL="457154" algn="l" defTabSz="914309">
        <a:defRPr sz="1800">
          <a:solidFill>
            <a:schemeClr val="tx1"/>
          </a:solidFill>
          <a:latin typeface="+mn-lt"/>
          <a:ea typeface="+mn-ea"/>
          <a:cs typeface="+mn-cs"/>
        </a:defRPr>
      </a:lvl2pPr>
      <a:lvl3pPr marL="914309" algn="l" defTabSz="914309">
        <a:defRPr sz="1800">
          <a:solidFill>
            <a:schemeClr val="tx1"/>
          </a:solidFill>
          <a:latin typeface="+mn-lt"/>
          <a:ea typeface="+mn-ea"/>
          <a:cs typeface="+mn-cs"/>
        </a:defRPr>
      </a:lvl3pPr>
      <a:lvl4pPr marL="1371463" algn="l" defTabSz="914309">
        <a:defRPr sz="1800">
          <a:solidFill>
            <a:schemeClr val="tx1"/>
          </a:solidFill>
          <a:latin typeface="+mn-lt"/>
          <a:ea typeface="+mn-ea"/>
          <a:cs typeface="+mn-cs"/>
        </a:defRPr>
      </a:lvl4pPr>
      <a:lvl5pPr marL="1828617" algn="l" defTabSz="914309">
        <a:defRPr sz="1800">
          <a:solidFill>
            <a:schemeClr val="tx1"/>
          </a:solidFill>
          <a:latin typeface="+mn-lt"/>
          <a:ea typeface="+mn-ea"/>
          <a:cs typeface="+mn-cs"/>
        </a:defRPr>
      </a:lvl5pPr>
      <a:lvl6pPr marL="2285771" algn="l" defTabSz="914309">
        <a:defRPr sz="1800">
          <a:solidFill>
            <a:schemeClr val="tx1"/>
          </a:solidFill>
          <a:latin typeface="+mn-lt"/>
          <a:ea typeface="+mn-ea"/>
          <a:cs typeface="+mn-cs"/>
        </a:defRPr>
      </a:lvl6pPr>
      <a:lvl7pPr marL="2742926" algn="l" defTabSz="914309">
        <a:defRPr sz="1800">
          <a:solidFill>
            <a:schemeClr val="tx1"/>
          </a:solidFill>
          <a:latin typeface="+mn-lt"/>
          <a:ea typeface="+mn-ea"/>
          <a:cs typeface="+mn-cs"/>
        </a:defRPr>
      </a:lvl7pPr>
      <a:lvl8pPr marL="3200080" algn="l" defTabSz="914309">
        <a:defRPr sz="1800">
          <a:solidFill>
            <a:schemeClr val="tx1"/>
          </a:solidFill>
          <a:latin typeface="+mn-lt"/>
          <a:ea typeface="+mn-ea"/>
          <a:cs typeface="+mn-cs"/>
        </a:defRPr>
      </a:lvl8pPr>
      <a:lvl9pPr marL="3657234" algn="l" defTabSz="914309">
        <a:defRPr sz="18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hyperlink" Target="https://www.omg.org/spec/BPMN/2.0.2" TargetMode="Externa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6.xml"/><Relationship Id="rId5" Type="http://schemas.openxmlformats.org/officeDocument/2006/relationships/image" Target="../media/image23.png"/><Relationship Id="rId4" Type="http://schemas.openxmlformats.org/officeDocument/2006/relationships/image" Target="../media/image22.png"/></Relationships>
</file>

<file path=ppt/slides/_rels/slide1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0.png"/><Relationship Id="rId1" Type="http://schemas.openxmlformats.org/officeDocument/2006/relationships/slideLayout" Target="../slideLayouts/slideLayout6.xml"/><Relationship Id="rId4" Type="http://schemas.openxmlformats.org/officeDocument/2006/relationships/image" Target="../media/image25.png"/></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6.xml"/><Relationship Id="rId4" Type="http://schemas.openxmlformats.org/officeDocument/2006/relationships/image" Target="../media/image26.png"/></Relationships>
</file>

<file path=ppt/slides/_rels/slide1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0.png"/><Relationship Id="rId1" Type="http://schemas.openxmlformats.org/officeDocument/2006/relationships/slideLayout" Target="../slideLayouts/slideLayout6.xml"/><Relationship Id="rId4" Type="http://schemas.openxmlformats.org/officeDocument/2006/relationships/image" Target="../media/image28.png"/></Relationships>
</file>

<file path=ppt/slides/_rels/slide1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0.png"/><Relationship Id="rId1" Type="http://schemas.openxmlformats.org/officeDocument/2006/relationships/slideLayout" Target="../slideLayouts/slideLayout6.xml"/><Relationship Id="rId4" Type="http://schemas.openxmlformats.org/officeDocument/2006/relationships/image" Target="../media/image29.png"/></Relationships>
</file>

<file path=ppt/slides/_rels/slide1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0.png"/><Relationship Id="rId1" Type="http://schemas.openxmlformats.org/officeDocument/2006/relationships/slideLayout" Target="../slideLayouts/slideLayout6.xml"/><Relationship Id="rId4" Type="http://schemas.openxmlformats.org/officeDocument/2006/relationships/image" Target="../media/image31.png"/></Relationships>
</file>

<file path=ppt/slides/_rels/slide1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6.xml"/><Relationship Id="rId4" Type="http://schemas.openxmlformats.org/officeDocument/2006/relationships/image" Target="../media/image34.png"/></Relationships>
</file>

<file path=ppt/slides/_rels/slide1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6.xml"/><Relationship Id="rId4" Type="http://schemas.openxmlformats.org/officeDocument/2006/relationships/image" Target="../media/image34.png"/></Relationships>
</file>

<file path=ppt/slides/_rels/slide19.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6.xml"/><Relationship Id="rId4" Type="http://schemas.openxmlformats.org/officeDocument/2006/relationships/image" Target="../media/image41.png"/></Relationships>
</file>

<file path=ppt/slides/_rels/slide23.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35.png"/><Relationship Id="rId1" Type="http://schemas.openxmlformats.org/officeDocument/2006/relationships/slideLayout" Target="../slideLayouts/slideLayout6.xml"/><Relationship Id="rId4" Type="http://schemas.openxmlformats.org/officeDocument/2006/relationships/image" Target="../media/image45.png"/></Relationships>
</file>

<file path=ppt/slides/_rels/slide25.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hyperlink" Target="https://www.omg.org/spec/BPMN/2.0.2" TargetMode="External"/><Relationship Id="rId2" Type="http://schemas.openxmlformats.org/officeDocument/2006/relationships/hyperlink" Target="https://bee-up.omilab.org/home/docs/The_IMKER_Case_Study.pdf" TargetMode="External"/><Relationship Id="rId1" Type="http://schemas.openxmlformats.org/officeDocument/2006/relationships/slideLayout" Target="../slideLayouts/slideLayout5.xml"/><Relationship Id="rId4" Type="http://schemas.openxmlformats.org/officeDocument/2006/relationships/hyperlink" Target="https://camunda.com/bpmn/reference/" TargetMode="External"/></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Cím 1"/>
          <p:cNvSpPr>
            <a:spLocks noGrp="1"/>
          </p:cNvSpPr>
          <p:nvPr>
            <p:ph type="title"/>
          </p:nvPr>
        </p:nvSpPr>
        <p:spPr bwMode="auto">
          <a:xfrm>
            <a:off x="3124659" y="2651258"/>
            <a:ext cx="8482291" cy="2521728"/>
          </a:xfrm>
        </p:spPr>
        <p:txBody>
          <a:bodyPr lIns="91440" tIns="45720" rIns="91440" bIns="45720" anchor="t"/>
          <a:lstStyle/>
          <a:p>
            <a:pPr>
              <a:lnSpc>
                <a:spcPct val="100000"/>
              </a:lnSpc>
              <a:defRPr/>
            </a:pPr>
            <a:r>
              <a:rPr lang="de-DE" sz="3600" b="1" dirty="0" err="1">
                <a:latin typeface="Open Sans" panose="020B0606030504020204" pitchFamily="34" charset="0"/>
                <a:ea typeface="Open Sans" panose="020B0606030504020204" pitchFamily="34" charset="0"/>
                <a:cs typeface="Open Sans" panose="020B0606030504020204" pitchFamily="34" charset="0"/>
              </a:rPr>
              <a:t>ADOxx</a:t>
            </a:r>
            <a:br>
              <a:rPr lang="de-DE" sz="3600" b="1" dirty="0">
                <a:latin typeface="Open Sans" panose="020B0606030504020204" pitchFamily="34" charset="0"/>
                <a:ea typeface="Open Sans" panose="020B0606030504020204" pitchFamily="34" charset="0"/>
                <a:cs typeface="Open Sans" panose="020B0606030504020204" pitchFamily="34" charset="0"/>
              </a:rPr>
            </a:br>
            <a:r>
              <a:rPr lang="de-DE" sz="2400" dirty="0" err="1"/>
              <a:t>HowTo</a:t>
            </a:r>
            <a:r>
              <a:rPr lang="de-DE" sz="2400" dirty="0"/>
              <a:t> BPMN Modeling</a:t>
            </a:r>
            <a:br>
              <a:rPr lang="de-DE" sz="2400" dirty="0"/>
            </a:br>
            <a:br>
              <a:rPr lang="de-DE" sz="2400" dirty="0"/>
            </a:br>
            <a:br>
              <a:rPr lang="de-DE" sz="2400" dirty="0"/>
            </a:br>
            <a:br>
              <a:rPr lang="de-DE" sz="2400" dirty="0"/>
            </a:br>
            <a:br>
              <a:rPr lang="de-DE" sz="2400" dirty="0"/>
            </a:br>
            <a:r>
              <a:rPr lang="de-DE" sz="2400" dirty="0"/>
              <a:t>PP2, HSRT</a:t>
            </a:r>
            <a:br>
              <a:rPr lang="de-DE" sz="2400" dirty="0"/>
            </a:br>
            <a:endParaRPr lang="en-US" dirty="0"/>
          </a:p>
        </p:txBody>
      </p:sp>
      <p:pic>
        <p:nvPicPr>
          <p:cNvPr id="9" name="Grafik 8"/>
          <p:cNvPicPr>
            <a:picLocks noChangeAspect="1"/>
          </p:cNvPicPr>
          <p:nvPr/>
        </p:nvPicPr>
        <p:blipFill>
          <a:blip r:embed="rId2"/>
          <a:stretch/>
        </p:blipFill>
        <p:spPr bwMode="auto">
          <a:xfrm>
            <a:off x="3158737" y="432393"/>
            <a:ext cx="3596621" cy="117581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2C58AE6-F93E-4D3B-A33A-0C538991B94B}"/>
              </a:ext>
            </a:extLst>
          </p:cNvPr>
          <p:cNvSpPr>
            <a:spLocks noGrp="1"/>
          </p:cNvSpPr>
          <p:nvPr>
            <p:ph type="title"/>
          </p:nvPr>
        </p:nvSpPr>
        <p:spPr/>
        <p:txBody>
          <a:bodyPr/>
          <a:lstStyle/>
          <a:p>
            <a:r>
              <a:rPr lang="de-DE" dirty="0" err="1"/>
              <a:t>Getting</a:t>
            </a:r>
            <a:r>
              <a:rPr lang="de-DE" dirty="0"/>
              <a:t> </a:t>
            </a:r>
            <a:r>
              <a:rPr lang="de-DE" dirty="0" err="1"/>
              <a:t>Started</a:t>
            </a:r>
            <a:endParaRPr lang="de-DE" dirty="0"/>
          </a:p>
        </p:txBody>
      </p:sp>
      <p:sp>
        <p:nvSpPr>
          <p:cNvPr id="3" name="Textplatzhalter 2">
            <a:extLst>
              <a:ext uri="{FF2B5EF4-FFF2-40B4-BE49-F238E27FC236}">
                <a16:creationId xmlns:a16="http://schemas.microsoft.com/office/drawing/2014/main" id="{85D23F7A-2D4C-43A5-A0FA-8BE969C5B87E}"/>
              </a:ext>
            </a:extLst>
          </p:cNvPr>
          <p:cNvSpPr>
            <a:spLocks noGrp="1"/>
          </p:cNvSpPr>
          <p:nvPr>
            <p:ph type="body" sz="quarter" idx="11"/>
          </p:nvPr>
        </p:nvSpPr>
        <p:spPr/>
        <p:txBody>
          <a:bodyPr/>
          <a:lstStyle/>
          <a:p>
            <a:r>
              <a:rPr lang="de-DE" dirty="0"/>
              <a:t>Open </a:t>
            </a:r>
            <a:r>
              <a:rPr lang="de-DE" dirty="0" err="1"/>
              <a:t>the</a:t>
            </a:r>
            <a:r>
              <a:rPr lang="de-DE" dirty="0"/>
              <a:t> </a:t>
            </a:r>
            <a:r>
              <a:rPr lang="de-DE" dirty="0" err="1"/>
              <a:t>ADOxx</a:t>
            </a:r>
            <a:r>
              <a:rPr lang="de-DE" dirty="0"/>
              <a:t> Modeling Toolkit and </a:t>
            </a:r>
            <a:r>
              <a:rPr lang="de-DE" dirty="0" err="1"/>
              <a:t>login</a:t>
            </a:r>
            <a:r>
              <a:rPr lang="de-DE" dirty="0"/>
              <a:t> </a:t>
            </a:r>
            <a:r>
              <a:rPr lang="de-DE" dirty="0" err="1"/>
              <a:t>using</a:t>
            </a:r>
            <a:r>
              <a:rPr lang="de-DE" dirty="0"/>
              <a:t> </a:t>
            </a:r>
            <a:r>
              <a:rPr lang="de-DE" dirty="0" err="1"/>
              <a:t>the</a:t>
            </a:r>
            <a:r>
              <a:rPr lang="de-DE" dirty="0"/>
              <a:t> </a:t>
            </a:r>
            <a:r>
              <a:rPr lang="de-DE" dirty="0" err="1"/>
              <a:t>credentials</a:t>
            </a:r>
            <a:r>
              <a:rPr lang="de-DE" dirty="0"/>
              <a:t> </a:t>
            </a:r>
            <a:r>
              <a:rPr lang="de-DE" dirty="0" err="1"/>
              <a:t>you</a:t>
            </a:r>
            <a:r>
              <a:rPr lang="de-DE" dirty="0"/>
              <a:t> </a:t>
            </a:r>
            <a:r>
              <a:rPr lang="de-DE" dirty="0" err="1"/>
              <a:t>set</a:t>
            </a:r>
            <a:r>
              <a:rPr lang="de-DE" dirty="0"/>
              <a:t> </a:t>
            </a:r>
            <a:r>
              <a:rPr lang="de-DE" dirty="0" err="1"/>
              <a:t>for</a:t>
            </a:r>
            <a:r>
              <a:rPr lang="de-DE" dirty="0"/>
              <a:t> </a:t>
            </a:r>
            <a:r>
              <a:rPr lang="de-DE" dirty="0" err="1"/>
              <a:t>your</a:t>
            </a:r>
            <a:r>
              <a:rPr lang="de-DE" dirty="0"/>
              <a:t> </a:t>
            </a:r>
            <a:r>
              <a:rPr lang="de-DE" dirty="0" err="1"/>
              <a:t>user</a:t>
            </a:r>
            <a:r>
              <a:rPr lang="de-DE" dirty="0"/>
              <a:t>.</a:t>
            </a:r>
          </a:p>
          <a:p>
            <a:endParaRPr lang="de-DE" dirty="0"/>
          </a:p>
          <a:p>
            <a:r>
              <a:rPr lang="de-DE" i="1" dirty="0"/>
              <a:t>(</a:t>
            </a:r>
            <a:r>
              <a:rPr lang="de-DE" i="1" dirty="0" err="1"/>
              <a:t>Refer</a:t>
            </a:r>
            <a:r>
              <a:rPr lang="de-DE" i="1" dirty="0"/>
              <a:t> </a:t>
            </a:r>
            <a:r>
              <a:rPr lang="de-DE" i="1" dirty="0" err="1"/>
              <a:t>to</a:t>
            </a:r>
            <a:r>
              <a:rPr lang="de-DE" i="1" dirty="0"/>
              <a:t> DECIDE </a:t>
            </a:r>
            <a:r>
              <a:rPr lang="de-DE" i="1" dirty="0" err="1"/>
              <a:t>ADOxx</a:t>
            </a:r>
            <a:br>
              <a:rPr lang="de-DE" i="1" dirty="0"/>
            </a:br>
            <a:r>
              <a:rPr lang="de-DE" i="1" dirty="0"/>
              <a:t>– </a:t>
            </a:r>
            <a:r>
              <a:rPr lang="de-DE" i="1" dirty="0" err="1"/>
              <a:t>HowTo</a:t>
            </a:r>
            <a:r>
              <a:rPr lang="de-DE" i="1" dirty="0"/>
              <a:t> Installation)</a:t>
            </a:r>
          </a:p>
        </p:txBody>
      </p:sp>
      <p:pic>
        <p:nvPicPr>
          <p:cNvPr id="6" name="Grafik 5">
            <a:extLst>
              <a:ext uri="{FF2B5EF4-FFF2-40B4-BE49-F238E27FC236}">
                <a16:creationId xmlns:a16="http://schemas.microsoft.com/office/drawing/2014/main" id="{ADAD9C84-BDCC-43B6-A3F3-C6D362FB79B9}"/>
              </a:ext>
            </a:extLst>
          </p:cNvPr>
          <p:cNvPicPr>
            <a:picLocks noChangeAspect="1"/>
          </p:cNvPicPr>
          <p:nvPr/>
        </p:nvPicPr>
        <p:blipFill>
          <a:blip r:embed="rId2"/>
          <a:stretch>
            <a:fillRect/>
          </a:stretch>
        </p:blipFill>
        <p:spPr>
          <a:xfrm>
            <a:off x="6826064" y="1595437"/>
            <a:ext cx="4438650" cy="3667125"/>
          </a:xfrm>
          <a:prstGeom prst="rect">
            <a:avLst/>
          </a:prstGeom>
        </p:spPr>
      </p:pic>
    </p:spTree>
    <p:extLst>
      <p:ext uri="{BB962C8B-B14F-4D97-AF65-F5344CB8AC3E}">
        <p14:creationId xmlns:p14="http://schemas.microsoft.com/office/powerpoint/2010/main" val="33464088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672AEF6-2383-49A3-9AE6-E666A6620653}"/>
              </a:ext>
            </a:extLst>
          </p:cNvPr>
          <p:cNvSpPr>
            <a:spLocks noGrp="1"/>
          </p:cNvSpPr>
          <p:nvPr>
            <p:ph type="title"/>
          </p:nvPr>
        </p:nvSpPr>
        <p:spPr/>
        <p:txBody>
          <a:bodyPr/>
          <a:lstStyle/>
          <a:p>
            <a:r>
              <a:rPr lang="de-DE" dirty="0" err="1"/>
              <a:t>Getting</a:t>
            </a:r>
            <a:r>
              <a:rPr lang="de-DE" dirty="0"/>
              <a:t> </a:t>
            </a:r>
            <a:r>
              <a:rPr lang="de-DE" dirty="0" err="1"/>
              <a:t>Started</a:t>
            </a:r>
            <a:endParaRPr lang="de-DE" dirty="0"/>
          </a:p>
        </p:txBody>
      </p:sp>
      <p:sp>
        <p:nvSpPr>
          <p:cNvPr id="3" name="Textplatzhalter 2">
            <a:extLst>
              <a:ext uri="{FF2B5EF4-FFF2-40B4-BE49-F238E27FC236}">
                <a16:creationId xmlns:a16="http://schemas.microsoft.com/office/drawing/2014/main" id="{67C8EDC5-9ADD-4AE2-9032-2C7AF16F557F}"/>
              </a:ext>
            </a:extLst>
          </p:cNvPr>
          <p:cNvSpPr>
            <a:spLocks noGrp="1"/>
          </p:cNvSpPr>
          <p:nvPr>
            <p:ph type="body" sz="quarter" idx="11"/>
          </p:nvPr>
        </p:nvSpPr>
        <p:spPr/>
        <p:txBody>
          <a:bodyPr/>
          <a:lstStyle/>
          <a:p>
            <a:r>
              <a:rPr lang="de-DE" dirty="0"/>
              <a:t>Create a </a:t>
            </a:r>
            <a:r>
              <a:rPr lang="de-DE" dirty="0" err="1"/>
              <a:t>new</a:t>
            </a:r>
            <a:r>
              <a:rPr lang="de-DE" dirty="0"/>
              <a:t> BPMN </a:t>
            </a:r>
            <a:r>
              <a:rPr lang="de-DE" dirty="0" err="1"/>
              <a:t>model</a:t>
            </a:r>
            <a:r>
              <a:rPr lang="de-DE" dirty="0"/>
              <a:t> </a:t>
            </a:r>
            <a:r>
              <a:rPr lang="de-DE" dirty="0" err="1"/>
              <a:t>by</a:t>
            </a:r>
            <a:r>
              <a:rPr lang="de-DE" dirty="0"/>
              <a:t> </a:t>
            </a:r>
            <a:r>
              <a:rPr lang="de-DE" dirty="0" err="1"/>
              <a:t>clicking</a:t>
            </a:r>
            <a:r>
              <a:rPr lang="de-DE" dirty="0"/>
              <a:t> „Model“ in </a:t>
            </a:r>
            <a:r>
              <a:rPr lang="de-DE" dirty="0" err="1"/>
              <a:t>the</a:t>
            </a:r>
            <a:r>
              <a:rPr lang="de-DE" dirty="0"/>
              <a:t> top </a:t>
            </a:r>
            <a:r>
              <a:rPr lang="de-DE" dirty="0" err="1"/>
              <a:t>left</a:t>
            </a:r>
            <a:r>
              <a:rPr lang="de-DE" dirty="0"/>
              <a:t> </a:t>
            </a:r>
            <a:r>
              <a:rPr lang="de-DE" dirty="0" err="1"/>
              <a:t>corner</a:t>
            </a:r>
            <a:r>
              <a:rPr lang="de-DE" dirty="0"/>
              <a:t>.</a:t>
            </a:r>
          </a:p>
          <a:p>
            <a:r>
              <a:rPr lang="de-DE" dirty="0"/>
              <a:t>Select „New“, </a:t>
            </a:r>
            <a:r>
              <a:rPr lang="de-DE" dirty="0" err="1"/>
              <a:t>chose</a:t>
            </a:r>
            <a:r>
              <a:rPr lang="de-DE" dirty="0"/>
              <a:t> „Business </a:t>
            </a:r>
            <a:r>
              <a:rPr lang="de-DE" dirty="0" err="1"/>
              <a:t>Process</a:t>
            </a:r>
            <a:r>
              <a:rPr lang="de-DE" dirty="0"/>
              <a:t> </a:t>
            </a:r>
            <a:r>
              <a:rPr lang="de-DE" dirty="0" err="1"/>
              <a:t>Diagram</a:t>
            </a:r>
            <a:r>
              <a:rPr lang="de-DE" dirty="0"/>
              <a:t> (BPMN 2.0)“ </a:t>
            </a:r>
            <a:r>
              <a:rPr lang="de-DE" dirty="0" err="1"/>
              <a:t>as</a:t>
            </a:r>
            <a:r>
              <a:rPr lang="de-DE" dirty="0"/>
              <a:t> </a:t>
            </a:r>
            <a:r>
              <a:rPr lang="de-DE" dirty="0" err="1"/>
              <a:t>the</a:t>
            </a:r>
            <a:r>
              <a:rPr lang="de-DE" dirty="0"/>
              <a:t> </a:t>
            </a:r>
            <a:r>
              <a:rPr lang="de-DE" dirty="0" err="1"/>
              <a:t>model</a:t>
            </a:r>
            <a:r>
              <a:rPr lang="de-DE" dirty="0"/>
              <a:t> type and </a:t>
            </a:r>
            <a:r>
              <a:rPr lang="de-DE" dirty="0" err="1"/>
              <a:t>select</a:t>
            </a:r>
            <a:r>
              <a:rPr lang="de-DE" dirty="0"/>
              <a:t> a </a:t>
            </a:r>
            <a:r>
              <a:rPr lang="de-DE" dirty="0" err="1"/>
              <a:t>fitting</a:t>
            </a:r>
            <a:r>
              <a:rPr lang="de-DE" dirty="0"/>
              <a:t> </a:t>
            </a:r>
            <a:r>
              <a:rPr lang="de-DE" dirty="0" err="1"/>
              <a:t>name</a:t>
            </a:r>
            <a:r>
              <a:rPr lang="de-DE" dirty="0"/>
              <a:t>.</a:t>
            </a:r>
          </a:p>
        </p:txBody>
      </p:sp>
      <p:grpSp>
        <p:nvGrpSpPr>
          <p:cNvPr id="10" name="Gruppieren 9">
            <a:extLst>
              <a:ext uri="{FF2B5EF4-FFF2-40B4-BE49-F238E27FC236}">
                <a16:creationId xmlns:a16="http://schemas.microsoft.com/office/drawing/2014/main" id="{C7387700-F1AA-4765-8611-7ADE80E565E1}"/>
              </a:ext>
            </a:extLst>
          </p:cNvPr>
          <p:cNvGrpSpPr/>
          <p:nvPr/>
        </p:nvGrpSpPr>
        <p:grpSpPr>
          <a:xfrm>
            <a:off x="6230777" y="1164128"/>
            <a:ext cx="2124329" cy="2880635"/>
            <a:chOff x="6741766" y="582903"/>
            <a:chExt cx="2124329" cy="2880635"/>
          </a:xfrm>
        </p:grpSpPr>
        <p:pic>
          <p:nvPicPr>
            <p:cNvPr id="6" name="Grafik 5">
              <a:extLst>
                <a:ext uri="{FF2B5EF4-FFF2-40B4-BE49-F238E27FC236}">
                  <a16:creationId xmlns:a16="http://schemas.microsoft.com/office/drawing/2014/main" id="{CE603E55-2995-46E7-AA34-3A485F9C0A3A}"/>
                </a:ext>
              </a:extLst>
            </p:cNvPr>
            <p:cNvPicPr>
              <a:picLocks noChangeAspect="1"/>
            </p:cNvPicPr>
            <p:nvPr/>
          </p:nvPicPr>
          <p:blipFill>
            <a:blip r:embed="rId2"/>
            <a:stretch>
              <a:fillRect/>
            </a:stretch>
          </p:blipFill>
          <p:spPr>
            <a:xfrm>
              <a:off x="6741766" y="582903"/>
              <a:ext cx="2124329" cy="2880635"/>
            </a:xfrm>
            <a:prstGeom prst="rect">
              <a:avLst/>
            </a:prstGeom>
          </p:spPr>
        </p:pic>
        <p:sp>
          <p:nvSpPr>
            <p:cNvPr id="7" name="Ellipse 6">
              <a:extLst>
                <a:ext uri="{FF2B5EF4-FFF2-40B4-BE49-F238E27FC236}">
                  <a16:creationId xmlns:a16="http://schemas.microsoft.com/office/drawing/2014/main" id="{9694459E-6D3E-4C00-B37D-488365C0B00B}"/>
                </a:ext>
              </a:extLst>
            </p:cNvPr>
            <p:cNvSpPr/>
            <p:nvPr/>
          </p:nvSpPr>
          <p:spPr>
            <a:xfrm>
              <a:off x="6741767" y="688023"/>
              <a:ext cx="706306" cy="397725"/>
            </a:xfrm>
            <a:prstGeom prst="ellipse">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grpSp>
      <p:pic>
        <p:nvPicPr>
          <p:cNvPr id="9" name="Grafik 8">
            <a:extLst>
              <a:ext uri="{FF2B5EF4-FFF2-40B4-BE49-F238E27FC236}">
                <a16:creationId xmlns:a16="http://schemas.microsoft.com/office/drawing/2014/main" id="{192D553B-467E-443C-9DA4-52B33FDB5B43}"/>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811544" y="3131624"/>
            <a:ext cx="5042597" cy="1826278"/>
          </a:xfrm>
          <a:prstGeom prst="rect">
            <a:avLst/>
          </a:prstGeom>
          <a:effectLst>
            <a:outerShdw blurRad="50800" dist="38100" dir="8100000" algn="tr" rotWithShape="0">
              <a:prstClr val="black">
                <a:alpha val="40000"/>
              </a:prstClr>
            </a:outerShdw>
          </a:effectLst>
        </p:spPr>
      </p:pic>
    </p:spTree>
    <p:extLst>
      <p:ext uri="{BB962C8B-B14F-4D97-AF65-F5344CB8AC3E}">
        <p14:creationId xmlns:p14="http://schemas.microsoft.com/office/powerpoint/2010/main" val="18448588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7423936-55E0-4A89-8C3E-66E5DCB50267}"/>
              </a:ext>
            </a:extLst>
          </p:cNvPr>
          <p:cNvSpPr>
            <a:spLocks noGrp="1"/>
          </p:cNvSpPr>
          <p:nvPr>
            <p:ph type="title"/>
          </p:nvPr>
        </p:nvSpPr>
        <p:spPr/>
        <p:txBody>
          <a:bodyPr/>
          <a:lstStyle/>
          <a:p>
            <a:r>
              <a:rPr lang="de-DE" dirty="0"/>
              <a:t>Modeling BPMN</a:t>
            </a:r>
          </a:p>
        </p:txBody>
      </p:sp>
      <p:sp>
        <p:nvSpPr>
          <p:cNvPr id="3" name="Textplatzhalter 2">
            <a:extLst>
              <a:ext uri="{FF2B5EF4-FFF2-40B4-BE49-F238E27FC236}">
                <a16:creationId xmlns:a16="http://schemas.microsoft.com/office/drawing/2014/main" id="{55154A33-F8B2-430A-9A1B-80CCC839E830}"/>
              </a:ext>
            </a:extLst>
          </p:cNvPr>
          <p:cNvSpPr>
            <a:spLocks noGrp="1"/>
          </p:cNvSpPr>
          <p:nvPr>
            <p:ph type="body" sz="quarter" idx="11"/>
          </p:nvPr>
        </p:nvSpPr>
        <p:spPr/>
        <p:txBody>
          <a:bodyPr/>
          <a:lstStyle/>
          <a:p>
            <a:r>
              <a:rPr lang="de-DE" dirty="0" err="1"/>
              <a:t>You</a:t>
            </a:r>
            <a:r>
              <a:rPr lang="de-DE" dirty="0"/>
              <a:t> </a:t>
            </a:r>
            <a:r>
              <a:rPr lang="de-DE" dirty="0" err="1"/>
              <a:t>can</a:t>
            </a:r>
            <a:r>
              <a:rPr lang="de-DE" dirty="0"/>
              <a:t> find all BPMN 2.0 </a:t>
            </a:r>
            <a:r>
              <a:rPr lang="de-DE" dirty="0" err="1"/>
              <a:t>elements</a:t>
            </a:r>
            <a:r>
              <a:rPr lang="de-DE" dirty="0"/>
              <a:t> in </a:t>
            </a:r>
            <a:r>
              <a:rPr lang="de-DE" dirty="0" err="1"/>
              <a:t>the</a:t>
            </a:r>
            <a:r>
              <a:rPr lang="de-DE" dirty="0"/>
              <a:t> </a:t>
            </a:r>
            <a:r>
              <a:rPr lang="de-DE" dirty="0" err="1"/>
              <a:t>hotbar</a:t>
            </a:r>
            <a:r>
              <a:rPr lang="de-DE" dirty="0"/>
              <a:t> on </a:t>
            </a:r>
            <a:r>
              <a:rPr lang="de-DE" dirty="0" err="1"/>
              <a:t>left</a:t>
            </a:r>
            <a:r>
              <a:rPr lang="de-DE" dirty="0"/>
              <a:t> </a:t>
            </a:r>
            <a:r>
              <a:rPr lang="de-DE" dirty="0" err="1"/>
              <a:t>side</a:t>
            </a:r>
            <a:r>
              <a:rPr lang="de-DE" dirty="0"/>
              <a:t> </a:t>
            </a:r>
            <a:r>
              <a:rPr lang="de-DE" dirty="0" err="1"/>
              <a:t>of</a:t>
            </a:r>
            <a:r>
              <a:rPr lang="de-DE" dirty="0"/>
              <a:t> </a:t>
            </a:r>
            <a:r>
              <a:rPr lang="de-DE" dirty="0" err="1"/>
              <a:t>the</a:t>
            </a:r>
            <a:r>
              <a:rPr lang="de-DE" dirty="0"/>
              <a:t> </a:t>
            </a:r>
            <a:r>
              <a:rPr lang="de-DE" dirty="0" err="1"/>
              <a:t>model</a:t>
            </a:r>
            <a:r>
              <a:rPr lang="de-DE" dirty="0"/>
              <a:t> </a:t>
            </a:r>
            <a:r>
              <a:rPr lang="de-DE" dirty="0" err="1"/>
              <a:t>page</a:t>
            </a:r>
            <a:r>
              <a:rPr lang="de-DE" dirty="0"/>
              <a:t>.</a:t>
            </a:r>
          </a:p>
          <a:p>
            <a:r>
              <a:rPr lang="de-DE" dirty="0"/>
              <a:t>The </a:t>
            </a:r>
            <a:r>
              <a:rPr lang="de-DE" dirty="0" err="1"/>
              <a:t>ADOxx</a:t>
            </a:r>
            <a:r>
              <a:rPr lang="de-DE" dirty="0"/>
              <a:t> </a:t>
            </a:r>
            <a:r>
              <a:rPr lang="de-DE" dirty="0" err="1"/>
              <a:t>implementation</a:t>
            </a:r>
            <a:r>
              <a:rPr lang="de-DE" dirty="0"/>
              <a:t> </a:t>
            </a:r>
            <a:r>
              <a:rPr lang="de-DE" dirty="0" err="1"/>
              <a:t>of</a:t>
            </a:r>
            <a:r>
              <a:rPr lang="de-DE" dirty="0"/>
              <a:t> BPMN </a:t>
            </a:r>
            <a:r>
              <a:rPr lang="de-DE" dirty="0" err="1"/>
              <a:t>works</a:t>
            </a:r>
            <a:r>
              <a:rPr lang="de-DE" dirty="0"/>
              <a:t> in </a:t>
            </a:r>
            <a:r>
              <a:rPr lang="de-DE" dirty="0" err="1"/>
              <a:t>accordance</a:t>
            </a:r>
            <a:r>
              <a:rPr lang="de-DE" dirty="0"/>
              <a:t> </a:t>
            </a:r>
            <a:r>
              <a:rPr lang="de-DE" dirty="0" err="1"/>
              <a:t>with</a:t>
            </a:r>
            <a:r>
              <a:rPr lang="de-DE" dirty="0"/>
              <a:t> </a:t>
            </a:r>
            <a:r>
              <a:rPr lang="de-DE" dirty="0" err="1"/>
              <a:t>the</a:t>
            </a:r>
            <a:r>
              <a:rPr lang="de-DE" dirty="0"/>
              <a:t> </a:t>
            </a:r>
            <a:r>
              <a:rPr lang="de-DE" dirty="0" err="1"/>
              <a:t>official</a:t>
            </a:r>
            <a:r>
              <a:rPr lang="de-DE" dirty="0"/>
              <a:t> OMG </a:t>
            </a:r>
            <a:r>
              <a:rPr lang="de-DE" dirty="0" err="1"/>
              <a:t>specification</a:t>
            </a:r>
            <a:r>
              <a:rPr lang="de-DE" dirty="0"/>
              <a:t>.</a:t>
            </a:r>
          </a:p>
          <a:p>
            <a:r>
              <a:rPr lang="de-DE" dirty="0"/>
              <a:t>(Further </a:t>
            </a:r>
            <a:r>
              <a:rPr lang="de-DE" dirty="0" err="1"/>
              <a:t>information</a:t>
            </a:r>
            <a:r>
              <a:rPr lang="de-DE" dirty="0"/>
              <a:t>: </a:t>
            </a:r>
            <a:r>
              <a:rPr lang="de-DE" dirty="0">
                <a:hlinkClick r:id="rId2"/>
              </a:rPr>
              <a:t>OMG</a:t>
            </a:r>
            <a:r>
              <a:rPr lang="de-DE" dirty="0"/>
              <a:t>)</a:t>
            </a:r>
          </a:p>
        </p:txBody>
      </p:sp>
      <p:pic>
        <p:nvPicPr>
          <p:cNvPr id="8" name="Grafik 7">
            <a:extLst>
              <a:ext uri="{FF2B5EF4-FFF2-40B4-BE49-F238E27FC236}">
                <a16:creationId xmlns:a16="http://schemas.microsoft.com/office/drawing/2014/main" id="{D74C6D39-4BCE-4E71-B189-2DAA63562140}"/>
              </a:ext>
            </a:extLst>
          </p:cNvPr>
          <p:cNvPicPr>
            <a:picLocks noChangeAspect="1"/>
          </p:cNvPicPr>
          <p:nvPr/>
        </p:nvPicPr>
        <p:blipFill rotWithShape="1">
          <a:blip r:embed="rId3"/>
          <a:srcRect r="47205"/>
          <a:stretch/>
        </p:blipFill>
        <p:spPr>
          <a:xfrm>
            <a:off x="6434669" y="0"/>
            <a:ext cx="5217459" cy="6858374"/>
          </a:xfrm>
          <a:prstGeom prst="rect">
            <a:avLst/>
          </a:prstGeom>
        </p:spPr>
      </p:pic>
    </p:spTree>
    <p:extLst>
      <p:ext uri="{BB962C8B-B14F-4D97-AF65-F5344CB8AC3E}">
        <p14:creationId xmlns:p14="http://schemas.microsoft.com/office/powerpoint/2010/main" val="37507867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4B5C892-17D3-4777-850E-7D357F8B18C3}"/>
              </a:ext>
            </a:extLst>
          </p:cNvPr>
          <p:cNvSpPr>
            <a:spLocks noGrp="1"/>
          </p:cNvSpPr>
          <p:nvPr>
            <p:ph type="title"/>
          </p:nvPr>
        </p:nvSpPr>
        <p:spPr/>
        <p:txBody>
          <a:bodyPr/>
          <a:lstStyle/>
          <a:p>
            <a:r>
              <a:rPr lang="de-DE" dirty="0"/>
              <a:t>Modeling BPMN</a:t>
            </a:r>
          </a:p>
        </p:txBody>
      </p:sp>
      <p:sp>
        <p:nvSpPr>
          <p:cNvPr id="3" name="Textplatzhalter 2">
            <a:extLst>
              <a:ext uri="{FF2B5EF4-FFF2-40B4-BE49-F238E27FC236}">
                <a16:creationId xmlns:a16="http://schemas.microsoft.com/office/drawing/2014/main" id="{A71748E9-0B80-4935-A3BE-3CA5027540DA}"/>
              </a:ext>
            </a:extLst>
          </p:cNvPr>
          <p:cNvSpPr>
            <a:spLocks noGrp="1"/>
          </p:cNvSpPr>
          <p:nvPr>
            <p:ph type="body" sz="quarter" idx="11"/>
          </p:nvPr>
        </p:nvSpPr>
        <p:spPr/>
        <p:txBody>
          <a:bodyPr/>
          <a:lstStyle/>
          <a:p>
            <a:r>
              <a:rPr lang="de-DE" dirty="0"/>
              <a:t>By </a:t>
            </a:r>
            <a:r>
              <a:rPr lang="de-DE" dirty="0" err="1"/>
              <a:t>left-clicking</a:t>
            </a:r>
            <a:r>
              <a:rPr lang="de-DE" dirty="0"/>
              <a:t> on </a:t>
            </a:r>
            <a:r>
              <a:rPr lang="de-DE" dirty="0" err="1"/>
              <a:t>any</a:t>
            </a:r>
            <a:r>
              <a:rPr lang="de-DE" dirty="0"/>
              <a:t> </a:t>
            </a:r>
            <a:r>
              <a:rPr lang="de-DE" dirty="0" err="1"/>
              <a:t>element</a:t>
            </a:r>
            <a:r>
              <a:rPr lang="de-DE" dirty="0"/>
              <a:t> and </a:t>
            </a:r>
            <a:r>
              <a:rPr lang="de-DE" dirty="0" err="1"/>
              <a:t>then</a:t>
            </a:r>
            <a:r>
              <a:rPr lang="de-DE" dirty="0"/>
              <a:t> </a:t>
            </a:r>
            <a:r>
              <a:rPr lang="de-DE" dirty="0" err="1"/>
              <a:t>left-clicking</a:t>
            </a:r>
            <a:r>
              <a:rPr lang="de-DE" dirty="0"/>
              <a:t> on </a:t>
            </a:r>
            <a:r>
              <a:rPr lang="de-DE" dirty="0" err="1"/>
              <a:t>the</a:t>
            </a:r>
            <a:r>
              <a:rPr lang="de-DE" dirty="0"/>
              <a:t> </a:t>
            </a:r>
            <a:r>
              <a:rPr lang="de-DE" dirty="0" err="1"/>
              <a:t>desired</a:t>
            </a:r>
            <a:r>
              <a:rPr lang="de-DE" dirty="0"/>
              <a:t> </a:t>
            </a:r>
            <a:r>
              <a:rPr lang="de-DE" dirty="0" err="1"/>
              <a:t>position</a:t>
            </a:r>
            <a:r>
              <a:rPr lang="de-DE" dirty="0"/>
              <a:t> </a:t>
            </a:r>
            <a:r>
              <a:rPr lang="de-DE" dirty="0" err="1"/>
              <a:t>indicated</a:t>
            </a:r>
            <a:r>
              <a:rPr lang="de-DE" dirty="0"/>
              <a:t> </a:t>
            </a:r>
            <a:r>
              <a:rPr lang="de-DE" dirty="0" err="1"/>
              <a:t>by</a:t>
            </a:r>
            <a:r>
              <a:rPr lang="de-DE" dirty="0"/>
              <a:t> </a:t>
            </a:r>
            <a:r>
              <a:rPr lang="de-DE" dirty="0" err="1"/>
              <a:t>the</a:t>
            </a:r>
            <a:r>
              <a:rPr lang="de-DE" dirty="0"/>
              <a:t> </a:t>
            </a:r>
            <a:r>
              <a:rPr lang="de-DE" dirty="0" err="1"/>
              <a:t>pencil</a:t>
            </a:r>
            <a:r>
              <a:rPr lang="de-DE" dirty="0"/>
              <a:t>, </a:t>
            </a:r>
            <a:r>
              <a:rPr lang="de-DE" dirty="0" err="1"/>
              <a:t>we</a:t>
            </a:r>
            <a:r>
              <a:rPr lang="de-DE" dirty="0"/>
              <a:t> </a:t>
            </a:r>
            <a:r>
              <a:rPr lang="de-DE" dirty="0" err="1"/>
              <a:t>can</a:t>
            </a:r>
            <a:r>
              <a:rPr lang="de-DE" dirty="0"/>
              <a:t> </a:t>
            </a:r>
            <a:r>
              <a:rPr lang="de-DE" dirty="0" err="1"/>
              <a:t>draw</a:t>
            </a:r>
            <a:r>
              <a:rPr lang="de-DE" dirty="0"/>
              <a:t> </a:t>
            </a:r>
            <a:r>
              <a:rPr lang="de-DE" dirty="0" err="1"/>
              <a:t>the</a:t>
            </a:r>
            <a:r>
              <a:rPr lang="de-DE" dirty="0"/>
              <a:t> </a:t>
            </a:r>
            <a:r>
              <a:rPr lang="de-DE" dirty="0" err="1"/>
              <a:t>modeling</a:t>
            </a:r>
            <a:r>
              <a:rPr lang="de-DE" dirty="0"/>
              <a:t> </a:t>
            </a:r>
            <a:r>
              <a:rPr lang="de-DE" dirty="0" err="1"/>
              <a:t>elements</a:t>
            </a:r>
            <a:r>
              <a:rPr lang="de-DE" dirty="0"/>
              <a:t>.</a:t>
            </a:r>
          </a:p>
          <a:p>
            <a:r>
              <a:rPr lang="de-DE" dirty="0"/>
              <a:t>Arrows </a:t>
            </a:r>
            <a:r>
              <a:rPr lang="de-DE" dirty="0" err="1"/>
              <a:t>can</a:t>
            </a:r>
            <a:r>
              <a:rPr lang="de-DE" dirty="0"/>
              <a:t> </a:t>
            </a:r>
            <a:r>
              <a:rPr lang="de-DE" dirty="0" err="1"/>
              <a:t>be</a:t>
            </a:r>
            <a:r>
              <a:rPr lang="de-DE" dirty="0"/>
              <a:t> </a:t>
            </a:r>
            <a:r>
              <a:rPr lang="de-DE" dirty="0" err="1"/>
              <a:t>drawn</a:t>
            </a:r>
            <a:r>
              <a:rPr lang="de-DE" dirty="0"/>
              <a:t> </a:t>
            </a:r>
            <a:r>
              <a:rPr lang="de-DE" dirty="0" err="1"/>
              <a:t>by</a:t>
            </a:r>
            <a:r>
              <a:rPr lang="de-DE" dirty="0"/>
              <a:t> </a:t>
            </a:r>
            <a:r>
              <a:rPr lang="de-DE" dirty="0" err="1"/>
              <a:t>left-clicking</a:t>
            </a:r>
            <a:r>
              <a:rPr lang="de-DE" dirty="0"/>
              <a:t> </a:t>
            </a:r>
            <a:r>
              <a:rPr lang="de-DE" dirty="0" err="1"/>
              <a:t>the</a:t>
            </a:r>
            <a:r>
              <a:rPr lang="de-DE" dirty="0"/>
              <a:t> </a:t>
            </a:r>
            <a:r>
              <a:rPr lang="de-DE" dirty="0" err="1"/>
              <a:t>starting</a:t>
            </a:r>
            <a:r>
              <a:rPr lang="de-DE" dirty="0"/>
              <a:t> </a:t>
            </a:r>
            <a:r>
              <a:rPr lang="de-DE" dirty="0" err="1"/>
              <a:t>element</a:t>
            </a:r>
            <a:r>
              <a:rPr lang="de-DE" dirty="0"/>
              <a:t> and </a:t>
            </a:r>
            <a:r>
              <a:rPr lang="de-DE" dirty="0" err="1"/>
              <a:t>dragging</a:t>
            </a:r>
            <a:r>
              <a:rPr lang="de-DE" dirty="0"/>
              <a:t> </a:t>
            </a:r>
            <a:r>
              <a:rPr lang="de-DE" dirty="0" err="1"/>
              <a:t>the</a:t>
            </a:r>
            <a:r>
              <a:rPr lang="de-DE" dirty="0"/>
              <a:t> </a:t>
            </a:r>
            <a:r>
              <a:rPr lang="de-DE" dirty="0" err="1"/>
              <a:t>arrow</a:t>
            </a:r>
            <a:r>
              <a:rPr lang="de-DE" dirty="0"/>
              <a:t> </a:t>
            </a:r>
            <a:r>
              <a:rPr lang="de-DE" dirty="0" err="1"/>
              <a:t>the</a:t>
            </a:r>
            <a:r>
              <a:rPr lang="de-DE" dirty="0"/>
              <a:t> </a:t>
            </a:r>
            <a:r>
              <a:rPr lang="de-DE" dirty="0" err="1"/>
              <a:t>the</a:t>
            </a:r>
            <a:r>
              <a:rPr lang="de-DE" dirty="0"/>
              <a:t> </a:t>
            </a:r>
            <a:r>
              <a:rPr lang="de-DE" dirty="0" err="1"/>
              <a:t>ending</a:t>
            </a:r>
            <a:r>
              <a:rPr lang="de-DE" dirty="0"/>
              <a:t> </a:t>
            </a:r>
            <a:r>
              <a:rPr lang="de-DE" dirty="0" err="1"/>
              <a:t>element</a:t>
            </a:r>
            <a:r>
              <a:rPr lang="de-DE" dirty="0"/>
              <a:t>.</a:t>
            </a:r>
          </a:p>
          <a:p>
            <a:r>
              <a:rPr lang="de-DE" dirty="0"/>
              <a:t>Pressing ESC will </a:t>
            </a:r>
            <a:r>
              <a:rPr lang="de-DE" dirty="0" err="1"/>
              <a:t>cancel</a:t>
            </a:r>
            <a:r>
              <a:rPr lang="de-DE" dirty="0"/>
              <a:t> </a:t>
            </a:r>
            <a:r>
              <a:rPr lang="de-DE" dirty="0" err="1"/>
              <a:t>the</a:t>
            </a:r>
            <a:r>
              <a:rPr lang="de-DE" dirty="0"/>
              <a:t> </a:t>
            </a:r>
            <a:r>
              <a:rPr lang="de-DE" dirty="0" err="1"/>
              <a:t>selection</a:t>
            </a:r>
            <a:r>
              <a:rPr lang="de-DE" dirty="0"/>
              <a:t> and </a:t>
            </a:r>
            <a:r>
              <a:rPr lang="de-DE" dirty="0" err="1"/>
              <a:t>stop</a:t>
            </a:r>
            <a:r>
              <a:rPr lang="de-DE" dirty="0"/>
              <a:t> </a:t>
            </a:r>
            <a:r>
              <a:rPr lang="de-DE" dirty="0" err="1"/>
              <a:t>creating</a:t>
            </a:r>
            <a:r>
              <a:rPr lang="de-DE" dirty="0"/>
              <a:t> </a:t>
            </a:r>
            <a:r>
              <a:rPr lang="de-DE" dirty="0" err="1"/>
              <a:t>new</a:t>
            </a:r>
            <a:r>
              <a:rPr lang="de-DE" dirty="0"/>
              <a:t> </a:t>
            </a:r>
            <a:r>
              <a:rPr lang="de-DE" dirty="0" err="1"/>
              <a:t>elements</a:t>
            </a:r>
            <a:r>
              <a:rPr lang="de-DE" dirty="0"/>
              <a:t> on </a:t>
            </a:r>
            <a:r>
              <a:rPr lang="de-DE" dirty="0" err="1"/>
              <a:t>left-click</a:t>
            </a:r>
            <a:r>
              <a:rPr lang="de-DE" dirty="0"/>
              <a:t>.</a:t>
            </a:r>
          </a:p>
        </p:txBody>
      </p:sp>
      <p:pic>
        <p:nvPicPr>
          <p:cNvPr id="8" name="Grafik 7">
            <a:extLst>
              <a:ext uri="{FF2B5EF4-FFF2-40B4-BE49-F238E27FC236}">
                <a16:creationId xmlns:a16="http://schemas.microsoft.com/office/drawing/2014/main" id="{C32653AF-C9A6-4C8F-A8EC-B2E55325AFDE}"/>
              </a:ext>
            </a:extLst>
          </p:cNvPr>
          <p:cNvPicPr>
            <a:picLocks noChangeAspect="1"/>
          </p:cNvPicPr>
          <p:nvPr/>
        </p:nvPicPr>
        <p:blipFill>
          <a:blip r:embed="rId2"/>
          <a:stretch>
            <a:fillRect/>
          </a:stretch>
        </p:blipFill>
        <p:spPr>
          <a:xfrm>
            <a:off x="6434743" y="0"/>
            <a:ext cx="5757257" cy="6858000"/>
          </a:xfrm>
          <a:prstGeom prst="rect">
            <a:avLst/>
          </a:prstGeom>
        </p:spPr>
      </p:pic>
    </p:spTree>
    <p:extLst>
      <p:ext uri="{BB962C8B-B14F-4D97-AF65-F5344CB8AC3E}">
        <p14:creationId xmlns:p14="http://schemas.microsoft.com/office/powerpoint/2010/main" val="16440778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D83D60C-1919-4CD1-85EB-020313A98230}"/>
              </a:ext>
            </a:extLst>
          </p:cNvPr>
          <p:cNvSpPr>
            <a:spLocks noGrp="1"/>
          </p:cNvSpPr>
          <p:nvPr>
            <p:ph type="title"/>
          </p:nvPr>
        </p:nvSpPr>
        <p:spPr/>
        <p:txBody>
          <a:bodyPr/>
          <a:lstStyle/>
          <a:p>
            <a:r>
              <a:rPr lang="de-DE" dirty="0"/>
              <a:t>Modeling BPMN</a:t>
            </a:r>
          </a:p>
        </p:txBody>
      </p:sp>
      <p:sp>
        <p:nvSpPr>
          <p:cNvPr id="3" name="Textplatzhalter 2">
            <a:extLst>
              <a:ext uri="{FF2B5EF4-FFF2-40B4-BE49-F238E27FC236}">
                <a16:creationId xmlns:a16="http://schemas.microsoft.com/office/drawing/2014/main" id="{51ADE842-3878-43AF-B432-41CCBAE83C77}"/>
              </a:ext>
            </a:extLst>
          </p:cNvPr>
          <p:cNvSpPr>
            <a:spLocks noGrp="1"/>
          </p:cNvSpPr>
          <p:nvPr>
            <p:ph type="body" sz="quarter" idx="11"/>
          </p:nvPr>
        </p:nvSpPr>
        <p:spPr/>
        <p:txBody>
          <a:bodyPr/>
          <a:lstStyle/>
          <a:p>
            <a:r>
              <a:rPr lang="de-DE" dirty="0" err="1"/>
              <a:t>You</a:t>
            </a:r>
            <a:r>
              <a:rPr lang="de-DE" dirty="0"/>
              <a:t> </a:t>
            </a:r>
            <a:r>
              <a:rPr lang="de-DE" dirty="0" err="1"/>
              <a:t>can</a:t>
            </a:r>
            <a:r>
              <a:rPr lang="de-DE" dirty="0"/>
              <a:t> </a:t>
            </a:r>
            <a:r>
              <a:rPr lang="de-DE" dirty="0" err="1"/>
              <a:t>change</a:t>
            </a:r>
            <a:r>
              <a:rPr lang="de-DE" dirty="0"/>
              <a:t> </a:t>
            </a:r>
            <a:r>
              <a:rPr lang="de-DE" dirty="0" err="1"/>
              <a:t>the</a:t>
            </a:r>
            <a:r>
              <a:rPr lang="de-DE" dirty="0"/>
              <a:t> </a:t>
            </a:r>
            <a:r>
              <a:rPr lang="de-DE" dirty="0" err="1"/>
              <a:t>name</a:t>
            </a:r>
            <a:r>
              <a:rPr lang="de-DE" dirty="0"/>
              <a:t> </a:t>
            </a:r>
            <a:r>
              <a:rPr lang="de-DE" dirty="0" err="1"/>
              <a:t>by</a:t>
            </a:r>
            <a:r>
              <a:rPr lang="de-DE" dirty="0"/>
              <a:t> double-</a:t>
            </a:r>
            <a:r>
              <a:rPr lang="de-DE" dirty="0" err="1"/>
              <a:t>clicking</a:t>
            </a:r>
            <a:r>
              <a:rPr lang="de-DE" dirty="0"/>
              <a:t> on </a:t>
            </a:r>
            <a:r>
              <a:rPr lang="de-DE" dirty="0" err="1"/>
              <a:t>any</a:t>
            </a:r>
            <a:r>
              <a:rPr lang="de-DE" dirty="0"/>
              <a:t> </a:t>
            </a:r>
            <a:r>
              <a:rPr lang="de-DE" dirty="0" err="1"/>
              <a:t>element</a:t>
            </a:r>
            <a:r>
              <a:rPr lang="de-DE" dirty="0"/>
              <a:t> (</a:t>
            </a:r>
            <a:r>
              <a:rPr lang="de-DE" dirty="0" err="1"/>
              <a:t>including</a:t>
            </a:r>
            <a:r>
              <a:rPr lang="de-DE" dirty="0"/>
              <a:t> </a:t>
            </a:r>
            <a:r>
              <a:rPr lang="de-DE" dirty="0" err="1"/>
              <a:t>arrows</a:t>
            </a:r>
            <a:r>
              <a:rPr lang="de-DE" dirty="0"/>
              <a:t>).</a:t>
            </a:r>
          </a:p>
          <a:p>
            <a:r>
              <a:rPr lang="de-DE" dirty="0" err="1"/>
              <a:t>For</a:t>
            </a:r>
            <a:r>
              <a:rPr lang="de-DE" dirty="0"/>
              <a:t> </a:t>
            </a:r>
            <a:r>
              <a:rPr lang="de-DE" dirty="0" err="1"/>
              <a:t>those</a:t>
            </a:r>
            <a:r>
              <a:rPr lang="de-DE" dirty="0"/>
              <a:t> </a:t>
            </a:r>
            <a:r>
              <a:rPr lang="de-DE" dirty="0" err="1"/>
              <a:t>elements</a:t>
            </a:r>
            <a:r>
              <a:rPr lang="de-DE" dirty="0"/>
              <a:t> </a:t>
            </a:r>
            <a:r>
              <a:rPr lang="de-DE" dirty="0" err="1"/>
              <a:t>that</a:t>
            </a:r>
            <a:r>
              <a:rPr lang="de-DE" dirty="0"/>
              <a:t> </a:t>
            </a:r>
            <a:r>
              <a:rPr lang="de-DE" dirty="0" err="1"/>
              <a:t>don‘t</a:t>
            </a:r>
            <a:r>
              <a:rPr lang="de-DE" dirty="0"/>
              <a:t> </a:t>
            </a:r>
            <a:r>
              <a:rPr lang="de-DE" dirty="0" err="1"/>
              <a:t>naturally</a:t>
            </a:r>
            <a:r>
              <a:rPr lang="de-DE" dirty="0"/>
              <a:t> carry </a:t>
            </a:r>
            <a:r>
              <a:rPr lang="de-DE" dirty="0" err="1"/>
              <a:t>names</a:t>
            </a:r>
            <a:r>
              <a:rPr lang="de-DE" dirty="0"/>
              <a:t>, „Show </a:t>
            </a:r>
            <a:r>
              <a:rPr lang="de-DE" dirty="0" err="1"/>
              <a:t>name</a:t>
            </a:r>
            <a:r>
              <a:rPr lang="de-DE" dirty="0"/>
              <a:t>“ </a:t>
            </a:r>
            <a:r>
              <a:rPr lang="de-DE" dirty="0" err="1"/>
              <a:t>needs</a:t>
            </a:r>
            <a:r>
              <a:rPr lang="de-DE" dirty="0"/>
              <a:t> </a:t>
            </a:r>
            <a:r>
              <a:rPr lang="de-DE" dirty="0" err="1"/>
              <a:t>to</a:t>
            </a:r>
            <a:r>
              <a:rPr lang="de-DE" dirty="0"/>
              <a:t> </a:t>
            </a:r>
            <a:r>
              <a:rPr lang="de-DE" dirty="0" err="1"/>
              <a:t>be</a:t>
            </a:r>
            <a:r>
              <a:rPr lang="de-DE" dirty="0"/>
              <a:t> </a:t>
            </a:r>
            <a:r>
              <a:rPr lang="de-DE" dirty="0" err="1"/>
              <a:t>ticked</a:t>
            </a:r>
            <a:r>
              <a:rPr lang="de-DE" dirty="0"/>
              <a:t> </a:t>
            </a:r>
            <a:r>
              <a:rPr lang="de-DE" dirty="0" err="1"/>
              <a:t>if</a:t>
            </a:r>
            <a:r>
              <a:rPr lang="de-DE" dirty="0"/>
              <a:t> a </a:t>
            </a:r>
            <a:r>
              <a:rPr lang="de-DE" dirty="0" err="1"/>
              <a:t>name</a:t>
            </a:r>
            <a:r>
              <a:rPr lang="de-DE" dirty="0"/>
              <a:t> </a:t>
            </a:r>
            <a:r>
              <a:rPr lang="de-DE" dirty="0" err="1"/>
              <a:t>shall</a:t>
            </a:r>
            <a:r>
              <a:rPr lang="de-DE" dirty="0"/>
              <a:t> </a:t>
            </a:r>
            <a:r>
              <a:rPr lang="de-DE" dirty="0" err="1"/>
              <a:t>be</a:t>
            </a:r>
            <a:r>
              <a:rPr lang="de-DE" dirty="0"/>
              <a:t> </a:t>
            </a:r>
            <a:r>
              <a:rPr lang="de-DE" dirty="0" err="1"/>
              <a:t>shown</a:t>
            </a:r>
            <a:r>
              <a:rPr lang="de-DE" dirty="0"/>
              <a:t>.</a:t>
            </a:r>
          </a:p>
        </p:txBody>
      </p:sp>
      <p:pic>
        <p:nvPicPr>
          <p:cNvPr id="6" name="Grafik 5">
            <a:extLst>
              <a:ext uri="{FF2B5EF4-FFF2-40B4-BE49-F238E27FC236}">
                <a16:creationId xmlns:a16="http://schemas.microsoft.com/office/drawing/2014/main" id="{2B001E83-D5A1-4AD8-912D-89E0CE1891BD}"/>
              </a:ext>
            </a:extLst>
          </p:cNvPr>
          <p:cNvPicPr>
            <a:picLocks noChangeAspect="1"/>
          </p:cNvPicPr>
          <p:nvPr/>
        </p:nvPicPr>
        <p:blipFill>
          <a:blip r:embed="rId2"/>
          <a:stretch>
            <a:fillRect/>
          </a:stretch>
        </p:blipFill>
        <p:spPr>
          <a:xfrm>
            <a:off x="6023642" y="0"/>
            <a:ext cx="6168358" cy="5360894"/>
          </a:xfrm>
          <a:prstGeom prst="rect">
            <a:avLst/>
          </a:prstGeom>
        </p:spPr>
      </p:pic>
      <p:pic>
        <p:nvPicPr>
          <p:cNvPr id="8" name="Grafik 7">
            <a:extLst>
              <a:ext uri="{FF2B5EF4-FFF2-40B4-BE49-F238E27FC236}">
                <a16:creationId xmlns:a16="http://schemas.microsoft.com/office/drawing/2014/main" id="{00239A73-93FE-40ED-B4E2-08F7C644F395}"/>
              </a:ext>
            </a:extLst>
          </p:cNvPr>
          <p:cNvPicPr>
            <a:picLocks noChangeAspect="1"/>
          </p:cNvPicPr>
          <p:nvPr/>
        </p:nvPicPr>
        <p:blipFill>
          <a:blip r:embed="rId3"/>
          <a:stretch>
            <a:fillRect/>
          </a:stretch>
        </p:blipFill>
        <p:spPr>
          <a:xfrm>
            <a:off x="5900703" y="4271303"/>
            <a:ext cx="4496427" cy="2086266"/>
          </a:xfrm>
          <a:prstGeom prst="rect">
            <a:avLst/>
          </a:prstGeom>
          <a:ln>
            <a:solidFill>
              <a:schemeClr val="tx1"/>
            </a:solidFill>
          </a:ln>
          <a:effectLst>
            <a:outerShdw blurRad="50800" dist="38100" dir="8100000" algn="tr" rotWithShape="0">
              <a:prstClr val="black">
                <a:alpha val="40000"/>
              </a:prstClr>
            </a:outerShdw>
          </a:effectLst>
        </p:spPr>
      </p:pic>
    </p:spTree>
    <p:extLst>
      <p:ext uri="{BB962C8B-B14F-4D97-AF65-F5344CB8AC3E}">
        <p14:creationId xmlns:p14="http://schemas.microsoft.com/office/powerpoint/2010/main" val="4328026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CCF8F18-7CFB-4ADB-B00C-96E20C3094CC}"/>
              </a:ext>
            </a:extLst>
          </p:cNvPr>
          <p:cNvSpPr>
            <a:spLocks noGrp="1"/>
          </p:cNvSpPr>
          <p:nvPr>
            <p:ph type="title"/>
          </p:nvPr>
        </p:nvSpPr>
        <p:spPr/>
        <p:txBody>
          <a:bodyPr/>
          <a:lstStyle/>
          <a:p>
            <a:r>
              <a:rPr lang="de-DE" dirty="0"/>
              <a:t>Modeling BPMN</a:t>
            </a:r>
          </a:p>
        </p:txBody>
      </p:sp>
      <p:sp>
        <p:nvSpPr>
          <p:cNvPr id="3" name="Textplatzhalter 2">
            <a:extLst>
              <a:ext uri="{FF2B5EF4-FFF2-40B4-BE49-F238E27FC236}">
                <a16:creationId xmlns:a16="http://schemas.microsoft.com/office/drawing/2014/main" id="{9406A601-5645-4C15-8BF5-6782934D464C}"/>
              </a:ext>
            </a:extLst>
          </p:cNvPr>
          <p:cNvSpPr>
            <a:spLocks noGrp="1"/>
          </p:cNvSpPr>
          <p:nvPr>
            <p:ph type="body" sz="quarter" idx="11"/>
          </p:nvPr>
        </p:nvSpPr>
        <p:spPr/>
        <p:txBody>
          <a:bodyPr/>
          <a:lstStyle/>
          <a:p>
            <a:r>
              <a:rPr lang="en-US" dirty="0"/>
              <a:t>You can change the representation of most elements in the „Representation“ section to increase readability.</a:t>
            </a:r>
          </a:p>
        </p:txBody>
      </p:sp>
      <p:pic>
        <p:nvPicPr>
          <p:cNvPr id="6" name="Grafik 5">
            <a:extLst>
              <a:ext uri="{FF2B5EF4-FFF2-40B4-BE49-F238E27FC236}">
                <a16:creationId xmlns:a16="http://schemas.microsoft.com/office/drawing/2014/main" id="{2652E91B-58EB-411D-BEBC-347F24D886B5}"/>
              </a:ext>
            </a:extLst>
          </p:cNvPr>
          <p:cNvPicPr>
            <a:picLocks noChangeAspect="1"/>
          </p:cNvPicPr>
          <p:nvPr/>
        </p:nvPicPr>
        <p:blipFill>
          <a:blip r:embed="rId2"/>
          <a:stretch>
            <a:fillRect/>
          </a:stretch>
        </p:blipFill>
        <p:spPr>
          <a:xfrm>
            <a:off x="6257829" y="2707340"/>
            <a:ext cx="5853489" cy="2933504"/>
          </a:xfrm>
          <a:prstGeom prst="rect">
            <a:avLst/>
          </a:prstGeom>
        </p:spPr>
      </p:pic>
      <p:pic>
        <p:nvPicPr>
          <p:cNvPr id="8" name="Grafik 7">
            <a:extLst>
              <a:ext uri="{FF2B5EF4-FFF2-40B4-BE49-F238E27FC236}">
                <a16:creationId xmlns:a16="http://schemas.microsoft.com/office/drawing/2014/main" id="{15156B49-7DDE-4A2C-AA7E-F46B6B6E7739}"/>
              </a:ext>
            </a:extLst>
          </p:cNvPr>
          <p:cNvPicPr>
            <a:picLocks noChangeAspect="1"/>
          </p:cNvPicPr>
          <p:nvPr/>
        </p:nvPicPr>
        <p:blipFill>
          <a:blip r:embed="rId3"/>
          <a:stretch>
            <a:fillRect/>
          </a:stretch>
        </p:blipFill>
        <p:spPr>
          <a:xfrm>
            <a:off x="9735791" y="1286070"/>
            <a:ext cx="2276793" cy="1209844"/>
          </a:xfrm>
          <a:prstGeom prst="rect">
            <a:avLst/>
          </a:prstGeom>
          <a:effectLst>
            <a:outerShdw blurRad="50800" dist="38100" dir="8100000" algn="tr" rotWithShape="0">
              <a:prstClr val="black">
                <a:alpha val="40000"/>
              </a:prstClr>
            </a:outerShdw>
          </a:effectLst>
        </p:spPr>
      </p:pic>
      <p:cxnSp>
        <p:nvCxnSpPr>
          <p:cNvPr id="10" name="Gerade Verbindung mit Pfeil 9">
            <a:extLst>
              <a:ext uri="{FF2B5EF4-FFF2-40B4-BE49-F238E27FC236}">
                <a16:creationId xmlns:a16="http://schemas.microsoft.com/office/drawing/2014/main" id="{A1EE85BB-2F42-4AF3-BC3A-7C9922B0EA34}"/>
              </a:ext>
            </a:extLst>
          </p:cNvPr>
          <p:cNvCxnSpPr>
            <a:cxnSpLocks/>
          </p:cNvCxnSpPr>
          <p:nvPr/>
        </p:nvCxnSpPr>
        <p:spPr>
          <a:xfrm flipH="1">
            <a:off x="8686801" y="2169459"/>
            <a:ext cx="2510117" cy="1259541"/>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760908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6FF2AB5-D6A1-4233-B7AE-C6FFB0BE7627}"/>
              </a:ext>
            </a:extLst>
          </p:cNvPr>
          <p:cNvSpPr>
            <a:spLocks noGrp="1"/>
          </p:cNvSpPr>
          <p:nvPr>
            <p:ph type="title"/>
          </p:nvPr>
        </p:nvSpPr>
        <p:spPr/>
        <p:txBody>
          <a:bodyPr/>
          <a:lstStyle/>
          <a:p>
            <a:r>
              <a:rPr lang="de-DE" dirty="0"/>
              <a:t>Modeling BPMN</a:t>
            </a:r>
          </a:p>
        </p:txBody>
      </p:sp>
      <p:sp>
        <p:nvSpPr>
          <p:cNvPr id="3" name="Textplatzhalter 2">
            <a:extLst>
              <a:ext uri="{FF2B5EF4-FFF2-40B4-BE49-F238E27FC236}">
                <a16:creationId xmlns:a16="http://schemas.microsoft.com/office/drawing/2014/main" id="{71C3EBE4-F37A-4971-A4E4-B544889FF86E}"/>
              </a:ext>
            </a:extLst>
          </p:cNvPr>
          <p:cNvSpPr>
            <a:spLocks noGrp="1"/>
          </p:cNvSpPr>
          <p:nvPr>
            <p:ph type="body" sz="quarter" idx="11"/>
          </p:nvPr>
        </p:nvSpPr>
        <p:spPr/>
        <p:txBody>
          <a:bodyPr/>
          <a:lstStyle/>
          <a:p>
            <a:r>
              <a:rPr lang="de-DE" dirty="0"/>
              <a:t>In </a:t>
            </a:r>
            <a:r>
              <a:rPr lang="de-DE" dirty="0" err="1"/>
              <a:t>the</a:t>
            </a:r>
            <a:r>
              <a:rPr lang="de-DE" dirty="0"/>
              <a:t> „</a:t>
            </a:r>
            <a:r>
              <a:rPr lang="de-DE" dirty="0" err="1"/>
              <a:t>Object</a:t>
            </a:r>
            <a:r>
              <a:rPr lang="de-DE" dirty="0"/>
              <a:t> Properties“ </a:t>
            </a:r>
            <a:r>
              <a:rPr lang="de-DE" dirty="0" err="1"/>
              <a:t>section</a:t>
            </a:r>
            <a:r>
              <a:rPr lang="de-DE" dirty="0"/>
              <a:t> </a:t>
            </a:r>
            <a:r>
              <a:rPr lang="de-DE" dirty="0" err="1"/>
              <a:t>of</a:t>
            </a:r>
            <a:r>
              <a:rPr lang="de-DE" dirty="0"/>
              <a:t> </a:t>
            </a:r>
            <a:r>
              <a:rPr lang="de-DE" dirty="0" err="1"/>
              <a:t>gateways</a:t>
            </a:r>
            <a:r>
              <a:rPr lang="de-DE" dirty="0"/>
              <a:t>, </a:t>
            </a:r>
            <a:r>
              <a:rPr lang="de-DE" dirty="0" err="1"/>
              <a:t>or</a:t>
            </a:r>
            <a:r>
              <a:rPr lang="de-DE" dirty="0"/>
              <a:t> </a:t>
            </a:r>
            <a:r>
              <a:rPr lang="de-DE" dirty="0" err="1"/>
              <a:t>the</a:t>
            </a:r>
            <a:r>
              <a:rPr lang="de-DE" dirty="0"/>
              <a:t> „Event Type“ </a:t>
            </a:r>
            <a:r>
              <a:rPr lang="de-DE" dirty="0" err="1"/>
              <a:t>section</a:t>
            </a:r>
            <a:r>
              <a:rPr lang="de-DE" dirty="0"/>
              <a:t> </a:t>
            </a:r>
            <a:r>
              <a:rPr lang="de-DE" dirty="0" err="1"/>
              <a:t>of</a:t>
            </a:r>
            <a:r>
              <a:rPr lang="de-DE" dirty="0"/>
              <a:t> </a:t>
            </a:r>
            <a:r>
              <a:rPr lang="de-DE" dirty="0" err="1"/>
              <a:t>event</a:t>
            </a:r>
            <a:r>
              <a:rPr lang="de-DE" dirty="0"/>
              <a:t> </a:t>
            </a:r>
            <a:r>
              <a:rPr lang="de-DE" dirty="0" err="1"/>
              <a:t>elements</a:t>
            </a:r>
            <a:r>
              <a:rPr lang="de-DE" dirty="0"/>
              <a:t>, </a:t>
            </a:r>
            <a:r>
              <a:rPr lang="de-DE" dirty="0" err="1"/>
              <a:t>you</a:t>
            </a:r>
            <a:r>
              <a:rPr lang="de-DE" dirty="0"/>
              <a:t> </a:t>
            </a:r>
            <a:r>
              <a:rPr lang="de-DE" dirty="0" err="1"/>
              <a:t>can</a:t>
            </a:r>
            <a:r>
              <a:rPr lang="de-DE" dirty="0"/>
              <a:t> </a:t>
            </a:r>
            <a:r>
              <a:rPr lang="de-DE" dirty="0" err="1"/>
              <a:t>change</a:t>
            </a:r>
            <a:r>
              <a:rPr lang="de-DE" dirty="0"/>
              <a:t> </a:t>
            </a:r>
            <a:r>
              <a:rPr lang="de-DE" dirty="0" err="1"/>
              <a:t>the</a:t>
            </a:r>
            <a:r>
              <a:rPr lang="de-DE" dirty="0"/>
              <a:t> </a:t>
            </a:r>
            <a:r>
              <a:rPr lang="de-DE" dirty="0" err="1"/>
              <a:t>types</a:t>
            </a:r>
            <a:r>
              <a:rPr lang="de-DE" dirty="0"/>
              <a:t> </a:t>
            </a:r>
            <a:r>
              <a:rPr lang="de-DE" dirty="0" err="1"/>
              <a:t>to</a:t>
            </a:r>
            <a:r>
              <a:rPr lang="de-DE" dirty="0"/>
              <a:t> fit </a:t>
            </a:r>
            <a:r>
              <a:rPr lang="de-DE" dirty="0" err="1"/>
              <a:t>your</a:t>
            </a:r>
            <a:r>
              <a:rPr lang="de-DE" dirty="0"/>
              <a:t> </a:t>
            </a:r>
            <a:r>
              <a:rPr lang="de-DE" dirty="0" err="1"/>
              <a:t>process</a:t>
            </a:r>
            <a:r>
              <a:rPr lang="de-DE" dirty="0"/>
              <a:t> </a:t>
            </a:r>
            <a:r>
              <a:rPr lang="de-DE" dirty="0" err="1"/>
              <a:t>model</a:t>
            </a:r>
            <a:r>
              <a:rPr lang="de-DE" dirty="0"/>
              <a:t> </a:t>
            </a:r>
            <a:r>
              <a:rPr lang="de-DE" dirty="0" err="1"/>
              <a:t>needs</a:t>
            </a:r>
            <a:r>
              <a:rPr lang="de-DE" dirty="0"/>
              <a:t>.</a:t>
            </a:r>
          </a:p>
        </p:txBody>
      </p:sp>
      <p:pic>
        <p:nvPicPr>
          <p:cNvPr id="6" name="Grafik 5">
            <a:extLst>
              <a:ext uri="{FF2B5EF4-FFF2-40B4-BE49-F238E27FC236}">
                <a16:creationId xmlns:a16="http://schemas.microsoft.com/office/drawing/2014/main" id="{E09651DD-934C-4E43-AAE2-D96503349E4F}"/>
              </a:ext>
            </a:extLst>
          </p:cNvPr>
          <p:cNvPicPr>
            <a:picLocks noChangeAspect="1"/>
          </p:cNvPicPr>
          <p:nvPr/>
        </p:nvPicPr>
        <p:blipFill>
          <a:blip r:embed="rId2"/>
          <a:stretch>
            <a:fillRect/>
          </a:stretch>
        </p:blipFill>
        <p:spPr>
          <a:xfrm>
            <a:off x="9859634" y="960754"/>
            <a:ext cx="2029108" cy="1066949"/>
          </a:xfrm>
          <a:prstGeom prst="rect">
            <a:avLst/>
          </a:prstGeom>
          <a:effectLst>
            <a:outerShdw blurRad="50800" dist="38100" dir="8100000" algn="tr" rotWithShape="0">
              <a:prstClr val="black">
                <a:alpha val="40000"/>
              </a:prstClr>
            </a:outerShdw>
          </a:effectLst>
        </p:spPr>
      </p:pic>
      <p:pic>
        <p:nvPicPr>
          <p:cNvPr id="8" name="Grafik 7">
            <a:extLst>
              <a:ext uri="{FF2B5EF4-FFF2-40B4-BE49-F238E27FC236}">
                <a16:creationId xmlns:a16="http://schemas.microsoft.com/office/drawing/2014/main" id="{064DC7F8-E009-42F9-AB00-D638FB7A9841}"/>
              </a:ext>
            </a:extLst>
          </p:cNvPr>
          <p:cNvPicPr>
            <a:picLocks noChangeAspect="1"/>
          </p:cNvPicPr>
          <p:nvPr/>
        </p:nvPicPr>
        <p:blipFill>
          <a:blip r:embed="rId3"/>
          <a:stretch>
            <a:fillRect/>
          </a:stretch>
        </p:blipFill>
        <p:spPr>
          <a:xfrm>
            <a:off x="6007868" y="2646970"/>
            <a:ext cx="6076555" cy="2436911"/>
          </a:xfrm>
          <a:prstGeom prst="rect">
            <a:avLst/>
          </a:prstGeom>
        </p:spPr>
      </p:pic>
      <p:cxnSp>
        <p:nvCxnSpPr>
          <p:cNvPr id="10" name="Gerade Verbindung mit Pfeil 9">
            <a:extLst>
              <a:ext uri="{FF2B5EF4-FFF2-40B4-BE49-F238E27FC236}">
                <a16:creationId xmlns:a16="http://schemas.microsoft.com/office/drawing/2014/main" id="{661F84F8-48C1-4858-A280-2940D489CC42}"/>
              </a:ext>
            </a:extLst>
          </p:cNvPr>
          <p:cNvCxnSpPr>
            <a:cxnSpLocks/>
          </p:cNvCxnSpPr>
          <p:nvPr/>
        </p:nvCxnSpPr>
        <p:spPr>
          <a:xfrm flipH="1">
            <a:off x="10811436" y="1837765"/>
            <a:ext cx="510988" cy="2433538"/>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84480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5299B1D-45E7-4104-AF9F-D6CCBA527E9D}"/>
              </a:ext>
            </a:extLst>
          </p:cNvPr>
          <p:cNvSpPr>
            <a:spLocks noGrp="1"/>
          </p:cNvSpPr>
          <p:nvPr>
            <p:ph type="title"/>
          </p:nvPr>
        </p:nvSpPr>
        <p:spPr/>
        <p:txBody>
          <a:bodyPr/>
          <a:lstStyle/>
          <a:p>
            <a:r>
              <a:rPr lang="de-DE" dirty="0" err="1"/>
              <a:t>Activities</a:t>
            </a:r>
            <a:endParaRPr lang="de-DE" dirty="0"/>
          </a:p>
        </p:txBody>
      </p:sp>
      <p:sp>
        <p:nvSpPr>
          <p:cNvPr id="3" name="Textplatzhalter 2">
            <a:extLst>
              <a:ext uri="{FF2B5EF4-FFF2-40B4-BE49-F238E27FC236}">
                <a16:creationId xmlns:a16="http://schemas.microsoft.com/office/drawing/2014/main" id="{D3CE413E-A737-4CE4-A7C8-42EB0D0702BB}"/>
              </a:ext>
            </a:extLst>
          </p:cNvPr>
          <p:cNvSpPr>
            <a:spLocks noGrp="1"/>
          </p:cNvSpPr>
          <p:nvPr>
            <p:ph type="body" sz="quarter" idx="11"/>
          </p:nvPr>
        </p:nvSpPr>
        <p:spPr/>
        <p:txBody>
          <a:bodyPr>
            <a:normAutofit/>
          </a:bodyPr>
          <a:lstStyle/>
          <a:p>
            <a:r>
              <a:rPr lang="en-US" sz="1600" b="1" dirty="0"/>
              <a:t>Activities</a:t>
            </a:r>
            <a:r>
              <a:rPr lang="en-US" sz="1600" dirty="0"/>
              <a:t> are work units or tasks performed within a business process. They represent specific actions, such as manual tasks, automated processes, or complex operations (e.g., subprocesses), that contribute to achieving the process's objectives.</a:t>
            </a:r>
          </a:p>
          <a:p>
            <a:r>
              <a:rPr lang="en-US" sz="1600" dirty="0"/>
              <a:t>In the objects description, you can select the task type.</a:t>
            </a:r>
            <a:endParaRPr lang="de-DE" sz="1600" dirty="0"/>
          </a:p>
        </p:txBody>
      </p:sp>
      <p:pic>
        <p:nvPicPr>
          <p:cNvPr id="6" name="Grafik 5">
            <a:extLst>
              <a:ext uri="{FF2B5EF4-FFF2-40B4-BE49-F238E27FC236}">
                <a16:creationId xmlns:a16="http://schemas.microsoft.com/office/drawing/2014/main" id="{529F0BB7-B66F-475A-A997-68E6718247F1}"/>
              </a:ext>
            </a:extLst>
          </p:cNvPr>
          <p:cNvPicPr>
            <a:picLocks noChangeAspect="1"/>
          </p:cNvPicPr>
          <p:nvPr/>
        </p:nvPicPr>
        <p:blipFill>
          <a:blip r:embed="rId2"/>
          <a:stretch>
            <a:fillRect/>
          </a:stretch>
        </p:blipFill>
        <p:spPr>
          <a:xfrm>
            <a:off x="7105364" y="1946879"/>
            <a:ext cx="4077269" cy="2324424"/>
          </a:xfrm>
          <a:prstGeom prst="rect">
            <a:avLst/>
          </a:prstGeom>
        </p:spPr>
      </p:pic>
    </p:spTree>
    <p:extLst>
      <p:ext uri="{BB962C8B-B14F-4D97-AF65-F5344CB8AC3E}">
        <p14:creationId xmlns:p14="http://schemas.microsoft.com/office/powerpoint/2010/main" val="37657998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A4B8B04-1C27-485D-A6E1-EDF526E71C8C}"/>
              </a:ext>
            </a:extLst>
          </p:cNvPr>
          <p:cNvSpPr>
            <a:spLocks noGrp="1"/>
          </p:cNvSpPr>
          <p:nvPr>
            <p:ph type="title"/>
          </p:nvPr>
        </p:nvSpPr>
        <p:spPr/>
        <p:txBody>
          <a:bodyPr/>
          <a:lstStyle/>
          <a:p>
            <a:r>
              <a:rPr lang="de-DE" dirty="0"/>
              <a:t>Events</a:t>
            </a:r>
          </a:p>
        </p:txBody>
      </p:sp>
      <p:sp>
        <p:nvSpPr>
          <p:cNvPr id="3" name="Textplatzhalter 2">
            <a:extLst>
              <a:ext uri="{FF2B5EF4-FFF2-40B4-BE49-F238E27FC236}">
                <a16:creationId xmlns:a16="http://schemas.microsoft.com/office/drawing/2014/main" id="{4FEC58C6-CF13-4D52-A1EA-7CB9B7FBBE2C}"/>
              </a:ext>
            </a:extLst>
          </p:cNvPr>
          <p:cNvSpPr>
            <a:spLocks noGrp="1"/>
          </p:cNvSpPr>
          <p:nvPr>
            <p:ph type="body" sz="quarter" idx="11"/>
          </p:nvPr>
        </p:nvSpPr>
        <p:spPr/>
        <p:txBody>
          <a:bodyPr>
            <a:normAutofit/>
          </a:bodyPr>
          <a:lstStyle/>
          <a:p>
            <a:r>
              <a:rPr lang="en-US" sz="1600" b="1" dirty="0"/>
              <a:t>Starting Events </a:t>
            </a:r>
            <a:r>
              <a:rPr lang="en-US" sz="1600" dirty="0"/>
              <a:t>initiate a Process.</a:t>
            </a:r>
          </a:p>
          <a:p>
            <a:r>
              <a:rPr lang="en-US" sz="1600" b="1" dirty="0"/>
              <a:t>Intermediate Events </a:t>
            </a:r>
            <a:r>
              <a:rPr lang="en-US" sz="1600" dirty="0"/>
              <a:t>happen during a process and can be of the type:</a:t>
            </a:r>
          </a:p>
          <a:p>
            <a:pPr marL="285750" indent="-285750">
              <a:buFont typeface="Arial" panose="020B0604020202020204" pitchFamily="34" charset="0"/>
              <a:buChar char="•"/>
            </a:pPr>
            <a:r>
              <a:rPr lang="en-US" sz="1600" b="1" dirty="0"/>
              <a:t>Boundary </a:t>
            </a:r>
            <a:r>
              <a:rPr lang="en-US" sz="1600" dirty="0"/>
              <a:t>(placed on the boundary of an activity, used to handle exceptions or conditions that may interrupt the activity)</a:t>
            </a:r>
            <a:endParaRPr lang="en-US" sz="1600" b="1" dirty="0"/>
          </a:p>
          <a:p>
            <a:pPr marL="285750" indent="-285750">
              <a:buFont typeface="Arial" panose="020B0604020202020204" pitchFamily="34" charset="0"/>
              <a:buChar char="•"/>
            </a:pPr>
            <a:r>
              <a:rPr lang="en-US" sz="1600" b="1" dirty="0"/>
              <a:t>Sequence-flow </a:t>
            </a:r>
            <a:r>
              <a:rPr lang="en-US" sz="1600" dirty="0"/>
              <a:t>(placed along the sequence flow between activities, events occur as part of the normal process flow, does not interrupt activities but adds logic to the process flow)</a:t>
            </a:r>
          </a:p>
          <a:p>
            <a:r>
              <a:rPr lang="en-US" sz="1600" b="1" dirty="0"/>
              <a:t>End events </a:t>
            </a:r>
            <a:r>
              <a:rPr lang="en-US" sz="1600" dirty="0"/>
              <a:t>end a Process.</a:t>
            </a:r>
            <a:endParaRPr lang="de-DE" sz="1600" dirty="0"/>
          </a:p>
        </p:txBody>
      </p:sp>
      <p:pic>
        <p:nvPicPr>
          <p:cNvPr id="12" name="Grafik 11">
            <a:extLst>
              <a:ext uri="{FF2B5EF4-FFF2-40B4-BE49-F238E27FC236}">
                <a16:creationId xmlns:a16="http://schemas.microsoft.com/office/drawing/2014/main" id="{D94196F2-D6BB-4B2C-823A-914238942829}"/>
              </a:ext>
            </a:extLst>
          </p:cNvPr>
          <p:cNvPicPr>
            <a:picLocks noChangeAspect="1"/>
          </p:cNvPicPr>
          <p:nvPr/>
        </p:nvPicPr>
        <p:blipFill>
          <a:blip r:embed="rId2"/>
          <a:stretch>
            <a:fillRect/>
          </a:stretch>
        </p:blipFill>
        <p:spPr>
          <a:xfrm>
            <a:off x="6706899" y="557855"/>
            <a:ext cx="3573619" cy="2664602"/>
          </a:xfrm>
          <a:prstGeom prst="rect">
            <a:avLst/>
          </a:prstGeom>
        </p:spPr>
      </p:pic>
      <p:pic>
        <p:nvPicPr>
          <p:cNvPr id="14" name="Grafik 13">
            <a:extLst>
              <a:ext uri="{FF2B5EF4-FFF2-40B4-BE49-F238E27FC236}">
                <a16:creationId xmlns:a16="http://schemas.microsoft.com/office/drawing/2014/main" id="{C6C798F5-C437-40DE-9404-6DDB86F16136}"/>
              </a:ext>
            </a:extLst>
          </p:cNvPr>
          <p:cNvPicPr>
            <a:picLocks noChangeAspect="1"/>
          </p:cNvPicPr>
          <p:nvPr/>
        </p:nvPicPr>
        <p:blipFill>
          <a:blip r:embed="rId3"/>
          <a:stretch>
            <a:fillRect/>
          </a:stretch>
        </p:blipFill>
        <p:spPr>
          <a:xfrm>
            <a:off x="7038593" y="3429000"/>
            <a:ext cx="3573619" cy="2375645"/>
          </a:xfrm>
          <a:prstGeom prst="rect">
            <a:avLst/>
          </a:prstGeom>
        </p:spPr>
      </p:pic>
      <p:sp>
        <p:nvSpPr>
          <p:cNvPr id="4" name="Rechteck: abgerundete Ecken 3">
            <a:extLst>
              <a:ext uri="{FF2B5EF4-FFF2-40B4-BE49-F238E27FC236}">
                <a16:creationId xmlns:a16="http://schemas.microsoft.com/office/drawing/2014/main" id="{1F57DB7E-C7E7-48EA-A74E-11D36122CD4B}"/>
              </a:ext>
            </a:extLst>
          </p:cNvPr>
          <p:cNvSpPr/>
          <p:nvPr/>
        </p:nvSpPr>
        <p:spPr>
          <a:xfrm>
            <a:off x="8348597" y="557855"/>
            <a:ext cx="432148" cy="312704"/>
          </a:xfrm>
          <a:prstGeom prst="round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7" name="Rechteck: abgerundete Ecken 6">
            <a:extLst>
              <a:ext uri="{FF2B5EF4-FFF2-40B4-BE49-F238E27FC236}">
                <a16:creationId xmlns:a16="http://schemas.microsoft.com/office/drawing/2014/main" id="{679CFBBF-B13A-4915-818F-540E8F9AC22A}"/>
              </a:ext>
            </a:extLst>
          </p:cNvPr>
          <p:cNvSpPr/>
          <p:nvPr/>
        </p:nvSpPr>
        <p:spPr>
          <a:xfrm>
            <a:off x="8361123" y="3397685"/>
            <a:ext cx="588724" cy="312704"/>
          </a:xfrm>
          <a:prstGeom prst="round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8" name="Rechteck: abgerundete Ecken 7">
            <a:extLst>
              <a:ext uri="{FF2B5EF4-FFF2-40B4-BE49-F238E27FC236}">
                <a16:creationId xmlns:a16="http://schemas.microsoft.com/office/drawing/2014/main" id="{BF0A91B0-C487-4FAE-8589-E4141DAD320D}"/>
              </a:ext>
            </a:extLst>
          </p:cNvPr>
          <p:cNvSpPr/>
          <p:nvPr/>
        </p:nvSpPr>
        <p:spPr>
          <a:xfrm>
            <a:off x="6947768" y="1075915"/>
            <a:ext cx="504000" cy="504000"/>
          </a:xfrm>
          <a:prstGeom prst="round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9" name="Rechteck: abgerundete Ecken 8">
            <a:extLst>
              <a:ext uri="{FF2B5EF4-FFF2-40B4-BE49-F238E27FC236}">
                <a16:creationId xmlns:a16="http://schemas.microsoft.com/office/drawing/2014/main" id="{6C8E44E1-AD8F-4A9A-94B2-9837C81CD692}"/>
              </a:ext>
            </a:extLst>
          </p:cNvPr>
          <p:cNvSpPr/>
          <p:nvPr/>
        </p:nvSpPr>
        <p:spPr>
          <a:xfrm>
            <a:off x="7050064" y="4447504"/>
            <a:ext cx="504000" cy="504000"/>
          </a:xfrm>
          <a:prstGeom prst="round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Tree>
    <p:extLst>
      <p:ext uri="{BB962C8B-B14F-4D97-AF65-F5344CB8AC3E}">
        <p14:creationId xmlns:p14="http://schemas.microsoft.com/office/powerpoint/2010/main" val="5132633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5014B0F-4B5D-4F24-B29C-D83F119058AA}"/>
              </a:ext>
            </a:extLst>
          </p:cNvPr>
          <p:cNvSpPr>
            <a:spLocks noGrp="1"/>
          </p:cNvSpPr>
          <p:nvPr>
            <p:ph type="title"/>
          </p:nvPr>
        </p:nvSpPr>
        <p:spPr/>
        <p:txBody>
          <a:bodyPr/>
          <a:lstStyle/>
          <a:p>
            <a:r>
              <a:rPr lang="de-DE" dirty="0"/>
              <a:t>Gateways</a:t>
            </a:r>
            <a:br>
              <a:rPr lang="de-DE" dirty="0"/>
            </a:br>
            <a:r>
              <a:rPr lang="de-DE" sz="1400" b="0" dirty="0"/>
              <a:t> </a:t>
            </a:r>
            <a:br>
              <a:rPr lang="de-DE" dirty="0"/>
            </a:br>
            <a:r>
              <a:rPr lang="en-US" sz="1000" b="0" dirty="0">
                <a:solidFill>
                  <a:schemeClr val="tx1"/>
                </a:solidFill>
              </a:rPr>
              <a:t>”The term “gateway” implies that there is a gating mechanism that either allows or disallows passage through the Gateway; that is,</a:t>
            </a:r>
            <a:br>
              <a:rPr lang="en-US" sz="1000" b="0" dirty="0">
                <a:solidFill>
                  <a:schemeClr val="tx1"/>
                </a:solidFill>
              </a:rPr>
            </a:br>
            <a:r>
              <a:rPr lang="en-US" sz="1000" b="0" dirty="0">
                <a:solidFill>
                  <a:schemeClr val="tx1"/>
                </a:solidFill>
              </a:rPr>
              <a:t>as tokens arrive at a Gateway, they can be merged together on input and/or split apart on output as the Gateway mechanisms are invoked.”</a:t>
            </a:r>
            <a:endParaRPr lang="de-DE" b="0" dirty="0">
              <a:solidFill>
                <a:schemeClr val="tx1"/>
              </a:solidFill>
            </a:endParaRPr>
          </a:p>
        </p:txBody>
      </p:sp>
      <p:sp>
        <p:nvSpPr>
          <p:cNvPr id="3" name="Textplatzhalter 2">
            <a:extLst>
              <a:ext uri="{FF2B5EF4-FFF2-40B4-BE49-F238E27FC236}">
                <a16:creationId xmlns:a16="http://schemas.microsoft.com/office/drawing/2014/main" id="{CD6AAF64-7645-4BFD-87DE-34FC1EAE0248}"/>
              </a:ext>
            </a:extLst>
          </p:cNvPr>
          <p:cNvSpPr>
            <a:spLocks noGrp="1"/>
          </p:cNvSpPr>
          <p:nvPr>
            <p:ph type="body" sz="quarter" idx="11"/>
          </p:nvPr>
        </p:nvSpPr>
        <p:spPr/>
        <p:txBody>
          <a:bodyPr/>
          <a:lstStyle/>
          <a:p>
            <a:r>
              <a:rPr lang="de-DE" dirty="0" err="1"/>
              <a:t>There</a:t>
            </a:r>
            <a:r>
              <a:rPr lang="de-DE" dirty="0"/>
              <a:t> </a:t>
            </a:r>
            <a:r>
              <a:rPr lang="de-DE" dirty="0" err="1"/>
              <a:t>are</a:t>
            </a:r>
            <a:r>
              <a:rPr lang="de-DE" dirty="0"/>
              <a:t> </a:t>
            </a:r>
            <a:r>
              <a:rPr lang="de-DE" dirty="0" err="1"/>
              <a:t>three</a:t>
            </a:r>
            <a:r>
              <a:rPr lang="de-DE" dirty="0"/>
              <a:t> different </a:t>
            </a:r>
            <a:r>
              <a:rPr lang="de-DE" dirty="0" err="1"/>
              <a:t>gateway</a:t>
            </a:r>
            <a:r>
              <a:rPr lang="de-DE" dirty="0"/>
              <a:t> </a:t>
            </a:r>
            <a:r>
              <a:rPr lang="de-DE" dirty="0" err="1"/>
              <a:t>types</a:t>
            </a:r>
            <a:r>
              <a:rPr lang="de-DE" dirty="0"/>
              <a:t> </a:t>
            </a:r>
            <a:r>
              <a:rPr lang="de-DE" dirty="0" err="1"/>
              <a:t>available</a:t>
            </a:r>
            <a:r>
              <a:rPr lang="de-DE" dirty="0"/>
              <a:t>:</a:t>
            </a:r>
          </a:p>
          <a:p>
            <a:pPr marL="457200" indent="-457200">
              <a:buAutoNum type="arabicPeriod"/>
            </a:pPr>
            <a:r>
              <a:rPr lang="de-DE" dirty="0" err="1"/>
              <a:t>Exclusive</a:t>
            </a:r>
            <a:r>
              <a:rPr lang="de-DE" dirty="0"/>
              <a:t> Gateways</a:t>
            </a:r>
          </a:p>
          <a:p>
            <a:pPr marL="457200" indent="-457200">
              <a:buAutoNum type="arabicPeriod"/>
            </a:pPr>
            <a:r>
              <a:rPr lang="de-DE" dirty="0"/>
              <a:t>Non-</a:t>
            </a:r>
            <a:r>
              <a:rPr lang="de-DE" dirty="0" err="1"/>
              <a:t>exclusive</a:t>
            </a:r>
            <a:r>
              <a:rPr lang="de-DE" dirty="0"/>
              <a:t> Gateways</a:t>
            </a:r>
          </a:p>
          <a:p>
            <a:pPr marL="457200" indent="-457200">
              <a:buAutoNum type="arabicPeriod"/>
            </a:pPr>
            <a:r>
              <a:rPr lang="de-DE" dirty="0"/>
              <a:t>Non-</a:t>
            </a:r>
            <a:r>
              <a:rPr lang="de-DE" dirty="0" err="1"/>
              <a:t>exclusive</a:t>
            </a:r>
            <a:r>
              <a:rPr lang="de-DE" dirty="0"/>
              <a:t> Gateways (</a:t>
            </a:r>
            <a:r>
              <a:rPr lang="de-DE" dirty="0" err="1"/>
              <a:t>converging</a:t>
            </a:r>
            <a:r>
              <a:rPr lang="de-DE" dirty="0"/>
              <a:t>)</a:t>
            </a:r>
          </a:p>
          <a:p>
            <a:endParaRPr lang="de-DE" dirty="0"/>
          </a:p>
          <a:p>
            <a:r>
              <a:rPr lang="de-DE" dirty="0" err="1"/>
              <a:t>Specifying</a:t>
            </a:r>
            <a:r>
              <a:rPr lang="de-DE" dirty="0"/>
              <a:t> </a:t>
            </a:r>
            <a:r>
              <a:rPr lang="de-DE" dirty="0" err="1"/>
              <a:t>these</a:t>
            </a:r>
            <a:r>
              <a:rPr lang="de-DE" dirty="0"/>
              <a:t> </a:t>
            </a:r>
            <a:r>
              <a:rPr lang="de-DE" dirty="0" err="1"/>
              <a:t>gateways</a:t>
            </a:r>
            <a:r>
              <a:rPr lang="de-DE" dirty="0"/>
              <a:t> </a:t>
            </a:r>
            <a:r>
              <a:rPr lang="de-DE" dirty="0" err="1"/>
              <a:t>happends</a:t>
            </a:r>
            <a:r>
              <a:rPr lang="de-DE" dirty="0"/>
              <a:t> via </a:t>
            </a:r>
            <a:r>
              <a:rPr lang="de-DE" dirty="0" err="1"/>
              <a:t>their</a:t>
            </a:r>
            <a:r>
              <a:rPr lang="de-DE" dirty="0"/>
              <a:t> </a:t>
            </a:r>
            <a:r>
              <a:rPr lang="de-DE" dirty="0" err="1"/>
              <a:t>properties</a:t>
            </a:r>
            <a:r>
              <a:rPr lang="de-DE" dirty="0"/>
              <a:t>.</a:t>
            </a:r>
          </a:p>
        </p:txBody>
      </p:sp>
      <p:pic>
        <p:nvPicPr>
          <p:cNvPr id="6" name="Grafik 5">
            <a:extLst>
              <a:ext uri="{FF2B5EF4-FFF2-40B4-BE49-F238E27FC236}">
                <a16:creationId xmlns:a16="http://schemas.microsoft.com/office/drawing/2014/main" id="{917AC312-FEB4-4B6F-9489-2E74EE7957BC}"/>
              </a:ext>
            </a:extLst>
          </p:cNvPr>
          <p:cNvPicPr>
            <a:picLocks noChangeAspect="1"/>
          </p:cNvPicPr>
          <p:nvPr/>
        </p:nvPicPr>
        <p:blipFill>
          <a:blip r:embed="rId2"/>
          <a:stretch>
            <a:fillRect/>
          </a:stretch>
        </p:blipFill>
        <p:spPr>
          <a:xfrm>
            <a:off x="7406022" y="284438"/>
            <a:ext cx="3629532" cy="1362265"/>
          </a:xfrm>
          <a:prstGeom prst="rect">
            <a:avLst/>
          </a:prstGeom>
        </p:spPr>
      </p:pic>
      <p:pic>
        <p:nvPicPr>
          <p:cNvPr id="8" name="Grafik 7">
            <a:extLst>
              <a:ext uri="{FF2B5EF4-FFF2-40B4-BE49-F238E27FC236}">
                <a16:creationId xmlns:a16="http://schemas.microsoft.com/office/drawing/2014/main" id="{0EDF5F38-0DFB-437C-AF4E-66B8E3E6B484}"/>
              </a:ext>
            </a:extLst>
          </p:cNvPr>
          <p:cNvPicPr>
            <a:picLocks noChangeAspect="1"/>
          </p:cNvPicPr>
          <p:nvPr/>
        </p:nvPicPr>
        <p:blipFill>
          <a:blip r:embed="rId3"/>
          <a:stretch>
            <a:fillRect/>
          </a:stretch>
        </p:blipFill>
        <p:spPr>
          <a:xfrm>
            <a:off x="6080242" y="1806496"/>
            <a:ext cx="2651561" cy="1214721"/>
          </a:xfrm>
          <a:prstGeom prst="rect">
            <a:avLst/>
          </a:prstGeom>
        </p:spPr>
      </p:pic>
      <p:pic>
        <p:nvPicPr>
          <p:cNvPr id="10" name="Grafik 9">
            <a:extLst>
              <a:ext uri="{FF2B5EF4-FFF2-40B4-BE49-F238E27FC236}">
                <a16:creationId xmlns:a16="http://schemas.microsoft.com/office/drawing/2014/main" id="{E20F5ECE-1061-4DA5-A06D-76B3FD79FCA4}"/>
              </a:ext>
            </a:extLst>
          </p:cNvPr>
          <p:cNvPicPr>
            <a:picLocks noChangeAspect="1"/>
          </p:cNvPicPr>
          <p:nvPr/>
        </p:nvPicPr>
        <p:blipFill>
          <a:blip r:embed="rId4"/>
          <a:stretch>
            <a:fillRect/>
          </a:stretch>
        </p:blipFill>
        <p:spPr>
          <a:xfrm>
            <a:off x="7083293" y="3062103"/>
            <a:ext cx="2975166" cy="1762803"/>
          </a:xfrm>
          <a:prstGeom prst="rect">
            <a:avLst/>
          </a:prstGeom>
        </p:spPr>
      </p:pic>
      <p:pic>
        <p:nvPicPr>
          <p:cNvPr id="12" name="Grafik 11">
            <a:extLst>
              <a:ext uri="{FF2B5EF4-FFF2-40B4-BE49-F238E27FC236}">
                <a16:creationId xmlns:a16="http://schemas.microsoft.com/office/drawing/2014/main" id="{01017A75-645A-4BD0-BBAC-3D200778B64E}"/>
              </a:ext>
            </a:extLst>
          </p:cNvPr>
          <p:cNvPicPr>
            <a:picLocks noChangeAspect="1"/>
          </p:cNvPicPr>
          <p:nvPr/>
        </p:nvPicPr>
        <p:blipFill>
          <a:blip r:embed="rId5"/>
          <a:stretch>
            <a:fillRect/>
          </a:stretch>
        </p:blipFill>
        <p:spPr>
          <a:xfrm>
            <a:off x="7923685" y="4865792"/>
            <a:ext cx="4080933" cy="1797553"/>
          </a:xfrm>
          <a:prstGeom prst="rect">
            <a:avLst/>
          </a:prstGeom>
        </p:spPr>
      </p:pic>
    </p:spTree>
    <p:extLst>
      <p:ext uri="{BB962C8B-B14F-4D97-AF65-F5344CB8AC3E}">
        <p14:creationId xmlns:p14="http://schemas.microsoft.com/office/powerpoint/2010/main" val="35989279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3912E76-D1BC-4B10-A1C8-DCB8A2ACC291}"/>
              </a:ext>
            </a:extLst>
          </p:cNvPr>
          <p:cNvSpPr>
            <a:spLocks noGrp="1"/>
          </p:cNvSpPr>
          <p:nvPr>
            <p:ph type="title"/>
          </p:nvPr>
        </p:nvSpPr>
        <p:spPr/>
        <p:txBody>
          <a:bodyPr/>
          <a:lstStyle/>
          <a:p>
            <a:r>
              <a:rPr lang="de-DE" dirty="0"/>
              <a:t>Gateways</a:t>
            </a:r>
            <a:br>
              <a:rPr lang="de-DE" dirty="0"/>
            </a:br>
            <a:r>
              <a:rPr lang="de-DE" sz="2000" dirty="0"/>
              <a:t> </a:t>
            </a:r>
            <a:br>
              <a:rPr lang="de-DE" dirty="0"/>
            </a:br>
            <a:r>
              <a:rPr lang="de-DE" sz="2400" dirty="0"/>
              <a:t>„</a:t>
            </a:r>
            <a:r>
              <a:rPr lang="de-DE" sz="2400" dirty="0" err="1"/>
              <a:t>Exclusive</a:t>
            </a:r>
            <a:r>
              <a:rPr lang="de-DE" sz="2400" dirty="0"/>
              <a:t> Gateway“</a:t>
            </a:r>
            <a:br>
              <a:rPr lang="de-DE" sz="2400" dirty="0"/>
            </a:br>
            <a:r>
              <a:rPr lang="de-DE" sz="2400" dirty="0">
                <a:sym typeface="Wingdings" panose="05000000000000000000" pitchFamily="2" charset="2"/>
              </a:rPr>
              <a:t> Data-</a:t>
            </a:r>
            <a:r>
              <a:rPr lang="de-DE" sz="2400" dirty="0" err="1">
                <a:sym typeface="Wingdings" panose="05000000000000000000" pitchFamily="2" charset="2"/>
              </a:rPr>
              <a:t>based</a:t>
            </a:r>
            <a:endParaRPr lang="de-DE" dirty="0"/>
          </a:p>
        </p:txBody>
      </p:sp>
      <p:sp>
        <p:nvSpPr>
          <p:cNvPr id="3" name="Textplatzhalter 2">
            <a:extLst>
              <a:ext uri="{FF2B5EF4-FFF2-40B4-BE49-F238E27FC236}">
                <a16:creationId xmlns:a16="http://schemas.microsoft.com/office/drawing/2014/main" id="{618FC418-2425-4A99-9C3C-EECDF6920B40}"/>
              </a:ext>
            </a:extLst>
          </p:cNvPr>
          <p:cNvSpPr>
            <a:spLocks noGrp="1"/>
          </p:cNvSpPr>
          <p:nvPr>
            <p:ph type="body" sz="quarter" idx="11"/>
          </p:nvPr>
        </p:nvSpPr>
        <p:spPr/>
        <p:txBody>
          <a:bodyPr>
            <a:normAutofit/>
          </a:bodyPr>
          <a:lstStyle/>
          <a:p>
            <a:r>
              <a:rPr lang="en-US" sz="1600" dirty="0"/>
              <a:t>The Event-Based Gateway represents a branching point in the Process where the alternative paths that follow the Gateway are based on Events that occur, rather than the evaluation of Expressions using Process data.</a:t>
            </a:r>
          </a:p>
          <a:p>
            <a:r>
              <a:rPr lang="en-US" sz="1600" dirty="0"/>
              <a:t>A specific Event, usually the receipt of a Message, determines the path that will be taken. Basically, the decision is made by another Participant, based on data that is not visible to Process</a:t>
            </a:r>
            <a:endParaRPr lang="de-DE" sz="1600" dirty="0"/>
          </a:p>
        </p:txBody>
      </p:sp>
      <p:grpSp>
        <p:nvGrpSpPr>
          <p:cNvPr id="10" name="Gruppieren 9">
            <a:extLst>
              <a:ext uri="{FF2B5EF4-FFF2-40B4-BE49-F238E27FC236}">
                <a16:creationId xmlns:a16="http://schemas.microsoft.com/office/drawing/2014/main" id="{872BBFE8-DF3C-4516-B322-84C0170D38D4}"/>
              </a:ext>
            </a:extLst>
          </p:cNvPr>
          <p:cNvGrpSpPr/>
          <p:nvPr/>
        </p:nvGrpSpPr>
        <p:grpSpPr>
          <a:xfrm>
            <a:off x="6809523" y="1638703"/>
            <a:ext cx="4527712" cy="1409258"/>
            <a:chOff x="6659910" y="1858975"/>
            <a:chExt cx="4527712" cy="1409258"/>
          </a:xfrm>
        </p:grpSpPr>
        <p:pic>
          <p:nvPicPr>
            <p:cNvPr id="5" name="Grafik 4">
              <a:extLst>
                <a:ext uri="{FF2B5EF4-FFF2-40B4-BE49-F238E27FC236}">
                  <a16:creationId xmlns:a16="http://schemas.microsoft.com/office/drawing/2014/main" id="{5631293D-F259-4309-835D-E9B0F25A90AB}"/>
                </a:ext>
              </a:extLst>
            </p:cNvPr>
            <p:cNvPicPr>
              <a:picLocks noChangeAspect="1"/>
            </p:cNvPicPr>
            <p:nvPr/>
          </p:nvPicPr>
          <p:blipFill rotWithShape="1">
            <a:blip r:embed="rId2"/>
            <a:srcRect r="67429"/>
            <a:stretch/>
          </p:blipFill>
          <p:spPr>
            <a:xfrm>
              <a:off x="6659910" y="1905968"/>
              <a:ext cx="1182166" cy="1362265"/>
            </a:xfrm>
            <a:prstGeom prst="rect">
              <a:avLst/>
            </a:prstGeom>
          </p:spPr>
        </p:pic>
        <p:pic>
          <p:nvPicPr>
            <p:cNvPr id="6" name="Grafik 5">
              <a:extLst>
                <a:ext uri="{FF2B5EF4-FFF2-40B4-BE49-F238E27FC236}">
                  <a16:creationId xmlns:a16="http://schemas.microsoft.com/office/drawing/2014/main" id="{5FE57A5C-9C62-4660-95F8-19A97FADC5F2}"/>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8213994" y="1858975"/>
              <a:ext cx="2973628" cy="1308706"/>
            </a:xfrm>
            <a:prstGeom prst="rect">
              <a:avLst/>
            </a:prstGeom>
          </p:spPr>
        </p:pic>
      </p:grpSp>
      <p:pic>
        <p:nvPicPr>
          <p:cNvPr id="8" name="Grafik 7">
            <a:extLst>
              <a:ext uri="{FF2B5EF4-FFF2-40B4-BE49-F238E27FC236}">
                <a16:creationId xmlns:a16="http://schemas.microsoft.com/office/drawing/2014/main" id="{3313A407-2F21-48C9-A40A-8CF2780D2532}"/>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8490320" y="3744519"/>
            <a:ext cx="2846915" cy="1299515"/>
          </a:xfrm>
          <a:prstGeom prst="rect">
            <a:avLst/>
          </a:prstGeom>
        </p:spPr>
      </p:pic>
      <p:sp>
        <p:nvSpPr>
          <p:cNvPr id="9" name="Textfeld 8">
            <a:extLst>
              <a:ext uri="{FF2B5EF4-FFF2-40B4-BE49-F238E27FC236}">
                <a16:creationId xmlns:a16="http://schemas.microsoft.com/office/drawing/2014/main" id="{F7CFECE3-D7EB-4500-AF08-9A8E416B5125}"/>
              </a:ext>
            </a:extLst>
          </p:cNvPr>
          <p:cNvSpPr txBox="1"/>
          <p:nvPr/>
        </p:nvSpPr>
        <p:spPr>
          <a:xfrm>
            <a:off x="8490320" y="5202507"/>
            <a:ext cx="2846914" cy="600164"/>
          </a:xfrm>
          <a:prstGeom prst="rect">
            <a:avLst/>
          </a:prstGeom>
          <a:noFill/>
        </p:spPr>
        <p:txBody>
          <a:bodyPr wrap="square" rtlCol="0">
            <a:spAutoFit/>
          </a:bodyPr>
          <a:lstStyle/>
          <a:p>
            <a:r>
              <a:rPr lang="en-US" sz="1100" dirty="0"/>
              <a:t>The “instantiate” gateway is used to instantiate a process and must not have any incoming sequence flows.</a:t>
            </a:r>
            <a:endParaRPr lang="de-DE" sz="1100" dirty="0"/>
          </a:p>
        </p:txBody>
      </p:sp>
    </p:spTree>
    <p:extLst>
      <p:ext uri="{BB962C8B-B14F-4D97-AF65-F5344CB8AC3E}">
        <p14:creationId xmlns:p14="http://schemas.microsoft.com/office/powerpoint/2010/main" val="21357570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3912E76-D1BC-4B10-A1C8-DCB8A2ACC291}"/>
              </a:ext>
            </a:extLst>
          </p:cNvPr>
          <p:cNvSpPr>
            <a:spLocks noGrp="1"/>
          </p:cNvSpPr>
          <p:nvPr>
            <p:ph type="title"/>
          </p:nvPr>
        </p:nvSpPr>
        <p:spPr/>
        <p:txBody>
          <a:bodyPr/>
          <a:lstStyle/>
          <a:p>
            <a:r>
              <a:rPr lang="de-DE" dirty="0"/>
              <a:t>Gateways</a:t>
            </a:r>
            <a:br>
              <a:rPr lang="de-DE" dirty="0"/>
            </a:br>
            <a:r>
              <a:rPr lang="de-DE" sz="2000" dirty="0"/>
              <a:t> </a:t>
            </a:r>
            <a:br>
              <a:rPr lang="de-DE" dirty="0"/>
            </a:br>
            <a:r>
              <a:rPr lang="de-DE" sz="2400" dirty="0"/>
              <a:t>„</a:t>
            </a:r>
            <a:r>
              <a:rPr lang="de-DE" sz="2400" dirty="0" err="1"/>
              <a:t>Exclusive</a:t>
            </a:r>
            <a:r>
              <a:rPr lang="de-DE" sz="2400" dirty="0"/>
              <a:t> Gateway“</a:t>
            </a:r>
            <a:br>
              <a:rPr lang="de-DE" sz="2400" dirty="0"/>
            </a:br>
            <a:r>
              <a:rPr lang="de-DE" sz="2400" dirty="0">
                <a:sym typeface="Wingdings" panose="05000000000000000000" pitchFamily="2" charset="2"/>
              </a:rPr>
              <a:t> Event-</a:t>
            </a:r>
            <a:r>
              <a:rPr lang="de-DE" sz="2400" dirty="0" err="1">
                <a:sym typeface="Wingdings" panose="05000000000000000000" pitchFamily="2" charset="2"/>
              </a:rPr>
              <a:t>based</a:t>
            </a:r>
            <a:endParaRPr lang="de-DE" dirty="0"/>
          </a:p>
        </p:txBody>
      </p:sp>
      <p:sp>
        <p:nvSpPr>
          <p:cNvPr id="3" name="Textplatzhalter 2">
            <a:extLst>
              <a:ext uri="{FF2B5EF4-FFF2-40B4-BE49-F238E27FC236}">
                <a16:creationId xmlns:a16="http://schemas.microsoft.com/office/drawing/2014/main" id="{618FC418-2425-4A99-9C3C-EECDF6920B40}"/>
              </a:ext>
            </a:extLst>
          </p:cNvPr>
          <p:cNvSpPr>
            <a:spLocks noGrp="1"/>
          </p:cNvSpPr>
          <p:nvPr>
            <p:ph type="body" sz="quarter" idx="11"/>
          </p:nvPr>
        </p:nvSpPr>
        <p:spPr/>
        <p:txBody>
          <a:bodyPr>
            <a:normAutofit/>
          </a:bodyPr>
          <a:lstStyle/>
          <a:p>
            <a:r>
              <a:rPr lang="en-US" sz="1600" dirty="0"/>
              <a:t>A diverging Exclusive Gateway (Decision) is used to create alternative paths within a Process flow. This is basically the “diversion point in the road” for a Process. For a given instance of the Process, only one of the paths can be taken.</a:t>
            </a:r>
          </a:p>
          <a:p>
            <a:r>
              <a:rPr lang="en-US" sz="1600" dirty="0"/>
              <a:t>The Exclusive Gateway MAY use a marker that is shaped like an “X” and is placed within the Gateway diamond to distinguish it from other Gateways.</a:t>
            </a:r>
            <a:endParaRPr lang="de-DE" sz="1600" dirty="0"/>
          </a:p>
        </p:txBody>
      </p:sp>
      <p:grpSp>
        <p:nvGrpSpPr>
          <p:cNvPr id="10" name="Gruppieren 9">
            <a:extLst>
              <a:ext uri="{FF2B5EF4-FFF2-40B4-BE49-F238E27FC236}">
                <a16:creationId xmlns:a16="http://schemas.microsoft.com/office/drawing/2014/main" id="{872BBFE8-DF3C-4516-B322-84C0170D38D4}"/>
              </a:ext>
            </a:extLst>
          </p:cNvPr>
          <p:cNvGrpSpPr/>
          <p:nvPr/>
        </p:nvGrpSpPr>
        <p:grpSpPr>
          <a:xfrm>
            <a:off x="6809523" y="1611924"/>
            <a:ext cx="4527712" cy="1436037"/>
            <a:chOff x="6659910" y="1832196"/>
            <a:chExt cx="4527712" cy="1436037"/>
          </a:xfrm>
        </p:grpSpPr>
        <p:pic>
          <p:nvPicPr>
            <p:cNvPr id="5" name="Grafik 4">
              <a:extLst>
                <a:ext uri="{FF2B5EF4-FFF2-40B4-BE49-F238E27FC236}">
                  <a16:creationId xmlns:a16="http://schemas.microsoft.com/office/drawing/2014/main" id="{5631293D-F259-4309-835D-E9B0F25A90AB}"/>
                </a:ext>
              </a:extLst>
            </p:cNvPr>
            <p:cNvPicPr>
              <a:picLocks noChangeAspect="1"/>
            </p:cNvPicPr>
            <p:nvPr/>
          </p:nvPicPr>
          <p:blipFill rotWithShape="1">
            <a:blip r:embed="rId2"/>
            <a:srcRect r="67429"/>
            <a:stretch/>
          </p:blipFill>
          <p:spPr>
            <a:xfrm>
              <a:off x="6659910" y="1905968"/>
              <a:ext cx="1182166" cy="1362265"/>
            </a:xfrm>
            <a:prstGeom prst="rect">
              <a:avLst/>
            </a:prstGeom>
          </p:spPr>
        </p:pic>
        <p:pic>
          <p:nvPicPr>
            <p:cNvPr id="6" name="Grafik 5">
              <a:extLst>
                <a:ext uri="{FF2B5EF4-FFF2-40B4-BE49-F238E27FC236}">
                  <a16:creationId xmlns:a16="http://schemas.microsoft.com/office/drawing/2014/main" id="{5FE57A5C-9C62-4660-95F8-19A97FADC5F2}"/>
                </a:ext>
              </a:extLst>
            </p:cNvPr>
            <p:cNvPicPr>
              <a:picLocks noChangeAspect="1"/>
            </p:cNvPicPr>
            <p:nvPr/>
          </p:nvPicPr>
          <p:blipFill>
            <a:blip r:embed="rId3"/>
            <a:stretch>
              <a:fillRect/>
            </a:stretch>
          </p:blipFill>
          <p:spPr>
            <a:xfrm>
              <a:off x="8213994" y="1832196"/>
              <a:ext cx="2973628" cy="1362265"/>
            </a:xfrm>
            <a:prstGeom prst="rect">
              <a:avLst/>
            </a:prstGeom>
          </p:spPr>
        </p:pic>
      </p:grpSp>
      <p:pic>
        <p:nvPicPr>
          <p:cNvPr id="8" name="Grafik 7">
            <a:extLst>
              <a:ext uri="{FF2B5EF4-FFF2-40B4-BE49-F238E27FC236}">
                <a16:creationId xmlns:a16="http://schemas.microsoft.com/office/drawing/2014/main" id="{3313A407-2F21-48C9-A40A-8CF2780D2532}"/>
              </a:ext>
            </a:extLst>
          </p:cNvPr>
          <p:cNvPicPr>
            <a:picLocks noChangeAspect="1"/>
          </p:cNvPicPr>
          <p:nvPr/>
        </p:nvPicPr>
        <p:blipFill>
          <a:blip r:embed="rId4"/>
          <a:stretch>
            <a:fillRect/>
          </a:stretch>
        </p:blipFill>
        <p:spPr>
          <a:xfrm>
            <a:off x="7226089" y="3810040"/>
            <a:ext cx="3677163" cy="1619476"/>
          </a:xfrm>
          <a:prstGeom prst="rect">
            <a:avLst/>
          </a:prstGeom>
        </p:spPr>
      </p:pic>
      <p:sp>
        <p:nvSpPr>
          <p:cNvPr id="9" name="Textfeld 8">
            <a:extLst>
              <a:ext uri="{FF2B5EF4-FFF2-40B4-BE49-F238E27FC236}">
                <a16:creationId xmlns:a16="http://schemas.microsoft.com/office/drawing/2014/main" id="{F7CFECE3-D7EB-4500-AF08-9A8E416B5125}"/>
              </a:ext>
            </a:extLst>
          </p:cNvPr>
          <p:cNvSpPr txBox="1"/>
          <p:nvPr/>
        </p:nvSpPr>
        <p:spPr>
          <a:xfrm>
            <a:off x="6955452" y="5522618"/>
            <a:ext cx="4218437" cy="769441"/>
          </a:xfrm>
          <a:prstGeom prst="rect">
            <a:avLst/>
          </a:prstGeom>
          <a:noFill/>
        </p:spPr>
        <p:txBody>
          <a:bodyPr wrap="square" rtlCol="0">
            <a:spAutoFit/>
          </a:bodyPr>
          <a:lstStyle/>
          <a:p>
            <a:r>
              <a:rPr lang="en-US" sz="1100" dirty="0"/>
              <a:t>A diagram SHOULD be consistent in the use of the “X” internal indicator. That is, a diagram SHOULD NOT have some Gateways with an indicator and other Gateways without an indicator.</a:t>
            </a:r>
            <a:endParaRPr lang="de-DE" sz="1100" dirty="0"/>
          </a:p>
        </p:txBody>
      </p:sp>
    </p:spTree>
    <p:extLst>
      <p:ext uri="{BB962C8B-B14F-4D97-AF65-F5344CB8AC3E}">
        <p14:creationId xmlns:p14="http://schemas.microsoft.com/office/powerpoint/2010/main" val="35901852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3912E76-D1BC-4B10-A1C8-DCB8A2ACC291}"/>
              </a:ext>
            </a:extLst>
          </p:cNvPr>
          <p:cNvSpPr>
            <a:spLocks noGrp="1"/>
          </p:cNvSpPr>
          <p:nvPr>
            <p:ph type="title"/>
          </p:nvPr>
        </p:nvSpPr>
        <p:spPr>
          <a:xfrm>
            <a:off x="1676400" y="441315"/>
            <a:ext cx="4204447" cy="1581906"/>
          </a:xfrm>
        </p:spPr>
        <p:txBody>
          <a:bodyPr/>
          <a:lstStyle/>
          <a:p>
            <a:r>
              <a:rPr lang="de-DE" dirty="0"/>
              <a:t>Gateways</a:t>
            </a:r>
            <a:br>
              <a:rPr lang="de-DE" dirty="0"/>
            </a:br>
            <a:r>
              <a:rPr lang="de-DE" sz="2000" dirty="0"/>
              <a:t> </a:t>
            </a:r>
            <a:br>
              <a:rPr lang="de-DE" dirty="0"/>
            </a:br>
            <a:r>
              <a:rPr lang="de-DE" sz="2400" dirty="0"/>
              <a:t>„Non-</a:t>
            </a:r>
            <a:r>
              <a:rPr lang="de-DE" sz="2400" dirty="0" err="1"/>
              <a:t>exclusive</a:t>
            </a:r>
            <a:r>
              <a:rPr lang="de-DE" sz="2400" dirty="0"/>
              <a:t> Gateways“</a:t>
            </a:r>
            <a:br>
              <a:rPr lang="de-DE" sz="2400" dirty="0"/>
            </a:br>
            <a:r>
              <a:rPr lang="de-DE" sz="2400" dirty="0">
                <a:sym typeface="Wingdings" panose="05000000000000000000" pitchFamily="2" charset="2"/>
              </a:rPr>
              <a:t> Inclusive</a:t>
            </a:r>
            <a:endParaRPr lang="de-DE" dirty="0"/>
          </a:p>
        </p:txBody>
      </p:sp>
      <p:sp>
        <p:nvSpPr>
          <p:cNvPr id="3" name="Textplatzhalter 2">
            <a:extLst>
              <a:ext uri="{FF2B5EF4-FFF2-40B4-BE49-F238E27FC236}">
                <a16:creationId xmlns:a16="http://schemas.microsoft.com/office/drawing/2014/main" id="{618FC418-2425-4A99-9C3C-EECDF6920B40}"/>
              </a:ext>
            </a:extLst>
          </p:cNvPr>
          <p:cNvSpPr>
            <a:spLocks noGrp="1"/>
          </p:cNvSpPr>
          <p:nvPr>
            <p:ph type="body" sz="quarter" idx="11"/>
          </p:nvPr>
        </p:nvSpPr>
        <p:spPr/>
        <p:txBody>
          <a:bodyPr>
            <a:normAutofit/>
          </a:bodyPr>
          <a:lstStyle/>
          <a:p>
            <a:r>
              <a:rPr lang="en-US" sz="1600" dirty="0"/>
              <a:t>Unlike the Exclusive Gateway, all condition Expressions are evaluated. The true evaluation of one condition Expression does not exclude the evaluation of other condition Expressions. All Sequence Flows with a true evaluation will be traversed by a token. </a:t>
            </a:r>
          </a:p>
          <a:p>
            <a:r>
              <a:rPr lang="en-US" sz="1600" dirty="0"/>
              <a:t>A converging Inclusive Gateway is used to merge a combination of alternative and parallel paths. A control flow token arriving at an Inclusive Gateway MAY be synchronized with some other tokens that arrive later at this Gateway.</a:t>
            </a:r>
            <a:endParaRPr lang="de-DE" sz="1600" dirty="0"/>
          </a:p>
        </p:txBody>
      </p:sp>
      <p:pic>
        <p:nvPicPr>
          <p:cNvPr id="5" name="Grafik 4">
            <a:extLst>
              <a:ext uri="{FF2B5EF4-FFF2-40B4-BE49-F238E27FC236}">
                <a16:creationId xmlns:a16="http://schemas.microsoft.com/office/drawing/2014/main" id="{DEBB670A-FA4E-472D-BBD5-3A7ABD9C2A96}"/>
              </a:ext>
            </a:extLst>
          </p:cNvPr>
          <p:cNvPicPr>
            <a:picLocks noChangeAspect="1"/>
          </p:cNvPicPr>
          <p:nvPr/>
        </p:nvPicPr>
        <p:blipFill rotWithShape="1">
          <a:blip r:embed="rId2"/>
          <a:srcRect l="33312" r="37790"/>
          <a:stretch/>
        </p:blipFill>
        <p:spPr>
          <a:xfrm>
            <a:off x="7189694" y="1386727"/>
            <a:ext cx="1048871" cy="1362265"/>
          </a:xfrm>
          <a:prstGeom prst="rect">
            <a:avLst/>
          </a:prstGeom>
        </p:spPr>
      </p:pic>
      <p:pic>
        <p:nvPicPr>
          <p:cNvPr id="8" name="Grafik 7">
            <a:extLst>
              <a:ext uri="{FF2B5EF4-FFF2-40B4-BE49-F238E27FC236}">
                <a16:creationId xmlns:a16="http://schemas.microsoft.com/office/drawing/2014/main" id="{14E17CBA-A149-4657-BD32-58043C58E852}"/>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5885714" y="3065929"/>
            <a:ext cx="6022061" cy="1913848"/>
          </a:xfrm>
          <a:prstGeom prst="rect">
            <a:avLst/>
          </a:prstGeom>
        </p:spPr>
      </p:pic>
      <p:pic>
        <p:nvPicPr>
          <p:cNvPr id="7" name="Grafik 6">
            <a:extLst>
              <a:ext uri="{FF2B5EF4-FFF2-40B4-BE49-F238E27FC236}">
                <a16:creationId xmlns:a16="http://schemas.microsoft.com/office/drawing/2014/main" id="{6CBA2277-BA2E-45E2-8951-36F71C06C681}"/>
              </a:ext>
            </a:extLst>
          </p:cNvPr>
          <p:cNvPicPr>
            <a:picLocks noChangeAspect="1"/>
          </p:cNvPicPr>
          <p:nvPr/>
        </p:nvPicPr>
        <p:blipFill>
          <a:blip r:embed="rId4"/>
          <a:stretch>
            <a:fillRect/>
          </a:stretch>
        </p:blipFill>
        <p:spPr>
          <a:xfrm>
            <a:off x="8475418" y="1077435"/>
            <a:ext cx="2746825" cy="1581907"/>
          </a:xfrm>
          <a:prstGeom prst="rect">
            <a:avLst/>
          </a:prstGeom>
        </p:spPr>
      </p:pic>
    </p:spTree>
    <p:extLst>
      <p:ext uri="{BB962C8B-B14F-4D97-AF65-F5344CB8AC3E}">
        <p14:creationId xmlns:p14="http://schemas.microsoft.com/office/powerpoint/2010/main" val="21025253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3912E76-D1BC-4B10-A1C8-DCB8A2ACC291}"/>
              </a:ext>
            </a:extLst>
          </p:cNvPr>
          <p:cNvSpPr>
            <a:spLocks noGrp="1"/>
          </p:cNvSpPr>
          <p:nvPr>
            <p:ph type="title"/>
          </p:nvPr>
        </p:nvSpPr>
        <p:spPr>
          <a:xfrm>
            <a:off x="1676400" y="441315"/>
            <a:ext cx="4204447" cy="1581906"/>
          </a:xfrm>
        </p:spPr>
        <p:txBody>
          <a:bodyPr/>
          <a:lstStyle/>
          <a:p>
            <a:r>
              <a:rPr lang="de-DE" dirty="0"/>
              <a:t>Gateways</a:t>
            </a:r>
            <a:br>
              <a:rPr lang="de-DE" dirty="0"/>
            </a:br>
            <a:r>
              <a:rPr lang="de-DE" sz="2000" dirty="0"/>
              <a:t> </a:t>
            </a:r>
            <a:br>
              <a:rPr lang="de-DE" dirty="0"/>
            </a:br>
            <a:r>
              <a:rPr lang="de-DE" sz="2400" dirty="0"/>
              <a:t>„Non-</a:t>
            </a:r>
            <a:r>
              <a:rPr lang="de-DE" sz="2400" dirty="0" err="1"/>
              <a:t>exclusive</a:t>
            </a:r>
            <a:r>
              <a:rPr lang="de-DE" sz="2400" dirty="0"/>
              <a:t> Gateways“</a:t>
            </a:r>
            <a:br>
              <a:rPr lang="de-DE" sz="2400" dirty="0"/>
            </a:br>
            <a:r>
              <a:rPr lang="de-DE" sz="2400" dirty="0">
                <a:sym typeface="Wingdings" panose="05000000000000000000" pitchFamily="2" charset="2"/>
              </a:rPr>
              <a:t> Parallel</a:t>
            </a:r>
            <a:endParaRPr lang="de-DE" dirty="0"/>
          </a:p>
        </p:txBody>
      </p:sp>
      <p:sp>
        <p:nvSpPr>
          <p:cNvPr id="3" name="Textplatzhalter 2">
            <a:extLst>
              <a:ext uri="{FF2B5EF4-FFF2-40B4-BE49-F238E27FC236}">
                <a16:creationId xmlns:a16="http://schemas.microsoft.com/office/drawing/2014/main" id="{618FC418-2425-4A99-9C3C-EECDF6920B40}"/>
              </a:ext>
            </a:extLst>
          </p:cNvPr>
          <p:cNvSpPr>
            <a:spLocks noGrp="1"/>
          </p:cNvSpPr>
          <p:nvPr>
            <p:ph type="body" sz="quarter" idx="11"/>
          </p:nvPr>
        </p:nvSpPr>
        <p:spPr/>
        <p:txBody>
          <a:bodyPr>
            <a:normAutofit/>
          </a:bodyPr>
          <a:lstStyle/>
          <a:p>
            <a:r>
              <a:rPr lang="en-US" sz="1600" dirty="0"/>
              <a:t>A Parallel Gateway creates parallel paths without checking any conditions; each outgoing Sequence Flow receives a token upon execution of this Gateway.</a:t>
            </a:r>
          </a:p>
          <a:p>
            <a:r>
              <a:rPr lang="en-US" sz="1600" dirty="0"/>
              <a:t>For incoming flows, the Parallel Gateway will wait for all incoming flows before triggering the flow through its outgoing Sequence Flows.</a:t>
            </a:r>
            <a:endParaRPr lang="de-DE" sz="1600" dirty="0"/>
          </a:p>
        </p:txBody>
      </p:sp>
      <p:pic>
        <p:nvPicPr>
          <p:cNvPr id="5" name="Grafik 4">
            <a:extLst>
              <a:ext uri="{FF2B5EF4-FFF2-40B4-BE49-F238E27FC236}">
                <a16:creationId xmlns:a16="http://schemas.microsoft.com/office/drawing/2014/main" id="{DEBB670A-FA4E-472D-BBD5-3A7ABD9C2A96}"/>
              </a:ext>
            </a:extLst>
          </p:cNvPr>
          <p:cNvPicPr>
            <a:picLocks noChangeAspect="1"/>
          </p:cNvPicPr>
          <p:nvPr/>
        </p:nvPicPr>
        <p:blipFill rotWithShape="1">
          <a:blip r:embed="rId2"/>
          <a:srcRect l="33312" r="37790"/>
          <a:stretch/>
        </p:blipFill>
        <p:spPr>
          <a:xfrm>
            <a:off x="7189694" y="1386727"/>
            <a:ext cx="1048871" cy="1362265"/>
          </a:xfrm>
          <a:prstGeom prst="rect">
            <a:avLst/>
          </a:prstGeom>
        </p:spPr>
      </p:pic>
      <p:pic>
        <p:nvPicPr>
          <p:cNvPr id="6" name="Grafik 5">
            <a:extLst>
              <a:ext uri="{FF2B5EF4-FFF2-40B4-BE49-F238E27FC236}">
                <a16:creationId xmlns:a16="http://schemas.microsoft.com/office/drawing/2014/main" id="{9F58EFCC-F87B-468E-951D-ABC37B4D939B}"/>
              </a:ext>
            </a:extLst>
          </p:cNvPr>
          <p:cNvPicPr>
            <a:picLocks noChangeAspect="1"/>
          </p:cNvPicPr>
          <p:nvPr/>
        </p:nvPicPr>
        <p:blipFill>
          <a:blip r:embed="rId3"/>
          <a:stretch>
            <a:fillRect/>
          </a:stretch>
        </p:blipFill>
        <p:spPr>
          <a:xfrm>
            <a:off x="8462681" y="977153"/>
            <a:ext cx="2839740" cy="1682562"/>
          </a:xfrm>
          <a:prstGeom prst="rect">
            <a:avLst/>
          </a:prstGeom>
        </p:spPr>
      </p:pic>
      <p:pic>
        <p:nvPicPr>
          <p:cNvPr id="8" name="Grafik 7">
            <a:extLst>
              <a:ext uri="{FF2B5EF4-FFF2-40B4-BE49-F238E27FC236}">
                <a16:creationId xmlns:a16="http://schemas.microsoft.com/office/drawing/2014/main" id="{14E17CBA-A149-4657-BD32-58043C58E852}"/>
              </a:ext>
            </a:extLst>
          </p:cNvPr>
          <p:cNvPicPr>
            <a:picLocks noChangeAspect="1"/>
          </p:cNvPicPr>
          <p:nvPr/>
        </p:nvPicPr>
        <p:blipFill>
          <a:blip r:embed="rId4"/>
          <a:stretch>
            <a:fillRect/>
          </a:stretch>
        </p:blipFill>
        <p:spPr>
          <a:xfrm>
            <a:off x="5880847" y="3065929"/>
            <a:ext cx="6031796" cy="1913848"/>
          </a:xfrm>
          <a:prstGeom prst="rect">
            <a:avLst/>
          </a:prstGeom>
        </p:spPr>
      </p:pic>
    </p:spTree>
    <p:extLst>
      <p:ext uri="{BB962C8B-B14F-4D97-AF65-F5344CB8AC3E}">
        <p14:creationId xmlns:p14="http://schemas.microsoft.com/office/powerpoint/2010/main" val="14247495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3912E76-D1BC-4B10-A1C8-DCB8A2ACC291}"/>
              </a:ext>
            </a:extLst>
          </p:cNvPr>
          <p:cNvSpPr>
            <a:spLocks noGrp="1"/>
          </p:cNvSpPr>
          <p:nvPr>
            <p:ph type="title"/>
          </p:nvPr>
        </p:nvSpPr>
        <p:spPr>
          <a:xfrm>
            <a:off x="1676400" y="441315"/>
            <a:ext cx="4204447" cy="1581906"/>
          </a:xfrm>
        </p:spPr>
        <p:txBody>
          <a:bodyPr/>
          <a:lstStyle/>
          <a:p>
            <a:r>
              <a:rPr lang="de-DE" dirty="0"/>
              <a:t>Gateways</a:t>
            </a:r>
            <a:br>
              <a:rPr lang="de-DE" dirty="0"/>
            </a:br>
            <a:r>
              <a:rPr lang="de-DE" sz="2000" dirty="0"/>
              <a:t> </a:t>
            </a:r>
            <a:br>
              <a:rPr lang="de-DE" dirty="0"/>
            </a:br>
            <a:r>
              <a:rPr lang="de-DE" sz="2400" dirty="0"/>
              <a:t>„Non-</a:t>
            </a:r>
            <a:r>
              <a:rPr lang="de-DE" sz="2400" dirty="0" err="1"/>
              <a:t>exclusive</a:t>
            </a:r>
            <a:r>
              <a:rPr lang="de-DE" sz="2400" dirty="0"/>
              <a:t> Gateways“</a:t>
            </a:r>
            <a:br>
              <a:rPr lang="de-DE" sz="2400" dirty="0"/>
            </a:br>
            <a:r>
              <a:rPr lang="de-DE" sz="2400" dirty="0">
                <a:sym typeface="Wingdings" panose="05000000000000000000" pitchFamily="2" charset="2"/>
              </a:rPr>
              <a:t> </a:t>
            </a:r>
            <a:r>
              <a:rPr lang="de-DE" sz="2400" dirty="0" err="1">
                <a:sym typeface="Wingdings" panose="05000000000000000000" pitchFamily="2" charset="2"/>
              </a:rPr>
              <a:t>Complex</a:t>
            </a:r>
            <a:endParaRPr lang="de-DE" dirty="0"/>
          </a:p>
        </p:txBody>
      </p:sp>
      <p:sp>
        <p:nvSpPr>
          <p:cNvPr id="3" name="Textplatzhalter 2">
            <a:extLst>
              <a:ext uri="{FF2B5EF4-FFF2-40B4-BE49-F238E27FC236}">
                <a16:creationId xmlns:a16="http://schemas.microsoft.com/office/drawing/2014/main" id="{618FC418-2425-4A99-9C3C-EECDF6920B40}"/>
              </a:ext>
            </a:extLst>
          </p:cNvPr>
          <p:cNvSpPr>
            <a:spLocks noGrp="1"/>
          </p:cNvSpPr>
          <p:nvPr>
            <p:ph type="body" sz="quarter" idx="11"/>
          </p:nvPr>
        </p:nvSpPr>
        <p:spPr/>
        <p:txBody>
          <a:bodyPr>
            <a:normAutofit/>
          </a:bodyPr>
          <a:lstStyle/>
          <a:p>
            <a:r>
              <a:rPr lang="en-US" sz="1600" dirty="0"/>
              <a:t>The Complex Gateway can be used to model complex synchronization behavior. For example, this Expression could specify that tokens on three out of five incoming Sequence Flows are needed to activate the Gateway.</a:t>
            </a:r>
          </a:p>
          <a:p>
            <a:r>
              <a:rPr lang="en-US" sz="1600" dirty="0"/>
              <a:t>In the given example, the gateway requests from all roommates to provide their delivery order by 6:30 pm. The minimum threshold for the process to continue is one. This translates to:</a:t>
            </a:r>
          </a:p>
          <a:p>
            <a:r>
              <a:rPr lang="en-US" sz="1600" dirty="0"/>
              <a:t>If at least one delivery order has been received by 6:30, the process will continue, regardless if the others have arrived or not. If the orders are provided after 6:30, the gateway will reset.</a:t>
            </a:r>
            <a:endParaRPr lang="de-DE" sz="1600" dirty="0"/>
          </a:p>
        </p:txBody>
      </p:sp>
      <p:pic>
        <p:nvPicPr>
          <p:cNvPr id="5" name="Grafik 4">
            <a:extLst>
              <a:ext uri="{FF2B5EF4-FFF2-40B4-BE49-F238E27FC236}">
                <a16:creationId xmlns:a16="http://schemas.microsoft.com/office/drawing/2014/main" id="{DEBB670A-FA4E-472D-BBD5-3A7ABD9C2A96}"/>
              </a:ext>
            </a:extLst>
          </p:cNvPr>
          <p:cNvPicPr>
            <a:picLocks noChangeAspect="1"/>
          </p:cNvPicPr>
          <p:nvPr/>
        </p:nvPicPr>
        <p:blipFill rotWithShape="1">
          <a:blip r:embed="rId2"/>
          <a:srcRect l="33312" r="37790"/>
          <a:stretch/>
        </p:blipFill>
        <p:spPr>
          <a:xfrm>
            <a:off x="7189694" y="1386727"/>
            <a:ext cx="1048871" cy="1362265"/>
          </a:xfrm>
          <a:prstGeom prst="rect">
            <a:avLst/>
          </a:prstGeom>
        </p:spPr>
      </p:pic>
      <p:pic>
        <p:nvPicPr>
          <p:cNvPr id="6" name="Grafik 5">
            <a:extLst>
              <a:ext uri="{FF2B5EF4-FFF2-40B4-BE49-F238E27FC236}">
                <a16:creationId xmlns:a16="http://schemas.microsoft.com/office/drawing/2014/main" id="{9F58EFCC-F87B-468E-951D-ABC37B4D939B}"/>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8497108" y="977153"/>
            <a:ext cx="2770885" cy="1682562"/>
          </a:xfrm>
          <a:prstGeom prst="rect">
            <a:avLst/>
          </a:prstGeom>
        </p:spPr>
      </p:pic>
      <p:pic>
        <p:nvPicPr>
          <p:cNvPr id="8" name="Grafik 7">
            <a:extLst>
              <a:ext uri="{FF2B5EF4-FFF2-40B4-BE49-F238E27FC236}">
                <a16:creationId xmlns:a16="http://schemas.microsoft.com/office/drawing/2014/main" id="{14E17CBA-A149-4657-BD32-58043C58E852}"/>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5907911" y="3065929"/>
            <a:ext cx="5977668" cy="1913848"/>
          </a:xfrm>
          <a:prstGeom prst="rect">
            <a:avLst/>
          </a:prstGeom>
        </p:spPr>
      </p:pic>
    </p:spTree>
    <p:extLst>
      <p:ext uri="{BB962C8B-B14F-4D97-AF65-F5344CB8AC3E}">
        <p14:creationId xmlns:p14="http://schemas.microsoft.com/office/powerpoint/2010/main" val="10820679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3912E76-D1BC-4B10-A1C8-DCB8A2ACC291}"/>
              </a:ext>
            </a:extLst>
          </p:cNvPr>
          <p:cNvSpPr>
            <a:spLocks noGrp="1"/>
          </p:cNvSpPr>
          <p:nvPr>
            <p:ph type="title"/>
          </p:nvPr>
        </p:nvSpPr>
        <p:spPr>
          <a:xfrm>
            <a:off x="1676400" y="441315"/>
            <a:ext cx="4080933" cy="1581906"/>
          </a:xfrm>
        </p:spPr>
        <p:txBody>
          <a:bodyPr/>
          <a:lstStyle/>
          <a:p>
            <a:r>
              <a:rPr lang="de-DE" dirty="0"/>
              <a:t>Gateways</a:t>
            </a:r>
            <a:br>
              <a:rPr lang="de-DE" dirty="0"/>
            </a:br>
            <a:r>
              <a:rPr lang="de-DE" sz="2000" dirty="0"/>
              <a:t> </a:t>
            </a:r>
            <a:br>
              <a:rPr lang="de-DE" dirty="0"/>
            </a:br>
            <a:r>
              <a:rPr lang="de-DE" sz="2400" dirty="0"/>
              <a:t>„Non-</a:t>
            </a:r>
            <a:r>
              <a:rPr lang="de-DE" sz="2400" dirty="0" err="1"/>
              <a:t>exclusive</a:t>
            </a:r>
            <a:r>
              <a:rPr lang="de-DE" sz="2400" dirty="0"/>
              <a:t> Gateways (</a:t>
            </a:r>
            <a:r>
              <a:rPr lang="de-DE" sz="2400" dirty="0" err="1"/>
              <a:t>converging</a:t>
            </a:r>
            <a:r>
              <a:rPr lang="de-DE" sz="2400" dirty="0"/>
              <a:t>) “</a:t>
            </a:r>
            <a:endParaRPr lang="de-DE" dirty="0"/>
          </a:p>
        </p:txBody>
      </p:sp>
      <p:sp>
        <p:nvSpPr>
          <p:cNvPr id="3" name="Textplatzhalter 2">
            <a:extLst>
              <a:ext uri="{FF2B5EF4-FFF2-40B4-BE49-F238E27FC236}">
                <a16:creationId xmlns:a16="http://schemas.microsoft.com/office/drawing/2014/main" id="{618FC418-2425-4A99-9C3C-EECDF6920B40}"/>
              </a:ext>
            </a:extLst>
          </p:cNvPr>
          <p:cNvSpPr>
            <a:spLocks noGrp="1"/>
          </p:cNvSpPr>
          <p:nvPr>
            <p:ph type="body" sz="quarter" idx="11"/>
          </p:nvPr>
        </p:nvSpPr>
        <p:spPr>
          <a:xfrm>
            <a:off x="1676400" y="2023221"/>
            <a:ext cx="4993341" cy="4496165"/>
          </a:xfrm>
        </p:spPr>
        <p:txBody>
          <a:bodyPr>
            <a:normAutofit/>
          </a:bodyPr>
          <a:lstStyle/>
          <a:p>
            <a:r>
              <a:rPr lang="en-US" sz="1600" dirty="0"/>
              <a:t>Converging: These Gateways MAY have multiple incoming Sequence Flows but MUST have no more than one (1) outgoing Sequence Flow</a:t>
            </a:r>
          </a:p>
          <a:p>
            <a:pPr marL="285750" indent="-285750">
              <a:buFont typeface="Arial" panose="020B0604020202020204" pitchFamily="34" charset="0"/>
              <a:buChar char="•"/>
            </a:pPr>
            <a:r>
              <a:rPr lang="en-US" sz="1600" dirty="0"/>
              <a:t>Converging Gateways are used to bring previously diverged paths back together</a:t>
            </a:r>
          </a:p>
          <a:p>
            <a:pPr marL="285750" indent="-285750">
              <a:buFont typeface="Arial" panose="020B0604020202020204" pitchFamily="34" charset="0"/>
              <a:buChar char="•"/>
            </a:pPr>
            <a:r>
              <a:rPr lang="en-US" sz="1600" dirty="0"/>
              <a:t>Depending on the Gateway and the synchronization parameters, different simulation behavior can be represented</a:t>
            </a:r>
          </a:p>
          <a:p>
            <a:pPr marL="285750" indent="-285750">
              <a:buFont typeface="Arial" panose="020B0604020202020204" pitchFamily="34" charset="0"/>
              <a:buChar char="•"/>
            </a:pPr>
            <a:r>
              <a:rPr lang="en-US" sz="1600" dirty="0"/>
              <a:t>Converging Gateways can be:</a:t>
            </a:r>
          </a:p>
          <a:p>
            <a:pPr marL="720000" lvl="1" indent="-285750">
              <a:buFont typeface="Arial" panose="020B0604020202020204" pitchFamily="34" charset="0"/>
              <a:buChar char="•"/>
            </a:pPr>
            <a:r>
              <a:rPr lang="en-US" sz="1400" dirty="0">
                <a:solidFill>
                  <a:srgbClr val="003399"/>
                </a:solidFill>
              </a:rPr>
              <a:t>Inclusive</a:t>
            </a:r>
          </a:p>
          <a:p>
            <a:pPr marL="720000" lvl="1" indent="-285750">
              <a:buFont typeface="Arial" panose="020B0604020202020204" pitchFamily="34" charset="0"/>
              <a:buChar char="•"/>
            </a:pPr>
            <a:r>
              <a:rPr lang="en-US" sz="1400" dirty="0">
                <a:solidFill>
                  <a:srgbClr val="003399"/>
                </a:solidFill>
              </a:rPr>
              <a:t>Parallel</a:t>
            </a:r>
          </a:p>
          <a:p>
            <a:pPr marL="720000" lvl="1" indent="-285750">
              <a:buFont typeface="Arial" panose="020B0604020202020204" pitchFamily="34" charset="0"/>
              <a:buChar char="•"/>
            </a:pPr>
            <a:r>
              <a:rPr lang="en-US" sz="1400" dirty="0">
                <a:solidFill>
                  <a:srgbClr val="003399"/>
                </a:solidFill>
              </a:rPr>
              <a:t>Complex</a:t>
            </a:r>
            <a:endParaRPr lang="de-DE" sz="1400" dirty="0">
              <a:solidFill>
                <a:srgbClr val="003399"/>
              </a:solidFill>
            </a:endParaRPr>
          </a:p>
        </p:txBody>
      </p:sp>
      <p:pic>
        <p:nvPicPr>
          <p:cNvPr id="6" name="Grafik 5">
            <a:extLst>
              <a:ext uri="{FF2B5EF4-FFF2-40B4-BE49-F238E27FC236}">
                <a16:creationId xmlns:a16="http://schemas.microsoft.com/office/drawing/2014/main" id="{2DB45A8E-616A-456F-9A33-54A14DF425DB}"/>
              </a:ext>
            </a:extLst>
          </p:cNvPr>
          <p:cNvPicPr>
            <a:picLocks noChangeAspect="1"/>
          </p:cNvPicPr>
          <p:nvPr/>
        </p:nvPicPr>
        <p:blipFill>
          <a:blip r:embed="rId2"/>
          <a:stretch>
            <a:fillRect/>
          </a:stretch>
        </p:blipFill>
        <p:spPr>
          <a:xfrm>
            <a:off x="6992474" y="558881"/>
            <a:ext cx="4423729" cy="1800000"/>
          </a:xfrm>
          <a:prstGeom prst="rect">
            <a:avLst/>
          </a:prstGeom>
        </p:spPr>
      </p:pic>
      <p:pic>
        <p:nvPicPr>
          <p:cNvPr id="8" name="Grafik 7">
            <a:extLst>
              <a:ext uri="{FF2B5EF4-FFF2-40B4-BE49-F238E27FC236}">
                <a16:creationId xmlns:a16="http://schemas.microsoft.com/office/drawing/2014/main" id="{7D33A8B3-3649-4042-98C0-F9C5A7EBD27A}"/>
              </a:ext>
            </a:extLst>
          </p:cNvPr>
          <p:cNvPicPr>
            <a:picLocks noChangeAspect="1"/>
          </p:cNvPicPr>
          <p:nvPr/>
        </p:nvPicPr>
        <p:blipFill>
          <a:blip r:embed="rId3"/>
          <a:stretch>
            <a:fillRect/>
          </a:stretch>
        </p:blipFill>
        <p:spPr>
          <a:xfrm>
            <a:off x="7091812" y="2518397"/>
            <a:ext cx="4324391" cy="1800000"/>
          </a:xfrm>
          <a:prstGeom prst="rect">
            <a:avLst/>
          </a:prstGeom>
        </p:spPr>
      </p:pic>
      <p:pic>
        <p:nvPicPr>
          <p:cNvPr id="10" name="Grafik 9">
            <a:extLst>
              <a:ext uri="{FF2B5EF4-FFF2-40B4-BE49-F238E27FC236}">
                <a16:creationId xmlns:a16="http://schemas.microsoft.com/office/drawing/2014/main" id="{500812CC-53D3-4572-A45F-3E5E3C5D8D28}"/>
              </a:ext>
            </a:extLst>
          </p:cNvPr>
          <p:cNvPicPr>
            <a:picLocks noChangeAspect="1"/>
          </p:cNvPicPr>
          <p:nvPr/>
        </p:nvPicPr>
        <p:blipFill>
          <a:blip r:embed="rId4"/>
          <a:stretch>
            <a:fillRect/>
          </a:stretch>
        </p:blipFill>
        <p:spPr>
          <a:xfrm>
            <a:off x="7040472" y="4477912"/>
            <a:ext cx="4375731" cy="1800000"/>
          </a:xfrm>
          <a:prstGeom prst="rect">
            <a:avLst/>
          </a:prstGeom>
        </p:spPr>
      </p:pic>
    </p:spTree>
    <p:extLst>
      <p:ext uri="{BB962C8B-B14F-4D97-AF65-F5344CB8AC3E}">
        <p14:creationId xmlns:p14="http://schemas.microsoft.com/office/powerpoint/2010/main" val="38689622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3912E76-D1BC-4B10-A1C8-DCB8A2ACC291}"/>
              </a:ext>
            </a:extLst>
          </p:cNvPr>
          <p:cNvSpPr>
            <a:spLocks noGrp="1"/>
          </p:cNvSpPr>
          <p:nvPr>
            <p:ph type="title"/>
          </p:nvPr>
        </p:nvSpPr>
        <p:spPr>
          <a:xfrm>
            <a:off x="1676400" y="441315"/>
            <a:ext cx="4080933" cy="1581906"/>
          </a:xfrm>
        </p:spPr>
        <p:txBody>
          <a:bodyPr/>
          <a:lstStyle/>
          <a:p>
            <a:r>
              <a:rPr lang="de-DE" dirty="0"/>
              <a:t>Gateways</a:t>
            </a:r>
            <a:br>
              <a:rPr lang="de-DE" dirty="0"/>
            </a:br>
            <a:r>
              <a:rPr lang="de-DE" sz="2000" dirty="0"/>
              <a:t> </a:t>
            </a:r>
            <a:br>
              <a:rPr lang="de-DE" dirty="0"/>
            </a:br>
            <a:r>
              <a:rPr lang="de-DE" sz="2400" dirty="0"/>
              <a:t>„Non-</a:t>
            </a:r>
            <a:r>
              <a:rPr lang="de-DE" sz="2400" dirty="0" err="1"/>
              <a:t>exclusive</a:t>
            </a:r>
            <a:r>
              <a:rPr lang="de-DE" sz="2400" dirty="0"/>
              <a:t> Gateways (</a:t>
            </a:r>
            <a:r>
              <a:rPr lang="de-DE" sz="2400" dirty="0" err="1"/>
              <a:t>converging</a:t>
            </a:r>
            <a:r>
              <a:rPr lang="de-DE" sz="2400" dirty="0"/>
              <a:t>) “</a:t>
            </a:r>
            <a:endParaRPr lang="de-DE" dirty="0"/>
          </a:p>
        </p:txBody>
      </p:sp>
      <p:sp>
        <p:nvSpPr>
          <p:cNvPr id="3" name="Textplatzhalter 2">
            <a:extLst>
              <a:ext uri="{FF2B5EF4-FFF2-40B4-BE49-F238E27FC236}">
                <a16:creationId xmlns:a16="http://schemas.microsoft.com/office/drawing/2014/main" id="{618FC418-2425-4A99-9C3C-EECDF6920B40}"/>
              </a:ext>
            </a:extLst>
          </p:cNvPr>
          <p:cNvSpPr>
            <a:spLocks noGrp="1"/>
          </p:cNvSpPr>
          <p:nvPr>
            <p:ph type="body" sz="quarter" idx="11"/>
          </p:nvPr>
        </p:nvSpPr>
        <p:spPr>
          <a:xfrm>
            <a:off x="1676400" y="2023221"/>
            <a:ext cx="4993341" cy="4496165"/>
          </a:xfrm>
        </p:spPr>
        <p:txBody>
          <a:bodyPr>
            <a:normAutofit/>
          </a:bodyPr>
          <a:lstStyle/>
          <a:p>
            <a:r>
              <a:rPr lang="en-US" sz="1600" dirty="0"/>
              <a:t>Converging: These Gateways MAY have multiple incoming Sequence Flows but MUST have no more than one (1) outgoing Sequence Flow</a:t>
            </a:r>
          </a:p>
          <a:p>
            <a:pPr marL="285750" indent="-285750">
              <a:buFont typeface="Arial" panose="020B0604020202020204" pitchFamily="34" charset="0"/>
              <a:buChar char="•"/>
            </a:pPr>
            <a:r>
              <a:rPr lang="en-US" sz="1600" dirty="0"/>
              <a:t>A converging </a:t>
            </a:r>
            <a:r>
              <a:rPr lang="en-US" sz="1600" i="1" dirty="0"/>
              <a:t>Inclusive Gateway </a:t>
            </a:r>
            <a:r>
              <a:rPr lang="en-US" sz="1600" dirty="0"/>
              <a:t>is used to merge a combination of alternative and parallel paths. A control flow token arriving at an Inclusive Gateway MAY be synchronized with some other tokens that arrive later at this Gateway.</a:t>
            </a:r>
          </a:p>
          <a:p>
            <a:pPr marL="285750" indent="-285750">
              <a:buFont typeface="Arial" panose="020B0604020202020204" pitchFamily="34" charset="0"/>
              <a:buChar char="•"/>
            </a:pPr>
            <a:r>
              <a:rPr lang="en-US" sz="1600" dirty="0"/>
              <a:t>A converging </a:t>
            </a:r>
            <a:r>
              <a:rPr lang="en-US" sz="1600" i="1" dirty="0"/>
              <a:t>Parallel Gateway </a:t>
            </a:r>
            <a:r>
              <a:rPr lang="en-US" sz="1600" dirty="0"/>
              <a:t>is used to synchronize (combine) parallel flows.</a:t>
            </a:r>
          </a:p>
          <a:p>
            <a:pPr marL="285750" indent="-285750">
              <a:buFont typeface="Arial" panose="020B0604020202020204" pitchFamily="34" charset="0"/>
              <a:buChar char="•"/>
            </a:pPr>
            <a:r>
              <a:rPr lang="en-US" sz="1600" dirty="0"/>
              <a:t>A converging </a:t>
            </a:r>
            <a:r>
              <a:rPr lang="en-US" sz="1600" i="1" dirty="0" err="1"/>
              <a:t>Compley</a:t>
            </a:r>
            <a:r>
              <a:rPr lang="en-US" sz="1600" i="1" dirty="0"/>
              <a:t> Gateway </a:t>
            </a:r>
            <a:r>
              <a:rPr lang="en-US" sz="1600" dirty="0"/>
              <a:t>uses the semantics of an Inclusive Gateway to determine whether it needs to wait for additional tokens</a:t>
            </a:r>
            <a:endParaRPr lang="de-DE" sz="2000" dirty="0"/>
          </a:p>
        </p:txBody>
      </p:sp>
      <p:pic>
        <p:nvPicPr>
          <p:cNvPr id="6" name="Grafik 5">
            <a:extLst>
              <a:ext uri="{FF2B5EF4-FFF2-40B4-BE49-F238E27FC236}">
                <a16:creationId xmlns:a16="http://schemas.microsoft.com/office/drawing/2014/main" id="{2DB45A8E-616A-456F-9A33-54A14DF425DB}"/>
              </a:ext>
            </a:extLst>
          </p:cNvPr>
          <p:cNvPicPr>
            <a:picLocks noChangeAspect="1"/>
          </p:cNvPicPr>
          <p:nvPr/>
        </p:nvPicPr>
        <p:blipFill>
          <a:blip r:embed="rId2"/>
          <a:stretch>
            <a:fillRect/>
          </a:stretch>
        </p:blipFill>
        <p:spPr>
          <a:xfrm>
            <a:off x="6992474" y="558881"/>
            <a:ext cx="4423729" cy="1800000"/>
          </a:xfrm>
          <a:prstGeom prst="rect">
            <a:avLst/>
          </a:prstGeom>
        </p:spPr>
      </p:pic>
      <p:pic>
        <p:nvPicPr>
          <p:cNvPr id="8" name="Grafik 7">
            <a:extLst>
              <a:ext uri="{FF2B5EF4-FFF2-40B4-BE49-F238E27FC236}">
                <a16:creationId xmlns:a16="http://schemas.microsoft.com/office/drawing/2014/main" id="{7D33A8B3-3649-4042-98C0-F9C5A7EBD27A}"/>
              </a:ext>
            </a:extLst>
          </p:cNvPr>
          <p:cNvPicPr>
            <a:picLocks noChangeAspect="1"/>
          </p:cNvPicPr>
          <p:nvPr/>
        </p:nvPicPr>
        <p:blipFill>
          <a:blip r:embed="rId3"/>
          <a:stretch>
            <a:fillRect/>
          </a:stretch>
        </p:blipFill>
        <p:spPr>
          <a:xfrm>
            <a:off x="7091812" y="2518397"/>
            <a:ext cx="4324391" cy="1800000"/>
          </a:xfrm>
          <a:prstGeom prst="rect">
            <a:avLst/>
          </a:prstGeom>
        </p:spPr>
      </p:pic>
      <p:pic>
        <p:nvPicPr>
          <p:cNvPr id="10" name="Grafik 9">
            <a:extLst>
              <a:ext uri="{FF2B5EF4-FFF2-40B4-BE49-F238E27FC236}">
                <a16:creationId xmlns:a16="http://schemas.microsoft.com/office/drawing/2014/main" id="{500812CC-53D3-4572-A45F-3E5E3C5D8D28}"/>
              </a:ext>
            </a:extLst>
          </p:cNvPr>
          <p:cNvPicPr>
            <a:picLocks noChangeAspect="1"/>
          </p:cNvPicPr>
          <p:nvPr/>
        </p:nvPicPr>
        <p:blipFill>
          <a:blip r:embed="rId4"/>
          <a:stretch>
            <a:fillRect/>
          </a:stretch>
        </p:blipFill>
        <p:spPr>
          <a:xfrm>
            <a:off x="7040472" y="4477912"/>
            <a:ext cx="4375731" cy="1800000"/>
          </a:xfrm>
          <a:prstGeom prst="rect">
            <a:avLst/>
          </a:prstGeom>
        </p:spPr>
      </p:pic>
    </p:spTree>
    <p:extLst>
      <p:ext uri="{BB962C8B-B14F-4D97-AF65-F5344CB8AC3E}">
        <p14:creationId xmlns:p14="http://schemas.microsoft.com/office/powerpoint/2010/main" val="259613779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84F7763-4762-4392-93E6-6D92BE3DA3B4}"/>
              </a:ext>
            </a:extLst>
          </p:cNvPr>
          <p:cNvSpPr>
            <a:spLocks noGrp="1"/>
          </p:cNvSpPr>
          <p:nvPr>
            <p:ph type="title"/>
          </p:nvPr>
        </p:nvSpPr>
        <p:spPr/>
        <p:txBody>
          <a:bodyPr/>
          <a:lstStyle/>
          <a:p>
            <a:r>
              <a:rPr lang="de-DE" dirty="0"/>
              <a:t>Simulation</a:t>
            </a:r>
            <a:br>
              <a:rPr lang="de-DE" dirty="0"/>
            </a:br>
            <a:r>
              <a:rPr lang="de-DE" sz="1800" dirty="0"/>
              <a:t> </a:t>
            </a:r>
            <a:br>
              <a:rPr lang="de-DE" dirty="0"/>
            </a:br>
            <a:r>
              <a:rPr lang="de-DE" sz="2000" dirty="0"/>
              <a:t>Can </a:t>
            </a:r>
            <a:r>
              <a:rPr lang="de-DE" sz="2000" dirty="0" err="1"/>
              <a:t>help</a:t>
            </a:r>
            <a:r>
              <a:rPr lang="de-DE" sz="2000" dirty="0"/>
              <a:t> </a:t>
            </a:r>
            <a:r>
              <a:rPr lang="de-DE" sz="2000" dirty="0" err="1"/>
              <a:t>to</a:t>
            </a:r>
            <a:r>
              <a:rPr lang="de-DE" sz="2000" dirty="0"/>
              <a:t> </a:t>
            </a:r>
            <a:r>
              <a:rPr lang="de-DE" sz="2000" dirty="0" err="1"/>
              <a:t>answer</a:t>
            </a:r>
            <a:r>
              <a:rPr lang="de-DE" sz="2000" dirty="0"/>
              <a:t> </a:t>
            </a:r>
            <a:r>
              <a:rPr lang="de-DE" sz="2000" dirty="0" err="1"/>
              <a:t>the</a:t>
            </a:r>
            <a:r>
              <a:rPr lang="de-DE" sz="2000" dirty="0"/>
              <a:t> </a:t>
            </a:r>
            <a:r>
              <a:rPr lang="de-DE" sz="2000" dirty="0" err="1"/>
              <a:t>following</a:t>
            </a:r>
            <a:r>
              <a:rPr lang="de-DE" sz="2000" dirty="0"/>
              <a:t> </a:t>
            </a:r>
            <a:r>
              <a:rPr lang="de-DE" sz="2000" dirty="0" err="1"/>
              <a:t>questions</a:t>
            </a:r>
            <a:r>
              <a:rPr lang="de-DE" sz="2000" dirty="0"/>
              <a:t>:</a:t>
            </a:r>
            <a:endParaRPr lang="de-DE" dirty="0"/>
          </a:p>
        </p:txBody>
      </p:sp>
      <p:sp>
        <p:nvSpPr>
          <p:cNvPr id="3" name="Textplatzhalter 2">
            <a:extLst>
              <a:ext uri="{FF2B5EF4-FFF2-40B4-BE49-F238E27FC236}">
                <a16:creationId xmlns:a16="http://schemas.microsoft.com/office/drawing/2014/main" id="{A571CDFA-9B8A-4C90-88DB-0826819DC469}"/>
              </a:ext>
            </a:extLst>
          </p:cNvPr>
          <p:cNvSpPr>
            <a:spLocks noGrp="1"/>
          </p:cNvSpPr>
          <p:nvPr>
            <p:ph type="body" sz="quarter" idx="11"/>
          </p:nvPr>
        </p:nvSpPr>
        <p:spPr/>
        <p:txBody>
          <a:bodyPr/>
          <a:lstStyle/>
          <a:p>
            <a:pPr marL="342900" indent="-342900">
              <a:buFontTx/>
              <a:buChar char="-"/>
            </a:pPr>
            <a:r>
              <a:rPr lang="de-DE" dirty="0" err="1"/>
              <a:t>How</a:t>
            </a:r>
            <a:r>
              <a:rPr lang="de-DE" dirty="0"/>
              <a:t> </a:t>
            </a:r>
            <a:r>
              <a:rPr lang="de-DE" dirty="0" err="1"/>
              <a:t>long</a:t>
            </a:r>
            <a:r>
              <a:rPr lang="de-DE" dirty="0"/>
              <a:t> </a:t>
            </a:r>
            <a:r>
              <a:rPr lang="de-DE" dirty="0" err="1"/>
              <a:t>does</a:t>
            </a:r>
            <a:r>
              <a:rPr lang="de-DE" dirty="0"/>
              <a:t> a </a:t>
            </a:r>
            <a:r>
              <a:rPr lang="de-DE" dirty="0" err="1"/>
              <a:t>process</a:t>
            </a:r>
            <a:r>
              <a:rPr lang="de-DE" dirty="0"/>
              <a:t> </a:t>
            </a:r>
            <a:r>
              <a:rPr lang="de-DE" dirty="0" err="1"/>
              <a:t>take</a:t>
            </a:r>
            <a:r>
              <a:rPr lang="de-DE" dirty="0"/>
              <a:t> on </a:t>
            </a:r>
            <a:r>
              <a:rPr lang="de-DE" dirty="0" err="1"/>
              <a:t>average</a:t>
            </a:r>
            <a:r>
              <a:rPr lang="de-DE" dirty="0"/>
              <a:t>?</a:t>
            </a:r>
          </a:p>
          <a:p>
            <a:pPr marL="342900" indent="-342900">
              <a:buFontTx/>
              <a:buChar char="-"/>
            </a:pPr>
            <a:r>
              <a:rPr lang="de-DE" dirty="0" err="1"/>
              <a:t>What</a:t>
            </a:r>
            <a:r>
              <a:rPr lang="de-DE" dirty="0"/>
              <a:t> </a:t>
            </a:r>
            <a:r>
              <a:rPr lang="de-DE" dirty="0" err="1"/>
              <a:t>is</a:t>
            </a:r>
            <a:r>
              <a:rPr lang="de-DE" dirty="0"/>
              <a:t> </a:t>
            </a:r>
            <a:r>
              <a:rPr lang="de-DE" dirty="0" err="1"/>
              <a:t>the</a:t>
            </a:r>
            <a:r>
              <a:rPr lang="de-DE" dirty="0"/>
              <a:t> </a:t>
            </a:r>
            <a:r>
              <a:rPr lang="de-DE" dirty="0" err="1"/>
              <a:t>capacity</a:t>
            </a:r>
            <a:r>
              <a:rPr lang="de-DE" dirty="0"/>
              <a:t> </a:t>
            </a:r>
            <a:r>
              <a:rPr lang="de-DE" dirty="0" err="1"/>
              <a:t>utilization</a:t>
            </a:r>
            <a:r>
              <a:rPr lang="de-DE" dirty="0"/>
              <a:t> </a:t>
            </a:r>
            <a:r>
              <a:rPr lang="de-DE" dirty="0" err="1"/>
              <a:t>of</a:t>
            </a:r>
            <a:r>
              <a:rPr lang="de-DE" dirty="0"/>
              <a:t> </a:t>
            </a:r>
            <a:r>
              <a:rPr lang="de-DE" dirty="0" err="1"/>
              <a:t>the</a:t>
            </a:r>
            <a:r>
              <a:rPr lang="de-DE" dirty="0"/>
              <a:t> </a:t>
            </a:r>
            <a:r>
              <a:rPr lang="de-DE" dirty="0" err="1"/>
              <a:t>resources</a:t>
            </a:r>
            <a:r>
              <a:rPr lang="de-DE" dirty="0"/>
              <a:t>?</a:t>
            </a:r>
          </a:p>
          <a:p>
            <a:pPr marL="342900" indent="-342900">
              <a:buFontTx/>
              <a:buChar char="-"/>
            </a:pPr>
            <a:r>
              <a:rPr lang="de-DE" dirty="0" err="1"/>
              <a:t>What</a:t>
            </a:r>
            <a:r>
              <a:rPr lang="de-DE" dirty="0"/>
              <a:t> </a:t>
            </a:r>
            <a:r>
              <a:rPr lang="de-DE" dirty="0" err="1"/>
              <a:t>happens</a:t>
            </a:r>
            <a:r>
              <a:rPr lang="de-DE" dirty="0"/>
              <a:t> </a:t>
            </a:r>
            <a:r>
              <a:rPr lang="de-DE" dirty="0" err="1"/>
              <a:t>if</a:t>
            </a:r>
            <a:r>
              <a:rPr lang="de-DE" dirty="0"/>
              <a:t> </a:t>
            </a:r>
            <a:r>
              <a:rPr lang="de-DE" dirty="0" err="1"/>
              <a:t>we</a:t>
            </a:r>
            <a:r>
              <a:rPr lang="de-DE" dirty="0"/>
              <a:t> </a:t>
            </a:r>
            <a:r>
              <a:rPr lang="de-DE" dirty="0" err="1"/>
              <a:t>increase</a:t>
            </a:r>
            <a:r>
              <a:rPr lang="de-DE" dirty="0"/>
              <a:t> </a:t>
            </a:r>
            <a:r>
              <a:rPr lang="de-DE" dirty="0" err="1"/>
              <a:t>the</a:t>
            </a:r>
            <a:r>
              <a:rPr lang="de-DE" dirty="0"/>
              <a:t> </a:t>
            </a:r>
            <a:r>
              <a:rPr lang="de-DE" dirty="0" err="1"/>
              <a:t>process</a:t>
            </a:r>
            <a:r>
              <a:rPr lang="de-DE" dirty="0"/>
              <a:t> </a:t>
            </a:r>
            <a:r>
              <a:rPr lang="de-DE" dirty="0" err="1"/>
              <a:t>throughput</a:t>
            </a:r>
            <a:r>
              <a:rPr lang="de-DE" dirty="0"/>
              <a:t> </a:t>
            </a:r>
            <a:r>
              <a:rPr lang="de-DE" dirty="0" err="1"/>
              <a:t>by</a:t>
            </a:r>
            <a:r>
              <a:rPr lang="de-DE" dirty="0"/>
              <a:t> X%?</a:t>
            </a:r>
          </a:p>
          <a:p>
            <a:pPr marL="342900" indent="-342900">
              <a:buFontTx/>
              <a:buChar char="-"/>
            </a:pPr>
            <a:r>
              <a:rPr lang="de-DE" dirty="0" err="1"/>
              <a:t>Where</a:t>
            </a:r>
            <a:r>
              <a:rPr lang="de-DE" dirty="0"/>
              <a:t> </a:t>
            </a:r>
            <a:r>
              <a:rPr lang="de-DE" dirty="0" err="1"/>
              <a:t>does</a:t>
            </a:r>
            <a:r>
              <a:rPr lang="de-DE" dirty="0"/>
              <a:t> a </a:t>
            </a:r>
            <a:r>
              <a:rPr lang="de-DE" dirty="0" err="1"/>
              <a:t>process</a:t>
            </a:r>
            <a:r>
              <a:rPr lang="de-DE" dirty="0"/>
              <a:t> </a:t>
            </a:r>
            <a:r>
              <a:rPr lang="de-DE" dirty="0" err="1"/>
              <a:t>have</a:t>
            </a:r>
            <a:r>
              <a:rPr lang="de-DE" dirty="0"/>
              <a:t> </a:t>
            </a:r>
            <a:r>
              <a:rPr lang="de-DE" dirty="0" err="1"/>
              <a:t>bottlenacks</a:t>
            </a:r>
            <a:r>
              <a:rPr lang="de-DE" dirty="0"/>
              <a:t> </a:t>
            </a:r>
            <a:r>
              <a:rPr lang="de-DE" dirty="0" err="1"/>
              <a:t>when</a:t>
            </a:r>
            <a:r>
              <a:rPr lang="de-DE" dirty="0"/>
              <a:t> </a:t>
            </a:r>
            <a:r>
              <a:rPr lang="de-DE" dirty="0" err="1"/>
              <a:t>activities</a:t>
            </a:r>
            <a:r>
              <a:rPr lang="de-DE" dirty="0"/>
              <a:t> </a:t>
            </a:r>
            <a:r>
              <a:rPr lang="de-DE" dirty="0" err="1"/>
              <a:t>wait</a:t>
            </a:r>
            <a:r>
              <a:rPr lang="de-DE" dirty="0"/>
              <a:t> </a:t>
            </a:r>
            <a:r>
              <a:rPr lang="de-DE" dirty="0" err="1"/>
              <a:t>for</a:t>
            </a:r>
            <a:r>
              <a:rPr lang="de-DE" dirty="0"/>
              <a:t> </a:t>
            </a:r>
            <a:r>
              <a:rPr lang="de-DE" dirty="0" err="1"/>
              <a:t>conditions</a:t>
            </a:r>
            <a:r>
              <a:rPr lang="de-DE" dirty="0"/>
              <a:t>?</a:t>
            </a:r>
          </a:p>
        </p:txBody>
      </p:sp>
      <p:pic>
        <p:nvPicPr>
          <p:cNvPr id="8" name="Grafik 7">
            <a:extLst>
              <a:ext uri="{FF2B5EF4-FFF2-40B4-BE49-F238E27FC236}">
                <a16:creationId xmlns:a16="http://schemas.microsoft.com/office/drawing/2014/main" id="{D2790A9E-A719-4E39-AA94-B29B802FAE91}"/>
              </a:ext>
            </a:extLst>
          </p:cNvPr>
          <p:cNvPicPr>
            <a:picLocks noChangeAspect="1"/>
          </p:cNvPicPr>
          <p:nvPr/>
        </p:nvPicPr>
        <p:blipFill rotWithShape="1">
          <a:blip r:embed="rId2"/>
          <a:srcRect l="1" r="66517" b="44118"/>
          <a:stretch/>
        </p:blipFill>
        <p:spPr>
          <a:xfrm>
            <a:off x="6434669" y="1204384"/>
            <a:ext cx="4276164" cy="3880664"/>
          </a:xfrm>
          <a:prstGeom prst="rect">
            <a:avLst/>
          </a:prstGeom>
        </p:spPr>
      </p:pic>
      <p:sp>
        <p:nvSpPr>
          <p:cNvPr id="9" name="Ellipse 8">
            <a:extLst>
              <a:ext uri="{FF2B5EF4-FFF2-40B4-BE49-F238E27FC236}">
                <a16:creationId xmlns:a16="http://schemas.microsoft.com/office/drawing/2014/main" id="{E6CD6F69-82B5-4A42-A553-6DF85A2EC225}"/>
              </a:ext>
            </a:extLst>
          </p:cNvPr>
          <p:cNvSpPr/>
          <p:nvPr/>
        </p:nvSpPr>
        <p:spPr>
          <a:xfrm>
            <a:off x="6347012" y="1232267"/>
            <a:ext cx="1228164" cy="605498"/>
          </a:xfrm>
          <a:prstGeom prst="ellipse">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Tree>
    <p:extLst>
      <p:ext uri="{BB962C8B-B14F-4D97-AF65-F5344CB8AC3E}">
        <p14:creationId xmlns:p14="http://schemas.microsoft.com/office/powerpoint/2010/main" val="101694093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0DEF0AD-79A6-4E9B-B1A5-1E495521B932}"/>
              </a:ext>
            </a:extLst>
          </p:cNvPr>
          <p:cNvSpPr>
            <a:spLocks noGrp="1"/>
          </p:cNvSpPr>
          <p:nvPr>
            <p:ph type="title"/>
          </p:nvPr>
        </p:nvSpPr>
        <p:spPr/>
        <p:txBody>
          <a:bodyPr/>
          <a:lstStyle/>
          <a:p>
            <a:r>
              <a:rPr lang="de-DE" dirty="0"/>
              <a:t>Simulation</a:t>
            </a:r>
          </a:p>
        </p:txBody>
      </p:sp>
      <p:sp>
        <p:nvSpPr>
          <p:cNvPr id="3" name="Textplatzhalter 2">
            <a:extLst>
              <a:ext uri="{FF2B5EF4-FFF2-40B4-BE49-F238E27FC236}">
                <a16:creationId xmlns:a16="http://schemas.microsoft.com/office/drawing/2014/main" id="{E5B72AB5-1C84-4930-A9FC-0D037EC60BC6}"/>
              </a:ext>
            </a:extLst>
          </p:cNvPr>
          <p:cNvSpPr>
            <a:spLocks noGrp="1"/>
          </p:cNvSpPr>
          <p:nvPr>
            <p:ph type="body" sz="quarter" idx="11"/>
          </p:nvPr>
        </p:nvSpPr>
        <p:spPr/>
        <p:txBody>
          <a:bodyPr/>
          <a:lstStyle/>
          <a:p>
            <a:r>
              <a:rPr lang="de-DE" dirty="0"/>
              <a:t>In </a:t>
            </a:r>
            <a:r>
              <a:rPr lang="de-DE" dirty="0" err="1"/>
              <a:t>the</a:t>
            </a:r>
            <a:r>
              <a:rPr lang="de-DE" dirty="0"/>
              <a:t> Times/Costs </a:t>
            </a:r>
            <a:r>
              <a:rPr lang="de-DE" dirty="0" err="1"/>
              <a:t>section</a:t>
            </a:r>
            <a:r>
              <a:rPr lang="de-DE" dirty="0"/>
              <a:t> </a:t>
            </a:r>
            <a:r>
              <a:rPr lang="de-DE" dirty="0" err="1"/>
              <a:t>you</a:t>
            </a:r>
            <a:r>
              <a:rPr lang="de-DE" dirty="0"/>
              <a:t> </a:t>
            </a:r>
            <a:r>
              <a:rPr lang="de-DE" dirty="0" err="1"/>
              <a:t>can</a:t>
            </a:r>
            <a:r>
              <a:rPr lang="de-DE" dirty="0"/>
              <a:t> </a:t>
            </a:r>
            <a:r>
              <a:rPr lang="de-DE" dirty="0" err="1"/>
              <a:t>enter</a:t>
            </a:r>
            <a:r>
              <a:rPr lang="de-DE" dirty="0"/>
              <a:t> </a:t>
            </a:r>
            <a:r>
              <a:rPr lang="de-DE" dirty="0" err="1"/>
              <a:t>information</a:t>
            </a:r>
            <a:r>
              <a:rPr lang="de-DE" dirty="0"/>
              <a:t> </a:t>
            </a:r>
            <a:r>
              <a:rPr lang="de-DE" dirty="0" err="1"/>
              <a:t>for</a:t>
            </a:r>
            <a:r>
              <a:rPr lang="de-DE" dirty="0"/>
              <a:t> </a:t>
            </a:r>
            <a:r>
              <a:rPr lang="de-DE" dirty="0" err="1"/>
              <a:t>each</a:t>
            </a:r>
            <a:r>
              <a:rPr lang="de-DE" dirty="0"/>
              <a:t> </a:t>
            </a:r>
            <a:r>
              <a:rPr lang="de-DE" dirty="0" err="1"/>
              <a:t>process</a:t>
            </a:r>
            <a:r>
              <a:rPr lang="de-DE" dirty="0"/>
              <a:t> </a:t>
            </a:r>
            <a:r>
              <a:rPr lang="de-DE" dirty="0" err="1"/>
              <a:t>step</a:t>
            </a:r>
            <a:r>
              <a:rPr lang="de-DE" dirty="0"/>
              <a:t> on:</a:t>
            </a:r>
          </a:p>
          <a:p>
            <a:pPr marL="342900" indent="-342900">
              <a:buFontTx/>
              <a:buChar char="-"/>
            </a:pPr>
            <a:r>
              <a:rPr lang="de-DE" dirty="0" err="1"/>
              <a:t>How</a:t>
            </a:r>
            <a:r>
              <a:rPr lang="de-DE" dirty="0"/>
              <a:t> </a:t>
            </a:r>
            <a:r>
              <a:rPr lang="de-DE" dirty="0" err="1"/>
              <a:t>much</a:t>
            </a:r>
            <a:r>
              <a:rPr lang="de-DE" dirty="0"/>
              <a:t> time </a:t>
            </a:r>
            <a:r>
              <a:rPr lang="de-DE" dirty="0" err="1"/>
              <a:t>this</a:t>
            </a:r>
            <a:r>
              <a:rPr lang="de-DE" dirty="0"/>
              <a:t> </a:t>
            </a:r>
            <a:r>
              <a:rPr lang="de-DE" dirty="0" err="1"/>
              <a:t>activity</a:t>
            </a:r>
            <a:r>
              <a:rPr lang="de-DE" dirty="0"/>
              <a:t> </a:t>
            </a:r>
            <a:r>
              <a:rPr lang="de-DE" dirty="0" err="1"/>
              <a:t>requires</a:t>
            </a:r>
            <a:r>
              <a:rPr lang="de-DE" dirty="0"/>
              <a:t> (</a:t>
            </a:r>
            <a:r>
              <a:rPr lang="de-DE" dirty="0" err="1"/>
              <a:t>split</a:t>
            </a:r>
            <a:r>
              <a:rPr lang="de-DE" dirty="0"/>
              <a:t> in </a:t>
            </a:r>
            <a:r>
              <a:rPr lang="de-DE" dirty="0" err="1"/>
              <a:t>execution</a:t>
            </a:r>
            <a:r>
              <a:rPr lang="de-DE" dirty="0"/>
              <a:t>, </a:t>
            </a:r>
            <a:r>
              <a:rPr lang="de-DE" dirty="0" err="1"/>
              <a:t>waiting</a:t>
            </a:r>
            <a:r>
              <a:rPr lang="de-DE" dirty="0"/>
              <a:t>, </a:t>
            </a:r>
            <a:r>
              <a:rPr lang="de-DE" dirty="0" err="1"/>
              <a:t>resting</a:t>
            </a:r>
            <a:r>
              <a:rPr lang="de-DE" dirty="0"/>
              <a:t>, and </a:t>
            </a:r>
            <a:r>
              <a:rPr lang="de-DE" dirty="0" err="1"/>
              <a:t>transport</a:t>
            </a:r>
            <a:r>
              <a:rPr lang="de-DE" dirty="0"/>
              <a:t> time i.a.)</a:t>
            </a:r>
          </a:p>
          <a:p>
            <a:pPr marL="342900" indent="-342900">
              <a:buFontTx/>
              <a:buChar char="-"/>
            </a:pPr>
            <a:r>
              <a:rPr lang="de-DE" dirty="0" err="1"/>
              <a:t>How</a:t>
            </a:r>
            <a:r>
              <a:rPr lang="de-DE" dirty="0"/>
              <a:t> </a:t>
            </a:r>
            <a:r>
              <a:rPr lang="de-DE" dirty="0" err="1"/>
              <a:t>much</a:t>
            </a:r>
            <a:r>
              <a:rPr lang="de-DE" dirty="0"/>
              <a:t> </a:t>
            </a:r>
            <a:r>
              <a:rPr lang="de-DE" dirty="0" err="1"/>
              <a:t>this</a:t>
            </a:r>
            <a:r>
              <a:rPr lang="de-DE" dirty="0"/>
              <a:t> </a:t>
            </a:r>
            <a:r>
              <a:rPr lang="de-DE" dirty="0" err="1"/>
              <a:t>activity</a:t>
            </a:r>
            <a:r>
              <a:rPr lang="de-DE" dirty="0"/>
              <a:t> </a:t>
            </a:r>
            <a:r>
              <a:rPr lang="de-DE" dirty="0" err="1"/>
              <a:t>costs</a:t>
            </a:r>
            <a:r>
              <a:rPr lang="de-DE" dirty="0"/>
              <a:t> (e.g. personell </a:t>
            </a:r>
            <a:r>
              <a:rPr lang="de-DE" dirty="0" err="1"/>
              <a:t>costs</a:t>
            </a:r>
            <a:r>
              <a:rPr lang="de-DE" dirty="0"/>
              <a:t> </a:t>
            </a:r>
            <a:r>
              <a:rPr lang="de-DE" dirty="0" err="1"/>
              <a:t>for</a:t>
            </a:r>
            <a:r>
              <a:rPr lang="de-DE" dirty="0"/>
              <a:t> </a:t>
            </a:r>
            <a:r>
              <a:rPr lang="de-DE" dirty="0" err="1"/>
              <a:t>this</a:t>
            </a:r>
            <a:r>
              <a:rPr lang="de-DE" dirty="0"/>
              <a:t> </a:t>
            </a:r>
            <a:r>
              <a:rPr lang="de-DE" dirty="0" err="1"/>
              <a:t>amount</a:t>
            </a:r>
            <a:r>
              <a:rPr lang="de-DE" dirty="0"/>
              <a:t> </a:t>
            </a:r>
            <a:r>
              <a:rPr lang="de-DE" dirty="0" err="1"/>
              <a:t>of</a:t>
            </a:r>
            <a:r>
              <a:rPr lang="de-DE" dirty="0"/>
              <a:t> time </a:t>
            </a:r>
            <a:r>
              <a:rPr lang="de-DE" dirty="0" err="1"/>
              <a:t>for</a:t>
            </a:r>
            <a:r>
              <a:rPr lang="de-DE" dirty="0"/>
              <a:t> a </a:t>
            </a:r>
            <a:r>
              <a:rPr lang="de-DE" dirty="0" err="1"/>
              <a:t>manual</a:t>
            </a:r>
            <a:r>
              <a:rPr lang="de-DE" dirty="0"/>
              <a:t> </a:t>
            </a:r>
            <a:r>
              <a:rPr lang="de-DE" dirty="0" err="1"/>
              <a:t>activity</a:t>
            </a:r>
            <a:r>
              <a:rPr lang="de-DE" dirty="0"/>
              <a:t>)</a:t>
            </a:r>
          </a:p>
        </p:txBody>
      </p:sp>
      <p:pic>
        <p:nvPicPr>
          <p:cNvPr id="6" name="Grafik 5">
            <a:extLst>
              <a:ext uri="{FF2B5EF4-FFF2-40B4-BE49-F238E27FC236}">
                <a16:creationId xmlns:a16="http://schemas.microsoft.com/office/drawing/2014/main" id="{64DB77A8-0864-471A-B832-88E0FFB531D6}"/>
              </a:ext>
            </a:extLst>
          </p:cNvPr>
          <p:cNvPicPr>
            <a:picLocks noChangeAspect="1"/>
          </p:cNvPicPr>
          <p:nvPr/>
        </p:nvPicPr>
        <p:blipFill>
          <a:blip r:embed="rId2"/>
          <a:stretch>
            <a:fillRect/>
          </a:stretch>
        </p:blipFill>
        <p:spPr>
          <a:xfrm>
            <a:off x="10705216" y="222476"/>
            <a:ext cx="1318913" cy="1704936"/>
          </a:xfrm>
          <a:prstGeom prst="rect">
            <a:avLst/>
          </a:prstGeom>
        </p:spPr>
      </p:pic>
      <p:pic>
        <p:nvPicPr>
          <p:cNvPr id="8" name="Grafik 7">
            <a:extLst>
              <a:ext uri="{FF2B5EF4-FFF2-40B4-BE49-F238E27FC236}">
                <a16:creationId xmlns:a16="http://schemas.microsoft.com/office/drawing/2014/main" id="{81DF6C05-484C-4A17-8E4F-57F70BB37688}"/>
              </a:ext>
            </a:extLst>
          </p:cNvPr>
          <p:cNvPicPr>
            <a:picLocks noChangeAspect="1"/>
          </p:cNvPicPr>
          <p:nvPr/>
        </p:nvPicPr>
        <p:blipFill>
          <a:blip r:embed="rId3"/>
          <a:stretch>
            <a:fillRect/>
          </a:stretch>
        </p:blipFill>
        <p:spPr>
          <a:xfrm>
            <a:off x="6914633" y="2023221"/>
            <a:ext cx="3400900" cy="3448531"/>
          </a:xfrm>
          <a:prstGeom prst="rect">
            <a:avLst/>
          </a:prstGeom>
        </p:spPr>
      </p:pic>
      <p:sp>
        <p:nvSpPr>
          <p:cNvPr id="9" name="Textfeld 8">
            <a:extLst>
              <a:ext uri="{FF2B5EF4-FFF2-40B4-BE49-F238E27FC236}">
                <a16:creationId xmlns:a16="http://schemas.microsoft.com/office/drawing/2014/main" id="{5D0502A7-966C-4B4C-8DF0-604C37150C9E}"/>
              </a:ext>
            </a:extLst>
          </p:cNvPr>
          <p:cNvSpPr txBox="1"/>
          <p:nvPr/>
        </p:nvSpPr>
        <p:spPr>
          <a:xfrm>
            <a:off x="6955452" y="5522618"/>
            <a:ext cx="4218437" cy="938719"/>
          </a:xfrm>
          <a:prstGeom prst="rect">
            <a:avLst/>
          </a:prstGeom>
          <a:noFill/>
        </p:spPr>
        <p:txBody>
          <a:bodyPr wrap="square" rtlCol="0">
            <a:spAutoFit/>
          </a:bodyPr>
          <a:lstStyle/>
          <a:p>
            <a:r>
              <a:rPr lang="en-US" sz="1100" dirty="0"/>
              <a:t>Wage: 60€ / hour</a:t>
            </a:r>
          </a:p>
          <a:p>
            <a:r>
              <a:rPr lang="en-US" sz="1100" dirty="0"/>
              <a:t>Additional costs for employee: 60€ / hour</a:t>
            </a:r>
          </a:p>
          <a:p>
            <a:r>
              <a:rPr lang="en-US" sz="1100" dirty="0"/>
              <a:t>Time spent on activity: 30 min</a:t>
            </a:r>
          </a:p>
          <a:p>
            <a:endParaRPr lang="en-US" sz="1100" dirty="0"/>
          </a:p>
          <a:p>
            <a:r>
              <a:rPr lang="en-US" sz="1100" dirty="0"/>
              <a:t>= 60€ costs for 30min activity</a:t>
            </a:r>
            <a:endParaRPr lang="de-DE" sz="1100" dirty="0"/>
          </a:p>
        </p:txBody>
      </p:sp>
    </p:spTree>
    <p:extLst>
      <p:ext uri="{BB962C8B-B14F-4D97-AF65-F5344CB8AC3E}">
        <p14:creationId xmlns:p14="http://schemas.microsoft.com/office/powerpoint/2010/main" val="86743627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ABBAB18-8153-4876-B6B0-5A06BB25E4DD}"/>
              </a:ext>
            </a:extLst>
          </p:cNvPr>
          <p:cNvSpPr>
            <a:spLocks noGrp="1"/>
          </p:cNvSpPr>
          <p:nvPr>
            <p:ph type="title"/>
          </p:nvPr>
        </p:nvSpPr>
        <p:spPr/>
        <p:txBody>
          <a:bodyPr/>
          <a:lstStyle/>
          <a:p>
            <a:r>
              <a:rPr lang="de-DE" dirty="0"/>
              <a:t>Simulation</a:t>
            </a:r>
          </a:p>
        </p:txBody>
      </p:sp>
      <p:sp>
        <p:nvSpPr>
          <p:cNvPr id="3" name="Textplatzhalter 2">
            <a:extLst>
              <a:ext uri="{FF2B5EF4-FFF2-40B4-BE49-F238E27FC236}">
                <a16:creationId xmlns:a16="http://schemas.microsoft.com/office/drawing/2014/main" id="{3134A43C-F8DC-4692-B20D-018BE59B034E}"/>
              </a:ext>
            </a:extLst>
          </p:cNvPr>
          <p:cNvSpPr>
            <a:spLocks noGrp="1"/>
          </p:cNvSpPr>
          <p:nvPr>
            <p:ph type="body" sz="quarter" idx="11"/>
          </p:nvPr>
        </p:nvSpPr>
        <p:spPr/>
        <p:txBody>
          <a:bodyPr>
            <a:normAutofit/>
          </a:bodyPr>
          <a:lstStyle/>
          <a:p>
            <a:r>
              <a:rPr lang="de-DE" sz="1800" dirty="0" err="1"/>
              <a:t>For</a:t>
            </a:r>
            <a:r>
              <a:rPr lang="de-DE" sz="1800" dirty="0"/>
              <a:t> </a:t>
            </a:r>
            <a:r>
              <a:rPr lang="de-DE" sz="1800" dirty="0" err="1"/>
              <a:t>simulating</a:t>
            </a:r>
            <a:r>
              <a:rPr lang="de-DE" sz="1800" dirty="0"/>
              <a:t> </a:t>
            </a:r>
            <a:r>
              <a:rPr lang="de-DE" sz="1800" dirty="0" err="1"/>
              <a:t>the</a:t>
            </a:r>
            <a:r>
              <a:rPr lang="de-DE" sz="1800" dirty="0"/>
              <a:t> </a:t>
            </a:r>
            <a:r>
              <a:rPr lang="de-DE" sz="1800" dirty="0" err="1"/>
              <a:t>process</a:t>
            </a:r>
            <a:r>
              <a:rPr lang="de-DE" sz="1800" dirty="0"/>
              <a:t>, </a:t>
            </a:r>
            <a:r>
              <a:rPr lang="de-DE" sz="1800" dirty="0" err="1"/>
              <a:t>it</a:t>
            </a:r>
            <a:r>
              <a:rPr lang="de-DE" sz="1800" dirty="0"/>
              <a:t> </a:t>
            </a:r>
            <a:r>
              <a:rPr lang="de-DE" sz="1800" dirty="0" err="1"/>
              <a:t>is</a:t>
            </a:r>
            <a:r>
              <a:rPr lang="de-DE" sz="1800" dirty="0"/>
              <a:t> </a:t>
            </a:r>
            <a:r>
              <a:rPr lang="de-DE" sz="1800" dirty="0" err="1"/>
              <a:t>important</a:t>
            </a:r>
            <a:r>
              <a:rPr lang="de-DE" sz="1800" dirty="0"/>
              <a:t> </a:t>
            </a:r>
            <a:r>
              <a:rPr lang="de-DE" sz="1800" dirty="0" err="1"/>
              <a:t>to</a:t>
            </a:r>
            <a:r>
              <a:rPr lang="de-DE" sz="1800" dirty="0"/>
              <a:t> </a:t>
            </a:r>
            <a:r>
              <a:rPr lang="de-DE" sz="1800" dirty="0" err="1"/>
              <a:t>provide</a:t>
            </a:r>
            <a:r>
              <a:rPr lang="de-DE" sz="1800" dirty="0"/>
              <a:t> </a:t>
            </a:r>
            <a:r>
              <a:rPr lang="de-DE" sz="1800" dirty="0" err="1"/>
              <a:t>the</a:t>
            </a:r>
            <a:r>
              <a:rPr lang="de-DE" sz="1800" dirty="0"/>
              <a:t> </a:t>
            </a:r>
            <a:r>
              <a:rPr lang="de-DE" sz="1800" dirty="0" err="1"/>
              <a:t>tool</a:t>
            </a:r>
            <a:r>
              <a:rPr lang="de-DE" sz="1800" dirty="0"/>
              <a:t> </a:t>
            </a:r>
            <a:r>
              <a:rPr lang="de-DE" sz="1800" dirty="0" err="1"/>
              <a:t>information</a:t>
            </a:r>
            <a:r>
              <a:rPr lang="de-DE" sz="1800" dirty="0"/>
              <a:t> on </a:t>
            </a:r>
            <a:r>
              <a:rPr lang="de-DE" sz="1800" dirty="0" err="1"/>
              <a:t>how</a:t>
            </a:r>
            <a:r>
              <a:rPr lang="de-DE" sz="1800" dirty="0"/>
              <a:t> </a:t>
            </a:r>
            <a:r>
              <a:rPr lang="de-DE" sz="1800" dirty="0" err="1"/>
              <a:t>to</a:t>
            </a:r>
            <a:r>
              <a:rPr lang="de-DE" sz="1800" dirty="0"/>
              <a:t> deal </a:t>
            </a:r>
            <a:r>
              <a:rPr lang="de-DE" sz="1800" dirty="0" err="1"/>
              <a:t>with</a:t>
            </a:r>
            <a:r>
              <a:rPr lang="de-DE" sz="1800" dirty="0"/>
              <a:t> </a:t>
            </a:r>
            <a:r>
              <a:rPr lang="de-DE" sz="1800" dirty="0" err="1"/>
              <a:t>gateways</a:t>
            </a:r>
            <a:r>
              <a:rPr lang="de-DE" sz="1800" dirty="0"/>
              <a:t>.</a:t>
            </a:r>
          </a:p>
          <a:p>
            <a:r>
              <a:rPr lang="de-DE" sz="1800" dirty="0" err="1"/>
              <a:t>For</a:t>
            </a:r>
            <a:r>
              <a:rPr lang="de-DE" sz="1800" dirty="0"/>
              <a:t> </a:t>
            </a:r>
            <a:r>
              <a:rPr lang="de-DE" sz="1800" b="1" dirty="0" err="1"/>
              <a:t>Exclusive</a:t>
            </a:r>
            <a:r>
              <a:rPr lang="de-DE" sz="1800" b="1" dirty="0"/>
              <a:t> Gateways </a:t>
            </a:r>
            <a:r>
              <a:rPr lang="de-DE" sz="1800" dirty="0" err="1"/>
              <a:t>this</a:t>
            </a:r>
            <a:r>
              <a:rPr lang="de-DE" sz="1800" dirty="0"/>
              <a:t> </a:t>
            </a:r>
            <a:r>
              <a:rPr lang="de-DE" sz="1800" dirty="0" err="1"/>
              <a:t>means</a:t>
            </a:r>
            <a:r>
              <a:rPr lang="de-DE" sz="1800" dirty="0"/>
              <a:t> </a:t>
            </a:r>
            <a:r>
              <a:rPr lang="de-DE" sz="1800" dirty="0" err="1"/>
              <a:t>to</a:t>
            </a:r>
            <a:r>
              <a:rPr lang="de-DE" sz="1800" dirty="0"/>
              <a:t> </a:t>
            </a:r>
            <a:r>
              <a:rPr lang="de-DE" sz="1800" dirty="0" err="1"/>
              <a:t>provide</a:t>
            </a:r>
            <a:r>
              <a:rPr lang="de-DE" sz="1800" dirty="0"/>
              <a:t> a </a:t>
            </a:r>
            <a:r>
              <a:rPr lang="de-DE" sz="1800" b="1" dirty="0" err="1"/>
              <a:t>Probability</a:t>
            </a:r>
            <a:r>
              <a:rPr lang="de-DE" sz="1800" b="1" dirty="0"/>
              <a:t> </a:t>
            </a:r>
            <a:r>
              <a:rPr lang="de-DE" sz="1800" dirty="0" err="1"/>
              <a:t>of</a:t>
            </a:r>
            <a:r>
              <a:rPr lang="de-DE" sz="1800" dirty="0"/>
              <a:t> </a:t>
            </a:r>
            <a:r>
              <a:rPr lang="de-DE" sz="1800" dirty="0" err="1"/>
              <a:t>occurence</a:t>
            </a:r>
            <a:r>
              <a:rPr lang="de-DE" sz="1800" dirty="0"/>
              <a:t>.</a:t>
            </a:r>
          </a:p>
          <a:p>
            <a:r>
              <a:rPr lang="de-DE" sz="1800" dirty="0"/>
              <a:t>„Cooling </a:t>
            </a:r>
            <a:r>
              <a:rPr lang="de-DE" sz="1800" dirty="0" err="1"/>
              <a:t>is</a:t>
            </a:r>
            <a:r>
              <a:rPr lang="de-DE" sz="1800" dirty="0"/>
              <a:t> </a:t>
            </a:r>
            <a:r>
              <a:rPr lang="de-DE" sz="1800" dirty="0" err="1"/>
              <a:t>required</a:t>
            </a:r>
            <a:r>
              <a:rPr lang="de-DE" sz="1800" dirty="0"/>
              <a:t> </a:t>
            </a:r>
            <a:r>
              <a:rPr lang="de-DE" sz="1800" dirty="0" err="1"/>
              <a:t>for</a:t>
            </a:r>
            <a:r>
              <a:rPr lang="de-DE" sz="1800" dirty="0"/>
              <a:t> 20% </a:t>
            </a:r>
            <a:r>
              <a:rPr lang="de-DE" sz="1800" dirty="0" err="1"/>
              <a:t>of</a:t>
            </a:r>
            <a:r>
              <a:rPr lang="de-DE" sz="1800" dirty="0"/>
              <a:t> </a:t>
            </a:r>
            <a:r>
              <a:rPr lang="de-DE" sz="1800" dirty="0" err="1"/>
              <a:t>the</a:t>
            </a:r>
            <a:r>
              <a:rPr lang="de-DE" sz="1800" dirty="0"/>
              <a:t> </a:t>
            </a:r>
            <a:r>
              <a:rPr lang="de-DE" sz="1800" dirty="0" err="1"/>
              <a:t>products</a:t>
            </a:r>
            <a:r>
              <a:rPr lang="de-DE" sz="1800" dirty="0"/>
              <a:t> </a:t>
            </a:r>
            <a:r>
              <a:rPr lang="de-DE" sz="1800" dirty="0" err="1"/>
              <a:t>delivered</a:t>
            </a:r>
            <a:r>
              <a:rPr lang="de-DE" sz="1800" dirty="0"/>
              <a:t>, </a:t>
            </a:r>
            <a:r>
              <a:rPr lang="de-DE" sz="1800" dirty="0" err="1"/>
              <a:t>whereas</a:t>
            </a:r>
            <a:r>
              <a:rPr lang="de-DE" sz="1800" dirty="0"/>
              <a:t> 80% </a:t>
            </a:r>
            <a:r>
              <a:rPr lang="de-DE" sz="1800" dirty="0" err="1"/>
              <a:t>can</a:t>
            </a:r>
            <a:r>
              <a:rPr lang="de-DE" sz="1800" dirty="0"/>
              <a:t> </a:t>
            </a:r>
            <a:r>
              <a:rPr lang="de-DE" sz="1800" dirty="0" err="1"/>
              <a:t>be</a:t>
            </a:r>
            <a:r>
              <a:rPr lang="de-DE" sz="1800" dirty="0"/>
              <a:t> </a:t>
            </a:r>
            <a:r>
              <a:rPr lang="de-DE" sz="1800" dirty="0" err="1"/>
              <a:t>stored</a:t>
            </a:r>
            <a:r>
              <a:rPr lang="de-DE" sz="1800" dirty="0"/>
              <a:t> in </a:t>
            </a:r>
            <a:r>
              <a:rPr lang="de-DE" sz="1800" dirty="0" err="1"/>
              <a:t>the</a:t>
            </a:r>
            <a:r>
              <a:rPr lang="de-DE" sz="1800" dirty="0"/>
              <a:t> </a:t>
            </a:r>
            <a:r>
              <a:rPr lang="de-DE" sz="1800" dirty="0" err="1"/>
              <a:t>regular</a:t>
            </a:r>
            <a:r>
              <a:rPr lang="de-DE" sz="1800" dirty="0"/>
              <a:t> </a:t>
            </a:r>
            <a:r>
              <a:rPr lang="de-DE" sz="1800" dirty="0" err="1"/>
              <a:t>storage</a:t>
            </a:r>
            <a:r>
              <a:rPr lang="de-DE" sz="1800" dirty="0"/>
              <a:t>“</a:t>
            </a:r>
          </a:p>
        </p:txBody>
      </p:sp>
      <p:pic>
        <p:nvPicPr>
          <p:cNvPr id="6" name="Grafik 5">
            <a:extLst>
              <a:ext uri="{FF2B5EF4-FFF2-40B4-BE49-F238E27FC236}">
                <a16:creationId xmlns:a16="http://schemas.microsoft.com/office/drawing/2014/main" id="{A393C01E-2EA0-4DAC-8E8E-6571E5F7C8CB}"/>
              </a:ext>
            </a:extLst>
          </p:cNvPr>
          <p:cNvPicPr>
            <a:picLocks noChangeAspect="1"/>
          </p:cNvPicPr>
          <p:nvPr/>
        </p:nvPicPr>
        <p:blipFill>
          <a:blip r:embed="rId2"/>
          <a:stretch>
            <a:fillRect/>
          </a:stretch>
        </p:blipFill>
        <p:spPr>
          <a:xfrm>
            <a:off x="7591195" y="2314419"/>
            <a:ext cx="3296110" cy="2229161"/>
          </a:xfrm>
          <a:prstGeom prst="rect">
            <a:avLst/>
          </a:prstGeom>
        </p:spPr>
      </p:pic>
    </p:spTree>
    <p:extLst>
      <p:ext uri="{BB962C8B-B14F-4D97-AF65-F5344CB8AC3E}">
        <p14:creationId xmlns:p14="http://schemas.microsoft.com/office/powerpoint/2010/main" val="287829933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1AA24E8-13D5-40DF-84B2-1CEECB5E556B}"/>
              </a:ext>
            </a:extLst>
          </p:cNvPr>
          <p:cNvSpPr>
            <a:spLocks noGrp="1"/>
          </p:cNvSpPr>
          <p:nvPr>
            <p:ph type="title"/>
          </p:nvPr>
        </p:nvSpPr>
        <p:spPr/>
        <p:txBody>
          <a:bodyPr/>
          <a:lstStyle/>
          <a:p>
            <a:r>
              <a:rPr lang="de-DE" dirty="0"/>
              <a:t>Simulation</a:t>
            </a:r>
          </a:p>
        </p:txBody>
      </p:sp>
      <p:sp>
        <p:nvSpPr>
          <p:cNvPr id="3" name="Textplatzhalter 2">
            <a:extLst>
              <a:ext uri="{FF2B5EF4-FFF2-40B4-BE49-F238E27FC236}">
                <a16:creationId xmlns:a16="http://schemas.microsoft.com/office/drawing/2014/main" id="{19C558F2-5D59-48F3-8482-1AF6186D16FB}"/>
              </a:ext>
            </a:extLst>
          </p:cNvPr>
          <p:cNvSpPr>
            <a:spLocks noGrp="1"/>
          </p:cNvSpPr>
          <p:nvPr>
            <p:ph type="body" sz="quarter" idx="11"/>
          </p:nvPr>
        </p:nvSpPr>
        <p:spPr/>
        <p:txBody>
          <a:bodyPr>
            <a:normAutofit/>
          </a:bodyPr>
          <a:lstStyle/>
          <a:p>
            <a:r>
              <a:rPr lang="de-DE" sz="1800" dirty="0"/>
              <a:t>In </a:t>
            </a:r>
            <a:r>
              <a:rPr lang="de-DE" sz="1800" dirty="0" err="1"/>
              <a:t>the</a:t>
            </a:r>
            <a:r>
              <a:rPr lang="de-DE" sz="1800" dirty="0"/>
              <a:t> </a:t>
            </a:r>
            <a:r>
              <a:rPr lang="de-DE" sz="1800" b="1" dirty="0"/>
              <a:t>Details (Simulation)</a:t>
            </a:r>
            <a:r>
              <a:rPr lang="de-DE" sz="1800" dirty="0"/>
              <a:t> </a:t>
            </a:r>
            <a:r>
              <a:rPr lang="de-DE" sz="1800" dirty="0" err="1"/>
              <a:t>tab</a:t>
            </a:r>
            <a:r>
              <a:rPr lang="de-DE" sz="1800" dirty="0"/>
              <a:t> </a:t>
            </a:r>
            <a:r>
              <a:rPr lang="de-DE" sz="1800" dirty="0" err="1"/>
              <a:t>of</a:t>
            </a:r>
            <a:r>
              <a:rPr lang="de-DE" sz="1800" dirty="0"/>
              <a:t> </a:t>
            </a:r>
            <a:r>
              <a:rPr lang="de-DE" sz="1800" dirty="0" err="1"/>
              <a:t>the</a:t>
            </a:r>
            <a:r>
              <a:rPr lang="de-DE" sz="1800" dirty="0"/>
              <a:t> </a:t>
            </a:r>
            <a:r>
              <a:rPr lang="de-DE" sz="1800" b="1" dirty="0"/>
              <a:t>Arrows</a:t>
            </a:r>
            <a:r>
              <a:rPr lang="de-DE" sz="1800" dirty="0"/>
              <a:t> </a:t>
            </a:r>
            <a:r>
              <a:rPr lang="de-DE" sz="1800" dirty="0" err="1"/>
              <a:t>leaving</a:t>
            </a:r>
            <a:r>
              <a:rPr lang="de-DE" sz="1800" dirty="0"/>
              <a:t> </a:t>
            </a:r>
            <a:r>
              <a:rPr lang="de-DE" sz="1800" dirty="0" err="1"/>
              <a:t>the</a:t>
            </a:r>
            <a:r>
              <a:rPr lang="de-DE" sz="1800" dirty="0"/>
              <a:t> </a:t>
            </a:r>
            <a:r>
              <a:rPr lang="de-DE" sz="1800" b="1" dirty="0" err="1"/>
              <a:t>Exclusive</a:t>
            </a:r>
            <a:r>
              <a:rPr lang="de-DE" sz="1800" b="1" dirty="0"/>
              <a:t> Gateway</a:t>
            </a:r>
            <a:r>
              <a:rPr lang="de-DE" sz="1800" dirty="0"/>
              <a:t> </a:t>
            </a:r>
            <a:r>
              <a:rPr lang="de-DE" sz="1800" dirty="0" err="1"/>
              <a:t>you</a:t>
            </a:r>
            <a:r>
              <a:rPr lang="de-DE" sz="1800" dirty="0"/>
              <a:t> </a:t>
            </a:r>
            <a:r>
              <a:rPr lang="de-DE" sz="1800" dirty="0" err="1"/>
              <a:t>can</a:t>
            </a:r>
            <a:r>
              <a:rPr lang="de-DE" sz="1800" dirty="0"/>
              <a:t> </a:t>
            </a:r>
            <a:r>
              <a:rPr lang="de-DE" sz="1800" dirty="0" err="1"/>
              <a:t>set</a:t>
            </a:r>
            <a:r>
              <a:rPr lang="de-DE" sz="1800" dirty="0"/>
              <a:t> </a:t>
            </a:r>
            <a:r>
              <a:rPr lang="de-DE" sz="1800" dirty="0" err="1"/>
              <a:t>the</a:t>
            </a:r>
            <a:r>
              <a:rPr lang="de-DE" sz="1800" dirty="0"/>
              <a:t> </a:t>
            </a:r>
            <a:r>
              <a:rPr lang="de-DE" sz="1800" dirty="0" err="1"/>
              <a:t>probability</a:t>
            </a:r>
            <a:r>
              <a:rPr lang="de-DE" sz="1800" dirty="0"/>
              <a:t> in </a:t>
            </a:r>
            <a:r>
              <a:rPr lang="de-DE" sz="1800" dirty="0" err="1"/>
              <a:t>the</a:t>
            </a:r>
            <a:r>
              <a:rPr lang="de-DE" sz="1800" dirty="0"/>
              <a:t> </a:t>
            </a:r>
            <a:r>
              <a:rPr lang="de-DE" sz="1800" b="1" dirty="0"/>
              <a:t>Transition </a:t>
            </a:r>
            <a:r>
              <a:rPr lang="de-DE" sz="1800" b="1" dirty="0" err="1"/>
              <a:t>Condition</a:t>
            </a:r>
            <a:r>
              <a:rPr lang="de-DE" sz="1800" dirty="0"/>
              <a:t> </a:t>
            </a:r>
            <a:r>
              <a:rPr lang="de-DE" sz="1800" dirty="0" err="1"/>
              <a:t>field</a:t>
            </a:r>
            <a:r>
              <a:rPr lang="de-DE" sz="1800" dirty="0"/>
              <a:t>.</a:t>
            </a:r>
          </a:p>
          <a:p>
            <a:endParaRPr lang="de-DE" sz="1800" dirty="0"/>
          </a:p>
          <a:p>
            <a:r>
              <a:rPr lang="de-DE" sz="1800" dirty="0"/>
              <a:t>Note: </a:t>
            </a:r>
            <a:r>
              <a:rPr lang="de-DE" sz="1800" i="1" dirty="0"/>
              <a:t>In </a:t>
            </a:r>
            <a:r>
              <a:rPr lang="de-DE" sz="1800" i="1" dirty="0" err="1"/>
              <a:t>this</a:t>
            </a:r>
            <a:r>
              <a:rPr lang="de-DE" sz="1800" i="1" dirty="0"/>
              <a:t> </a:t>
            </a:r>
            <a:r>
              <a:rPr lang="de-DE" sz="1800" i="1" dirty="0" err="1"/>
              <a:t>case</a:t>
            </a:r>
            <a:r>
              <a:rPr lang="de-DE" sz="1800" i="1" dirty="0"/>
              <a:t>, </a:t>
            </a:r>
            <a:r>
              <a:rPr lang="de-DE" sz="1800" i="1" dirty="0" err="1"/>
              <a:t>the</a:t>
            </a:r>
            <a:r>
              <a:rPr lang="de-DE" sz="1800" i="1" dirty="0"/>
              <a:t> </a:t>
            </a:r>
            <a:r>
              <a:rPr lang="de-DE" sz="1800" i="1" dirty="0" err="1"/>
              <a:t>value</a:t>
            </a:r>
            <a:r>
              <a:rPr lang="de-DE" sz="1800" i="1" dirty="0"/>
              <a:t> </a:t>
            </a:r>
            <a:r>
              <a:rPr lang="de-DE" sz="1800" i="1" dirty="0" err="1"/>
              <a:t>is</a:t>
            </a:r>
            <a:r>
              <a:rPr lang="de-DE" sz="1800" i="1" dirty="0"/>
              <a:t> also </a:t>
            </a:r>
            <a:r>
              <a:rPr lang="de-DE" sz="1800" i="1" dirty="0" err="1"/>
              <a:t>inserted</a:t>
            </a:r>
            <a:r>
              <a:rPr lang="de-DE" sz="1800" i="1" dirty="0"/>
              <a:t> in </a:t>
            </a:r>
            <a:r>
              <a:rPr lang="de-DE" sz="1800" i="1" dirty="0" err="1"/>
              <a:t>the</a:t>
            </a:r>
            <a:r>
              <a:rPr lang="de-DE" sz="1800" i="1" dirty="0"/>
              <a:t> </a:t>
            </a:r>
            <a:r>
              <a:rPr lang="de-DE" sz="1800" b="1" i="1" dirty="0"/>
              <a:t>Transition </a:t>
            </a:r>
            <a:r>
              <a:rPr lang="de-DE" sz="1800" b="1" i="1" dirty="0" err="1"/>
              <a:t>Probability</a:t>
            </a:r>
            <a:r>
              <a:rPr lang="de-DE" sz="1800" b="1" i="1" dirty="0"/>
              <a:t> </a:t>
            </a:r>
            <a:r>
              <a:rPr lang="de-DE" sz="1800" i="1" dirty="0" err="1"/>
              <a:t>for</a:t>
            </a:r>
            <a:r>
              <a:rPr lang="de-DE" sz="1800" i="1" dirty="0"/>
              <a:t> </a:t>
            </a:r>
            <a:r>
              <a:rPr lang="de-DE" sz="1800" i="1" dirty="0" err="1"/>
              <a:t>displaying</a:t>
            </a:r>
            <a:r>
              <a:rPr lang="de-DE" sz="1800" i="1" dirty="0"/>
              <a:t> </a:t>
            </a:r>
            <a:r>
              <a:rPr lang="de-DE" sz="1800" i="1" dirty="0" err="1"/>
              <a:t>the</a:t>
            </a:r>
            <a:r>
              <a:rPr lang="de-DE" sz="1800" i="1" dirty="0"/>
              <a:t> </a:t>
            </a:r>
            <a:r>
              <a:rPr lang="de-DE" sz="1800" i="1" dirty="0" err="1"/>
              <a:t>value</a:t>
            </a:r>
            <a:r>
              <a:rPr lang="de-DE" sz="1800" i="1" dirty="0"/>
              <a:t> in </a:t>
            </a:r>
            <a:r>
              <a:rPr lang="de-DE" sz="1800" i="1" dirty="0" err="1"/>
              <a:t>the</a:t>
            </a:r>
            <a:r>
              <a:rPr lang="de-DE" sz="1800" i="1" dirty="0"/>
              <a:t> </a:t>
            </a:r>
            <a:r>
              <a:rPr lang="de-DE" sz="1800" i="1" dirty="0" err="1"/>
              <a:t>model</a:t>
            </a:r>
            <a:r>
              <a:rPr lang="de-DE" sz="1800" i="1" dirty="0"/>
              <a:t> </a:t>
            </a:r>
            <a:r>
              <a:rPr lang="de-DE" sz="1800" i="1" dirty="0" err="1"/>
              <a:t>alongside</a:t>
            </a:r>
            <a:r>
              <a:rPr lang="de-DE" sz="1800" i="1" dirty="0"/>
              <a:t> </a:t>
            </a:r>
            <a:r>
              <a:rPr lang="de-DE" sz="1800" i="1" dirty="0" err="1"/>
              <a:t>of</a:t>
            </a:r>
            <a:r>
              <a:rPr lang="de-DE" sz="1800" i="1" dirty="0"/>
              <a:t> </a:t>
            </a:r>
            <a:r>
              <a:rPr lang="de-DE" sz="1800" i="1" dirty="0" err="1"/>
              <a:t>the</a:t>
            </a:r>
            <a:r>
              <a:rPr lang="de-DE" sz="1800" i="1" dirty="0"/>
              <a:t> </a:t>
            </a:r>
            <a:r>
              <a:rPr lang="de-DE" sz="1800" i="1" dirty="0" err="1"/>
              <a:t>semantic</a:t>
            </a:r>
            <a:r>
              <a:rPr lang="de-DE" sz="1800" i="1" dirty="0"/>
              <a:t> </a:t>
            </a:r>
            <a:r>
              <a:rPr lang="de-DE" sz="1800" i="1" dirty="0" err="1"/>
              <a:t>transition</a:t>
            </a:r>
            <a:r>
              <a:rPr lang="de-DE" sz="1800" i="1" dirty="0"/>
              <a:t> </a:t>
            </a:r>
            <a:r>
              <a:rPr lang="de-DE" sz="1800" i="1" dirty="0" err="1"/>
              <a:t>condition</a:t>
            </a:r>
            <a:r>
              <a:rPr lang="de-DE" sz="1800" i="1" dirty="0"/>
              <a:t>.</a:t>
            </a:r>
            <a:endParaRPr lang="de-DE" sz="1800" dirty="0"/>
          </a:p>
        </p:txBody>
      </p:sp>
      <p:pic>
        <p:nvPicPr>
          <p:cNvPr id="6" name="Grafik 5">
            <a:extLst>
              <a:ext uri="{FF2B5EF4-FFF2-40B4-BE49-F238E27FC236}">
                <a16:creationId xmlns:a16="http://schemas.microsoft.com/office/drawing/2014/main" id="{3D33EFF8-AC4D-433E-84C3-076D667E304A}"/>
              </a:ext>
            </a:extLst>
          </p:cNvPr>
          <p:cNvPicPr>
            <a:picLocks noChangeAspect="1"/>
          </p:cNvPicPr>
          <p:nvPr/>
        </p:nvPicPr>
        <p:blipFill>
          <a:blip r:embed="rId2"/>
          <a:stretch>
            <a:fillRect/>
          </a:stretch>
        </p:blipFill>
        <p:spPr>
          <a:xfrm>
            <a:off x="6683775" y="2061321"/>
            <a:ext cx="4965730" cy="2919666"/>
          </a:xfrm>
          <a:prstGeom prst="rect">
            <a:avLst/>
          </a:prstGeom>
        </p:spPr>
      </p:pic>
      <p:pic>
        <p:nvPicPr>
          <p:cNvPr id="8" name="Grafik 7">
            <a:extLst>
              <a:ext uri="{FF2B5EF4-FFF2-40B4-BE49-F238E27FC236}">
                <a16:creationId xmlns:a16="http://schemas.microsoft.com/office/drawing/2014/main" id="{7C6C3FC1-C774-463B-9FD7-81126D4180C3}"/>
              </a:ext>
            </a:extLst>
          </p:cNvPr>
          <p:cNvPicPr>
            <a:picLocks noChangeAspect="1"/>
          </p:cNvPicPr>
          <p:nvPr/>
        </p:nvPicPr>
        <p:blipFill>
          <a:blip r:embed="rId3"/>
          <a:stretch>
            <a:fillRect/>
          </a:stretch>
        </p:blipFill>
        <p:spPr>
          <a:xfrm>
            <a:off x="8137797" y="233254"/>
            <a:ext cx="2057687" cy="1552792"/>
          </a:xfrm>
          <a:prstGeom prst="rect">
            <a:avLst/>
          </a:prstGeom>
        </p:spPr>
      </p:pic>
      <p:pic>
        <p:nvPicPr>
          <p:cNvPr id="10" name="Grafik 9">
            <a:extLst>
              <a:ext uri="{FF2B5EF4-FFF2-40B4-BE49-F238E27FC236}">
                <a16:creationId xmlns:a16="http://schemas.microsoft.com/office/drawing/2014/main" id="{53615F0A-B83E-4190-85B2-87C02246249B}"/>
              </a:ext>
            </a:extLst>
          </p:cNvPr>
          <p:cNvPicPr>
            <a:picLocks noChangeAspect="1"/>
          </p:cNvPicPr>
          <p:nvPr/>
        </p:nvPicPr>
        <p:blipFill>
          <a:blip r:embed="rId4"/>
          <a:stretch>
            <a:fillRect/>
          </a:stretch>
        </p:blipFill>
        <p:spPr>
          <a:xfrm>
            <a:off x="7732928" y="5327494"/>
            <a:ext cx="2867425" cy="828791"/>
          </a:xfrm>
          <a:prstGeom prst="rect">
            <a:avLst/>
          </a:prstGeom>
        </p:spPr>
      </p:pic>
      <p:cxnSp>
        <p:nvCxnSpPr>
          <p:cNvPr id="12" name="Gerade Verbindung mit Pfeil 11">
            <a:extLst>
              <a:ext uri="{FF2B5EF4-FFF2-40B4-BE49-F238E27FC236}">
                <a16:creationId xmlns:a16="http://schemas.microsoft.com/office/drawing/2014/main" id="{84A80B7F-8CD9-4A5A-BA34-502FC6CC36B6}"/>
              </a:ext>
            </a:extLst>
          </p:cNvPr>
          <p:cNvCxnSpPr>
            <a:stCxn id="8" idx="2"/>
            <a:endCxn id="6" idx="0"/>
          </p:cNvCxnSpPr>
          <p:nvPr/>
        </p:nvCxnSpPr>
        <p:spPr>
          <a:xfrm flipH="1">
            <a:off x="9166640" y="1786046"/>
            <a:ext cx="1" cy="275275"/>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3" name="Textfeld 12">
            <a:extLst>
              <a:ext uri="{FF2B5EF4-FFF2-40B4-BE49-F238E27FC236}">
                <a16:creationId xmlns:a16="http://schemas.microsoft.com/office/drawing/2014/main" id="{A98853EE-1057-4915-AECC-5B5549C8C274}"/>
              </a:ext>
            </a:extLst>
          </p:cNvPr>
          <p:cNvSpPr txBox="1"/>
          <p:nvPr/>
        </p:nvSpPr>
        <p:spPr>
          <a:xfrm>
            <a:off x="7275752" y="5141725"/>
            <a:ext cx="457176" cy="1200329"/>
          </a:xfrm>
          <a:prstGeom prst="rect">
            <a:avLst/>
          </a:prstGeom>
          <a:noFill/>
        </p:spPr>
        <p:txBody>
          <a:bodyPr wrap="none" rtlCol="0">
            <a:spAutoFit/>
          </a:bodyPr>
          <a:lstStyle/>
          <a:p>
            <a:r>
              <a:rPr lang="de-DE" sz="7200" dirty="0">
                <a:solidFill>
                  <a:srgbClr val="C00000"/>
                </a:solidFill>
              </a:rPr>
              <a:t>(</a:t>
            </a:r>
            <a:endParaRPr lang="de-DE" dirty="0">
              <a:solidFill>
                <a:srgbClr val="C00000"/>
              </a:solidFill>
            </a:endParaRPr>
          </a:p>
        </p:txBody>
      </p:sp>
      <p:sp>
        <p:nvSpPr>
          <p:cNvPr id="14" name="Textfeld 13">
            <a:extLst>
              <a:ext uri="{FF2B5EF4-FFF2-40B4-BE49-F238E27FC236}">
                <a16:creationId xmlns:a16="http://schemas.microsoft.com/office/drawing/2014/main" id="{D8017CC6-35B7-4F7E-A3D2-410623F80156}"/>
              </a:ext>
            </a:extLst>
          </p:cNvPr>
          <p:cNvSpPr txBox="1"/>
          <p:nvPr/>
        </p:nvSpPr>
        <p:spPr>
          <a:xfrm>
            <a:off x="10515600" y="5141725"/>
            <a:ext cx="457176" cy="1200329"/>
          </a:xfrm>
          <a:prstGeom prst="rect">
            <a:avLst/>
          </a:prstGeom>
          <a:noFill/>
        </p:spPr>
        <p:txBody>
          <a:bodyPr wrap="none" rtlCol="0">
            <a:spAutoFit/>
          </a:bodyPr>
          <a:lstStyle/>
          <a:p>
            <a:r>
              <a:rPr lang="de-DE" sz="7200" dirty="0">
                <a:solidFill>
                  <a:srgbClr val="C00000"/>
                </a:solidFill>
              </a:rPr>
              <a:t>)</a:t>
            </a:r>
            <a:endParaRPr lang="de-DE" dirty="0">
              <a:solidFill>
                <a:srgbClr val="C00000"/>
              </a:solidFill>
            </a:endParaRPr>
          </a:p>
        </p:txBody>
      </p:sp>
      <p:cxnSp>
        <p:nvCxnSpPr>
          <p:cNvPr id="16" name="Gerade Verbindung mit Pfeil 15">
            <a:extLst>
              <a:ext uri="{FF2B5EF4-FFF2-40B4-BE49-F238E27FC236}">
                <a16:creationId xmlns:a16="http://schemas.microsoft.com/office/drawing/2014/main" id="{AAC4AE62-CA80-4786-AD94-D6B4AD75ADB5}"/>
              </a:ext>
            </a:extLst>
          </p:cNvPr>
          <p:cNvCxnSpPr>
            <a:cxnSpLocks/>
            <a:endCxn id="13" idx="1"/>
          </p:cNvCxnSpPr>
          <p:nvPr/>
        </p:nvCxnSpPr>
        <p:spPr>
          <a:xfrm>
            <a:off x="5591175" y="4876800"/>
            <a:ext cx="1684577" cy="865090"/>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6581270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2A49A6F-B8D8-4277-AA93-D71C8495ADB1}"/>
              </a:ext>
            </a:extLst>
          </p:cNvPr>
          <p:cNvSpPr>
            <a:spLocks noGrp="1"/>
          </p:cNvSpPr>
          <p:nvPr>
            <p:ph type="title"/>
          </p:nvPr>
        </p:nvSpPr>
        <p:spPr/>
        <p:txBody>
          <a:bodyPr/>
          <a:lstStyle/>
          <a:p>
            <a:r>
              <a:rPr lang="de-DE" dirty="0"/>
              <a:t>Simulation</a:t>
            </a:r>
            <a:br>
              <a:rPr lang="de-DE" dirty="0"/>
            </a:br>
            <a:r>
              <a:rPr lang="de-DE" sz="2000" dirty="0"/>
              <a:t> </a:t>
            </a:r>
            <a:br>
              <a:rPr lang="de-DE" sz="3200" dirty="0"/>
            </a:br>
            <a:r>
              <a:rPr lang="de-DE" sz="2400" dirty="0"/>
              <a:t>Time &amp; </a:t>
            </a:r>
            <a:r>
              <a:rPr lang="de-DE" sz="2400" dirty="0" err="1"/>
              <a:t>Cost</a:t>
            </a:r>
            <a:endParaRPr lang="de-DE" dirty="0"/>
          </a:p>
        </p:txBody>
      </p:sp>
      <p:sp>
        <p:nvSpPr>
          <p:cNvPr id="3" name="Textplatzhalter 2">
            <a:extLst>
              <a:ext uri="{FF2B5EF4-FFF2-40B4-BE49-F238E27FC236}">
                <a16:creationId xmlns:a16="http://schemas.microsoft.com/office/drawing/2014/main" id="{0FC48D22-7AD6-4930-91E8-B8A27957D613}"/>
              </a:ext>
            </a:extLst>
          </p:cNvPr>
          <p:cNvSpPr>
            <a:spLocks noGrp="1"/>
          </p:cNvSpPr>
          <p:nvPr>
            <p:ph type="body" sz="quarter" idx="11"/>
          </p:nvPr>
        </p:nvSpPr>
        <p:spPr/>
        <p:txBody>
          <a:bodyPr>
            <a:normAutofit/>
          </a:bodyPr>
          <a:lstStyle/>
          <a:p>
            <a:r>
              <a:rPr lang="de-DE" sz="1800" dirty="0" err="1"/>
              <a:t>Clicking</a:t>
            </a:r>
            <a:r>
              <a:rPr lang="de-DE" sz="1800" dirty="0"/>
              <a:t> </a:t>
            </a:r>
            <a:r>
              <a:rPr lang="de-DE" sz="1800" dirty="0" err="1"/>
              <a:t>the</a:t>
            </a:r>
            <a:r>
              <a:rPr lang="de-DE" sz="1800" dirty="0"/>
              <a:t> </a:t>
            </a:r>
            <a:r>
              <a:rPr lang="de-DE" sz="1800" b="1" dirty="0"/>
              <a:t>Time &amp; </a:t>
            </a:r>
            <a:r>
              <a:rPr lang="de-DE" sz="1800" b="1" dirty="0" err="1"/>
              <a:t>Cost</a:t>
            </a:r>
            <a:r>
              <a:rPr lang="de-DE" sz="1800" dirty="0"/>
              <a:t> </a:t>
            </a:r>
            <a:r>
              <a:rPr lang="de-DE" sz="1800" dirty="0" err="1"/>
              <a:t>button</a:t>
            </a:r>
            <a:r>
              <a:rPr lang="de-DE" sz="1800" dirty="0"/>
              <a:t> in </a:t>
            </a:r>
            <a:r>
              <a:rPr lang="de-DE" sz="1800" dirty="0" err="1"/>
              <a:t>the</a:t>
            </a:r>
            <a:r>
              <a:rPr lang="de-DE" sz="1800" dirty="0"/>
              <a:t> top </a:t>
            </a:r>
            <a:r>
              <a:rPr lang="de-DE" sz="1800" dirty="0" err="1"/>
              <a:t>right</a:t>
            </a:r>
            <a:r>
              <a:rPr lang="de-DE" sz="1800" dirty="0"/>
              <a:t> </a:t>
            </a:r>
            <a:r>
              <a:rPr lang="de-DE" sz="1800" dirty="0" err="1"/>
              <a:t>corner</a:t>
            </a:r>
            <a:r>
              <a:rPr lang="de-DE" sz="1800" dirty="0"/>
              <a:t> </a:t>
            </a:r>
            <a:r>
              <a:rPr lang="de-DE" sz="1800" dirty="0" err="1"/>
              <a:t>of</a:t>
            </a:r>
            <a:r>
              <a:rPr lang="de-DE" sz="1800" dirty="0"/>
              <a:t> </a:t>
            </a:r>
            <a:r>
              <a:rPr lang="de-DE" sz="1800" dirty="0" err="1"/>
              <a:t>the</a:t>
            </a:r>
            <a:r>
              <a:rPr lang="de-DE" sz="1800" dirty="0"/>
              <a:t> </a:t>
            </a:r>
            <a:r>
              <a:rPr lang="de-DE" sz="1800" dirty="0" err="1"/>
              <a:t>action</a:t>
            </a:r>
            <a:r>
              <a:rPr lang="de-DE" sz="1800" dirty="0"/>
              <a:t> </a:t>
            </a:r>
            <a:r>
              <a:rPr lang="de-DE" sz="1800" dirty="0" err="1"/>
              <a:t>row</a:t>
            </a:r>
            <a:r>
              <a:rPr lang="de-DE" sz="1800" dirty="0"/>
              <a:t> </a:t>
            </a:r>
            <a:r>
              <a:rPr lang="de-DE" sz="1800" dirty="0" err="1"/>
              <a:t>performs</a:t>
            </a:r>
            <a:r>
              <a:rPr lang="de-DE" sz="1800" dirty="0"/>
              <a:t> a quick </a:t>
            </a:r>
            <a:r>
              <a:rPr lang="de-DE" sz="1800" dirty="0" err="1"/>
              <a:t>one</a:t>
            </a:r>
            <a:r>
              <a:rPr lang="de-DE" sz="1800" dirty="0"/>
              <a:t>-time-run </a:t>
            </a:r>
            <a:r>
              <a:rPr lang="de-DE" sz="1800" dirty="0" err="1"/>
              <a:t>cost</a:t>
            </a:r>
            <a:r>
              <a:rPr lang="de-DE" sz="1800" dirty="0"/>
              <a:t> and time </a:t>
            </a:r>
            <a:r>
              <a:rPr lang="de-DE" sz="1800" dirty="0" err="1"/>
              <a:t>analysis</a:t>
            </a:r>
            <a:r>
              <a:rPr lang="de-DE" sz="1800" dirty="0"/>
              <a:t>.</a:t>
            </a:r>
          </a:p>
          <a:p>
            <a:r>
              <a:rPr lang="de-DE" sz="1800" dirty="0"/>
              <a:t>(Modeling </a:t>
            </a:r>
            <a:r>
              <a:rPr lang="de-DE" sz="1800" dirty="0" err="1"/>
              <a:t>tab</a:t>
            </a:r>
            <a:r>
              <a:rPr lang="de-DE" sz="1800" dirty="0"/>
              <a:t>)</a:t>
            </a:r>
          </a:p>
        </p:txBody>
      </p:sp>
      <p:grpSp>
        <p:nvGrpSpPr>
          <p:cNvPr id="8" name="Gruppieren 7">
            <a:extLst>
              <a:ext uri="{FF2B5EF4-FFF2-40B4-BE49-F238E27FC236}">
                <a16:creationId xmlns:a16="http://schemas.microsoft.com/office/drawing/2014/main" id="{D0A9CF43-2D30-46D6-82B5-A774EB8E7405}"/>
              </a:ext>
            </a:extLst>
          </p:cNvPr>
          <p:cNvGrpSpPr/>
          <p:nvPr/>
        </p:nvGrpSpPr>
        <p:grpSpPr>
          <a:xfrm>
            <a:off x="6434669" y="646580"/>
            <a:ext cx="5275252" cy="3073774"/>
            <a:chOff x="6411124" y="1781175"/>
            <a:chExt cx="5275252" cy="3073774"/>
          </a:xfrm>
        </p:grpSpPr>
        <p:pic>
          <p:nvPicPr>
            <p:cNvPr id="6" name="Grafik 5">
              <a:extLst>
                <a:ext uri="{FF2B5EF4-FFF2-40B4-BE49-F238E27FC236}">
                  <a16:creationId xmlns:a16="http://schemas.microsoft.com/office/drawing/2014/main" id="{2C8A0BE5-937B-4B86-A82B-5DFE3A5FE261}"/>
                </a:ext>
              </a:extLst>
            </p:cNvPr>
            <p:cNvPicPr>
              <a:picLocks noChangeAspect="1"/>
            </p:cNvPicPr>
            <p:nvPr/>
          </p:nvPicPr>
          <p:blipFill rotWithShape="1">
            <a:blip r:embed="rId2"/>
            <a:srcRect l="36563" r="26172" b="59126"/>
            <a:stretch/>
          </p:blipFill>
          <p:spPr>
            <a:xfrm>
              <a:off x="6411124" y="1781175"/>
              <a:ext cx="5275252" cy="3073774"/>
            </a:xfrm>
            <a:prstGeom prst="rect">
              <a:avLst/>
            </a:prstGeom>
          </p:spPr>
        </p:pic>
        <p:sp>
          <p:nvSpPr>
            <p:cNvPr id="7" name="Ellipse 6">
              <a:extLst>
                <a:ext uri="{FF2B5EF4-FFF2-40B4-BE49-F238E27FC236}">
                  <a16:creationId xmlns:a16="http://schemas.microsoft.com/office/drawing/2014/main" id="{7FDD81C2-1509-4B2C-A9D8-8C73855E8022}"/>
                </a:ext>
              </a:extLst>
            </p:cNvPr>
            <p:cNvSpPr/>
            <p:nvPr/>
          </p:nvSpPr>
          <p:spPr>
            <a:xfrm>
              <a:off x="9105900" y="2108946"/>
              <a:ext cx="428625" cy="428625"/>
            </a:xfrm>
            <a:prstGeom prst="ellipse">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grpSp>
      <p:pic>
        <p:nvPicPr>
          <p:cNvPr id="10" name="Grafik 9">
            <a:extLst>
              <a:ext uri="{FF2B5EF4-FFF2-40B4-BE49-F238E27FC236}">
                <a16:creationId xmlns:a16="http://schemas.microsoft.com/office/drawing/2014/main" id="{0935EB04-4D6F-471B-8C97-7970AE0D08AF}"/>
              </a:ext>
            </a:extLst>
          </p:cNvPr>
          <p:cNvPicPr>
            <a:picLocks noChangeAspect="1"/>
          </p:cNvPicPr>
          <p:nvPr/>
        </p:nvPicPr>
        <p:blipFill>
          <a:blip r:embed="rId3"/>
          <a:stretch>
            <a:fillRect/>
          </a:stretch>
        </p:blipFill>
        <p:spPr>
          <a:xfrm>
            <a:off x="7067003" y="4332433"/>
            <a:ext cx="4010585" cy="1771897"/>
          </a:xfrm>
          <a:prstGeom prst="rect">
            <a:avLst/>
          </a:prstGeom>
        </p:spPr>
      </p:pic>
      <p:cxnSp>
        <p:nvCxnSpPr>
          <p:cNvPr id="12" name="Gerade Verbindung mit Pfeil 11">
            <a:extLst>
              <a:ext uri="{FF2B5EF4-FFF2-40B4-BE49-F238E27FC236}">
                <a16:creationId xmlns:a16="http://schemas.microsoft.com/office/drawing/2014/main" id="{50EAA12B-3723-4A66-9DDA-F839CD51ED51}"/>
              </a:ext>
            </a:extLst>
          </p:cNvPr>
          <p:cNvCxnSpPr>
            <a:cxnSpLocks/>
            <a:stCxn id="6" idx="2"/>
            <a:endCxn id="10" idx="0"/>
          </p:cNvCxnSpPr>
          <p:nvPr/>
        </p:nvCxnSpPr>
        <p:spPr>
          <a:xfrm>
            <a:off x="9072295" y="3720354"/>
            <a:ext cx="1" cy="612079"/>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7222880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CC76F2D-3E4A-46D6-9AE5-C95677C4259B}"/>
              </a:ext>
            </a:extLst>
          </p:cNvPr>
          <p:cNvSpPr>
            <a:spLocks noGrp="1"/>
          </p:cNvSpPr>
          <p:nvPr>
            <p:ph type="title"/>
          </p:nvPr>
        </p:nvSpPr>
        <p:spPr/>
        <p:txBody>
          <a:bodyPr/>
          <a:lstStyle/>
          <a:p>
            <a:r>
              <a:rPr lang="de-DE" dirty="0"/>
              <a:t>Simulation</a:t>
            </a:r>
            <a:br>
              <a:rPr lang="de-DE" dirty="0"/>
            </a:br>
            <a:r>
              <a:rPr lang="de-DE" dirty="0"/>
              <a:t> </a:t>
            </a:r>
            <a:br>
              <a:rPr lang="de-DE" sz="2000" dirty="0"/>
            </a:br>
            <a:r>
              <a:rPr lang="de-DE" sz="2400" dirty="0"/>
              <a:t>Path Analysis</a:t>
            </a:r>
            <a:endParaRPr lang="de-DE" dirty="0"/>
          </a:p>
        </p:txBody>
      </p:sp>
      <p:sp>
        <p:nvSpPr>
          <p:cNvPr id="3" name="Textplatzhalter 2">
            <a:extLst>
              <a:ext uri="{FF2B5EF4-FFF2-40B4-BE49-F238E27FC236}">
                <a16:creationId xmlns:a16="http://schemas.microsoft.com/office/drawing/2014/main" id="{95E278D6-0FC7-474E-AFF6-D5FE8B73C607}"/>
              </a:ext>
            </a:extLst>
          </p:cNvPr>
          <p:cNvSpPr>
            <a:spLocks noGrp="1"/>
          </p:cNvSpPr>
          <p:nvPr>
            <p:ph type="body" sz="quarter" idx="11"/>
          </p:nvPr>
        </p:nvSpPr>
        <p:spPr/>
        <p:txBody>
          <a:bodyPr>
            <a:normAutofit/>
          </a:bodyPr>
          <a:lstStyle/>
          <a:p>
            <a:r>
              <a:rPr lang="en-US" sz="1800" dirty="0"/>
              <a:t>Changing to the </a:t>
            </a:r>
            <a:r>
              <a:rPr lang="en-US" sz="1800" b="1" dirty="0"/>
              <a:t>Simulation Tab</a:t>
            </a:r>
            <a:r>
              <a:rPr lang="en-US" sz="1800" dirty="0"/>
              <a:t>, you can define more precise simulation parameters. One of which is a </a:t>
            </a:r>
            <a:r>
              <a:rPr lang="en-US" sz="1800" b="1" dirty="0"/>
              <a:t>Path Analysis</a:t>
            </a:r>
            <a:r>
              <a:rPr lang="en-US" sz="1800" dirty="0"/>
              <a:t>. This simulation analyzes how often the individual paths of the entire process are executed for x-amount of runs.</a:t>
            </a:r>
            <a:br>
              <a:rPr lang="en-US" sz="1800" dirty="0"/>
            </a:br>
            <a:r>
              <a:rPr lang="en-US" sz="1800" dirty="0"/>
              <a:t>This becomes more relevant the more gateways and decision logics there are within a process.</a:t>
            </a:r>
          </a:p>
          <a:p>
            <a:r>
              <a:rPr lang="en-US" sz="1800" dirty="0"/>
              <a:t>Here, you can choose how often the process should be simulated and provide the amount of working days per year and hours per working day. </a:t>
            </a:r>
          </a:p>
        </p:txBody>
      </p:sp>
      <p:grpSp>
        <p:nvGrpSpPr>
          <p:cNvPr id="11" name="Gruppieren 10">
            <a:extLst>
              <a:ext uri="{FF2B5EF4-FFF2-40B4-BE49-F238E27FC236}">
                <a16:creationId xmlns:a16="http://schemas.microsoft.com/office/drawing/2014/main" id="{963591A2-ED16-4C70-BAB0-93AF86B8F9F1}"/>
              </a:ext>
            </a:extLst>
          </p:cNvPr>
          <p:cNvGrpSpPr/>
          <p:nvPr/>
        </p:nvGrpSpPr>
        <p:grpSpPr>
          <a:xfrm>
            <a:off x="6870887" y="270934"/>
            <a:ext cx="4363821" cy="1500716"/>
            <a:chOff x="6870887" y="270934"/>
            <a:chExt cx="4363821" cy="1500716"/>
          </a:xfrm>
        </p:grpSpPr>
        <p:pic>
          <p:nvPicPr>
            <p:cNvPr id="5" name="Grafik 4">
              <a:extLst>
                <a:ext uri="{FF2B5EF4-FFF2-40B4-BE49-F238E27FC236}">
                  <a16:creationId xmlns:a16="http://schemas.microsoft.com/office/drawing/2014/main" id="{E0E9172F-8746-4C4B-989E-D1EFBB3623CD}"/>
                </a:ext>
              </a:extLst>
            </p:cNvPr>
            <p:cNvPicPr>
              <a:picLocks noChangeAspect="1"/>
            </p:cNvPicPr>
            <p:nvPr/>
          </p:nvPicPr>
          <p:blipFill rotWithShape="1">
            <a:blip r:embed="rId2"/>
            <a:srcRect l="1" r="66517" b="78390"/>
            <a:stretch/>
          </p:blipFill>
          <p:spPr>
            <a:xfrm>
              <a:off x="6958544" y="270934"/>
              <a:ext cx="4276164" cy="1500716"/>
            </a:xfrm>
            <a:prstGeom prst="rect">
              <a:avLst/>
            </a:prstGeom>
          </p:spPr>
        </p:pic>
        <p:sp>
          <p:nvSpPr>
            <p:cNvPr id="6" name="Ellipse 5">
              <a:extLst>
                <a:ext uri="{FF2B5EF4-FFF2-40B4-BE49-F238E27FC236}">
                  <a16:creationId xmlns:a16="http://schemas.microsoft.com/office/drawing/2014/main" id="{43354F2C-193D-41BF-81D5-02B223D8469F}"/>
                </a:ext>
              </a:extLst>
            </p:cNvPr>
            <p:cNvSpPr/>
            <p:nvPr/>
          </p:nvSpPr>
          <p:spPr>
            <a:xfrm>
              <a:off x="6870887" y="298817"/>
              <a:ext cx="1228164" cy="605498"/>
            </a:xfrm>
            <a:prstGeom prst="ellipse">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grpSp>
      <p:grpSp>
        <p:nvGrpSpPr>
          <p:cNvPr id="10" name="Gruppieren 9">
            <a:extLst>
              <a:ext uri="{FF2B5EF4-FFF2-40B4-BE49-F238E27FC236}">
                <a16:creationId xmlns:a16="http://schemas.microsoft.com/office/drawing/2014/main" id="{FC6AB473-09CD-4185-91D1-AC891DFBA013}"/>
              </a:ext>
            </a:extLst>
          </p:cNvPr>
          <p:cNvGrpSpPr/>
          <p:nvPr/>
        </p:nvGrpSpPr>
        <p:grpSpPr>
          <a:xfrm>
            <a:off x="6958545" y="2321389"/>
            <a:ext cx="4276164" cy="1500716"/>
            <a:chOff x="6958545" y="2143125"/>
            <a:chExt cx="4276164" cy="1500716"/>
          </a:xfrm>
        </p:grpSpPr>
        <p:pic>
          <p:nvPicPr>
            <p:cNvPr id="8" name="Grafik 7">
              <a:extLst>
                <a:ext uri="{FF2B5EF4-FFF2-40B4-BE49-F238E27FC236}">
                  <a16:creationId xmlns:a16="http://schemas.microsoft.com/office/drawing/2014/main" id="{BB3EFB60-5FAD-45EB-BAAB-AB2C23E248E8}"/>
                </a:ext>
              </a:extLst>
            </p:cNvPr>
            <p:cNvPicPr>
              <a:picLocks noChangeAspect="1"/>
            </p:cNvPicPr>
            <p:nvPr/>
          </p:nvPicPr>
          <p:blipFill rotWithShape="1">
            <a:blip r:embed="rId3"/>
            <a:srcRect r="64926" b="76830"/>
            <a:stretch/>
          </p:blipFill>
          <p:spPr>
            <a:xfrm>
              <a:off x="6958545" y="2143125"/>
              <a:ext cx="4276164" cy="1500716"/>
            </a:xfrm>
            <a:prstGeom prst="rect">
              <a:avLst/>
            </a:prstGeom>
          </p:spPr>
        </p:pic>
        <p:sp>
          <p:nvSpPr>
            <p:cNvPr id="9" name="Ellipse 8">
              <a:extLst>
                <a:ext uri="{FF2B5EF4-FFF2-40B4-BE49-F238E27FC236}">
                  <a16:creationId xmlns:a16="http://schemas.microsoft.com/office/drawing/2014/main" id="{BB0D6A35-5F36-4DBE-9282-9A9966EA907D}"/>
                </a:ext>
              </a:extLst>
            </p:cNvPr>
            <p:cNvSpPr/>
            <p:nvPr/>
          </p:nvSpPr>
          <p:spPr>
            <a:xfrm>
              <a:off x="9363075" y="2394696"/>
              <a:ext cx="428625" cy="428625"/>
            </a:xfrm>
            <a:prstGeom prst="ellipse">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grpSp>
      <p:cxnSp>
        <p:nvCxnSpPr>
          <p:cNvPr id="13" name="Gerade Verbindung mit Pfeil 12">
            <a:extLst>
              <a:ext uri="{FF2B5EF4-FFF2-40B4-BE49-F238E27FC236}">
                <a16:creationId xmlns:a16="http://schemas.microsoft.com/office/drawing/2014/main" id="{D8AA9C83-CE71-47D3-B3A6-23F949386843}"/>
              </a:ext>
            </a:extLst>
          </p:cNvPr>
          <p:cNvCxnSpPr>
            <a:stCxn id="5" idx="2"/>
            <a:endCxn id="8" idx="0"/>
          </p:cNvCxnSpPr>
          <p:nvPr/>
        </p:nvCxnSpPr>
        <p:spPr>
          <a:xfrm>
            <a:off x="9096626" y="1771650"/>
            <a:ext cx="1" cy="549739"/>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pic>
        <p:nvPicPr>
          <p:cNvPr id="15" name="Grafik 14">
            <a:extLst>
              <a:ext uri="{FF2B5EF4-FFF2-40B4-BE49-F238E27FC236}">
                <a16:creationId xmlns:a16="http://schemas.microsoft.com/office/drawing/2014/main" id="{4F54D558-1351-4622-9DA2-6101A74459C6}"/>
              </a:ext>
            </a:extLst>
          </p:cNvPr>
          <p:cNvPicPr>
            <a:picLocks noChangeAspect="1"/>
          </p:cNvPicPr>
          <p:nvPr/>
        </p:nvPicPr>
        <p:blipFill>
          <a:blip r:embed="rId4"/>
          <a:stretch>
            <a:fillRect/>
          </a:stretch>
        </p:blipFill>
        <p:spPr>
          <a:xfrm>
            <a:off x="7072281" y="4371844"/>
            <a:ext cx="4048690" cy="1629002"/>
          </a:xfrm>
          <a:prstGeom prst="rect">
            <a:avLst/>
          </a:prstGeom>
        </p:spPr>
      </p:pic>
      <p:cxnSp>
        <p:nvCxnSpPr>
          <p:cNvPr id="17" name="Gerade Verbindung mit Pfeil 16">
            <a:extLst>
              <a:ext uri="{FF2B5EF4-FFF2-40B4-BE49-F238E27FC236}">
                <a16:creationId xmlns:a16="http://schemas.microsoft.com/office/drawing/2014/main" id="{94251907-A645-4E8B-BF00-CCCFD45C3F8B}"/>
              </a:ext>
            </a:extLst>
          </p:cNvPr>
          <p:cNvCxnSpPr>
            <a:stCxn id="8" idx="2"/>
            <a:endCxn id="15" idx="0"/>
          </p:cNvCxnSpPr>
          <p:nvPr/>
        </p:nvCxnSpPr>
        <p:spPr>
          <a:xfrm flipH="1">
            <a:off x="9096626" y="3822105"/>
            <a:ext cx="1" cy="549739"/>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6006476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B705EF6-2CA8-42F8-B999-157AD66457E2}"/>
              </a:ext>
            </a:extLst>
          </p:cNvPr>
          <p:cNvSpPr>
            <a:spLocks noGrp="1"/>
          </p:cNvSpPr>
          <p:nvPr>
            <p:ph type="title"/>
          </p:nvPr>
        </p:nvSpPr>
        <p:spPr/>
        <p:txBody>
          <a:bodyPr/>
          <a:lstStyle/>
          <a:p>
            <a:r>
              <a:rPr lang="de-DE" dirty="0"/>
              <a:t>Simulation</a:t>
            </a:r>
            <a:br>
              <a:rPr lang="de-DE" dirty="0"/>
            </a:br>
            <a:r>
              <a:rPr lang="de-DE" sz="2000" dirty="0"/>
              <a:t> </a:t>
            </a:r>
            <a:br>
              <a:rPr lang="de-DE" sz="3200" dirty="0"/>
            </a:br>
            <a:r>
              <a:rPr lang="de-DE" sz="2400" dirty="0"/>
              <a:t>Path Analysis</a:t>
            </a:r>
            <a:endParaRPr lang="de-DE" dirty="0"/>
          </a:p>
        </p:txBody>
      </p:sp>
      <p:sp>
        <p:nvSpPr>
          <p:cNvPr id="4" name="Textplatzhalter 3">
            <a:extLst>
              <a:ext uri="{FF2B5EF4-FFF2-40B4-BE49-F238E27FC236}">
                <a16:creationId xmlns:a16="http://schemas.microsoft.com/office/drawing/2014/main" id="{B6BCA4AD-E82D-470F-BDCB-3650F1B81B0F}"/>
              </a:ext>
            </a:extLst>
          </p:cNvPr>
          <p:cNvSpPr>
            <a:spLocks noGrp="1"/>
          </p:cNvSpPr>
          <p:nvPr>
            <p:ph type="body" sz="quarter" idx="11"/>
          </p:nvPr>
        </p:nvSpPr>
        <p:spPr/>
        <p:txBody>
          <a:bodyPr/>
          <a:lstStyle/>
          <a:p>
            <a:r>
              <a:rPr lang="de-DE" dirty="0" err="1"/>
              <a:t>For</a:t>
            </a:r>
            <a:r>
              <a:rPr lang="de-DE" dirty="0"/>
              <a:t> </a:t>
            </a:r>
            <a:r>
              <a:rPr lang="de-DE" dirty="0" err="1"/>
              <a:t>the</a:t>
            </a:r>
            <a:r>
              <a:rPr lang="de-DE" dirty="0"/>
              <a:t> </a:t>
            </a:r>
            <a:r>
              <a:rPr lang="de-DE" b="1" dirty="0"/>
              <a:t>Path Analysis</a:t>
            </a:r>
            <a:r>
              <a:rPr lang="de-DE" dirty="0"/>
              <a:t> </a:t>
            </a:r>
            <a:r>
              <a:rPr lang="de-DE" dirty="0" err="1"/>
              <a:t>you</a:t>
            </a:r>
            <a:r>
              <a:rPr lang="de-DE" dirty="0"/>
              <a:t> </a:t>
            </a:r>
            <a:r>
              <a:rPr lang="de-DE" dirty="0" err="1"/>
              <a:t>can</a:t>
            </a:r>
            <a:r>
              <a:rPr lang="de-DE" dirty="0"/>
              <a:t> </a:t>
            </a:r>
            <a:r>
              <a:rPr lang="de-DE" dirty="0" err="1"/>
              <a:t>chose</a:t>
            </a:r>
            <a:r>
              <a:rPr lang="de-DE" dirty="0"/>
              <a:t> </a:t>
            </a:r>
            <a:r>
              <a:rPr lang="de-DE" dirty="0" err="1"/>
              <a:t>between</a:t>
            </a:r>
            <a:r>
              <a:rPr lang="de-DE" dirty="0"/>
              <a:t> different </a:t>
            </a:r>
            <a:r>
              <a:rPr lang="de-DE" b="1" dirty="0" err="1"/>
              <a:t>Cirteria</a:t>
            </a:r>
            <a:r>
              <a:rPr lang="de-DE" b="1" dirty="0"/>
              <a:t> </a:t>
            </a:r>
            <a:r>
              <a:rPr lang="de-DE" dirty="0" err="1"/>
              <a:t>to</a:t>
            </a:r>
            <a:r>
              <a:rPr lang="de-DE" dirty="0"/>
              <a:t> </a:t>
            </a:r>
            <a:r>
              <a:rPr lang="de-DE" dirty="0" err="1"/>
              <a:t>be</a:t>
            </a:r>
            <a:r>
              <a:rPr lang="de-DE" dirty="0"/>
              <a:t> </a:t>
            </a:r>
            <a:r>
              <a:rPr lang="de-DE" dirty="0" err="1"/>
              <a:t>evaluated</a:t>
            </a:r>
            <a:r>
              <a:rPr lang="de-DE" dirty="0"/>
              <a:t>.</a:t>
            </a:r>
          </a:p>
          <a:p>
            <a:r>
              <a:rPr lang="de-DE" dirty="0" err="1"/>
              <a:t>Clicking</a:t>
            </a:r>
            <a:r>
              <a:rPr lang="de-DE" dirty="0"/>
              <a:t> on </a:t>
            </a:r>
            <a:r>
              <a:rPr lang="de-DE" b="1" dirty="0"/>
              <a:t>Path </a:t>
            </a:r>
            <a:r>
              <a:rPr lang="de-DE" b="1" dirty="0" err="1"/>
              <a:t>Results</a:t>
            </a:r>
            <a:r>
              <a:rPr lang="de-DE" b="1" dirty="0"/>
              <a:t>… </a:t>
            </a:r>
            <a:r>
              <a:rPr lang="de-DE" dirty="0" err="1"/>
              <a:t>provides</a:t>
            </a:r>
            <a:r>
              <a:rPr lang="de-DE" dirty="0"/>
              <a:t> </a:t>
            </a:r>
            <a:r>
              <a:rPr lang="de-DE" dirty="0" err="1"/>
              <a:t>the</a:t>
            </a:r>
            <a:r>
              <a:rPr lang="de-DE" dirty="0"/>
              <a:t> </a:t>
            </a:r>
            <a:r>
              <a:rPr lang="de-DE" dirty="0" err="1"/>
              <a:t>information</a:t>
            </a:r>
            <a:r>
              <a:rPr lang="de-DE" dirty="0"/>
              <a:t> </a:t>
            </a:r>
            <a:r>
              <a:rPr lang="de-DE" dirty="0" err="1"/>
              <a:t>for</a:t>
            </a:r>
            <a:r>
              <a:rPr lang="de-DE" dirty="0"/>
              <a:t> </a:t>
            </a:r>
            <a:r>
              <a:rPr lang="de-DE" dirty="0" err="1"/>
              <a:t>the</a:t>
            </a:r>
            <a:r>
              <a:rPr lang="de-DE" dirty="0"/>
              <a:t> </a:t>
            </a:r>
            <a:r>
              <a:rPr lang="de-DE" dirty="0" err="1"/>
              <a:t>selcted</a:t>
            </a:r>
            <a:r>
              <a:rPr lang="de-DE" dirty="0"/>
              <a:t> </a:t>
            </a:r>
            <a:r>
              <a:rPr lang="de-DE" dirty="0" err="1"/>
              <a:t>path</a:t>
            </a:r>
            <a:r>
              <a:rPr lang="de-DE" dirty="0"/>
              <a:t>.</a:t>
            </a:r>
          </a:p>
          <a:p>
            <a:r>
              <a:rPr lang="de-DE" dirty="0" err="1"/>
              <a:t>Clicking</a:t>
            </a:r>
            <a:r>
              <a:rPr lang="de-DE" dirty="0"/>
              <a:t> on </a:t>
            </a:r>
            <a:r>
              <a:rPr lang="de-DE" b="1" dirty="0" err="1"/>
              <a:t>Results</a:t>
            </a:r>
            <a:r>
              <a:rPr lang="de-DE" b="1" dirty="0"/>
              <a:t>…</a:t>
            </a:r>
            <a:r>
              <a:rPr lang="de-DE" dirty="0"/>
              <a:t> </a:t>
            </a:r>
            <a:r>
              <a:rPr lang="de-DE" dirty="0" err="1"/>
              <a:t>provides</a:t>
            </a:r>
            <a:r>
              <a:rPr lang="de-DE" dirty="0"/>
              <a:t> </a:t>
            </a:r>
            <a:r>
              <a:rPr lang="de-DE" dirty="0" err="1"/>
              <a:t>the</a:t>
            </a:r>
            <a:r>
              <a:rPr lang="de-DE" dirty="0"/>
              <a:t> </a:t>
            </a:r>
            <a:r>
              <a:rPr lang="de-DE" dirty="0" err="1"/>
              <a:t>overall</a:t>
            </a:r>
            <a:r>
              <a:rPr lang="de-DE" dirty="0"/>
              <a:t> </a:t>
            </a:r>
            <a:r>
              <a:rPr lang="de-DE" dirty="0" err="1"/>
              <a:t>process</a:t>
            </a:r>
            <a:r>
              <a:rPr lang="de-DE" dirty="0"/>
              <a:t> </a:t>
            </a:r>
            <a:r>
              <a:rPr lang="de-DE" dirty="0" err="1"/>
              <a:t>results</a:t>
            </a:r>
            <a:r>
              <a:rPr lang="de-DE" dirty="0"/>
              <a:t>, a </a:t>
            </a:r>
            <a:r>
              <a:rPr lang="de-DE" dirty="0" err="1"/>
              <a:t>view</a:t>
            </a:r>
            <a:r>
              <a:rPr lang="de-DE" dirty="0"/>
              <a:t> </a:t>
            </a:r>
            <a:r>
              <a:rPr lang="de-DE" dirty="0" err="1"/>
              <a:t>identical</a:t>
            </a:r>
            <a:r>
              <a:rPr lang="de-DE" dirty="0"/>
              <a:t> </a:t>
            </a:r>
            <a:r>
              <a:rPr lang="de-DE" dirty="0" err="1"/>
              <a:t>to</a:t>
            </a:r>
            <a:r>
              <a:rPr lang="de-DE" dirty="0"/>
              <a:t> </a:t>
            </a:r>
            <a:r>
              <a:rPr lang="de-DE" dirty="0" err="1"/>
              <a:t>the</a:t>
            </a:r>
            <a:r>
              <a:rPr lang="de-DE" dirty="0"/>
              <a:t> Time &amp; </a:t>
            </a:r>
            <a:r>
              <a:rPr lang="de-DE" dirty="0" err="1"/>
              <a:t>Cost</a:t>
            </a:r>
            <a:r>
              <a:rPr lang="de-DE" dirty="0"/>
              <a:t> </a:t>
            </a:r>
            <a:r>
              <a:rPr lang="de-DE" dirty="0" err="1"/>
              <a:t>results</a:t>
            </a:r>
            <a:r>
              <a:rPr lang="de-DE" dirty="0"/>
              <a:t>.</a:t>
            </a:r>
          </a:p>
        </p:txBody>
      </p:sp>
      <p:pic>
        <p:nvPicPr>
          <p:cNvPr id="6" name="Grafik 5">
            <a:extLst>
              <a:ext uri="{FF2B5EF4-FFF2-40B4-BE49-F238E27FC236}">
                <a16:creationId xmlns:a16="http://schemas.microsoft.com/office/drawing/2014/main" id="{293D7C3F-44DB-41D8-A56C-3EAD5D8DB72C}"/>
              </a:ext>
            </a:extLst>
          </p:cNvPr>
          <p:cNvPicPr>
            <a:picLocks noChangeAspect="1"/>
          </p:cNvPicPr>
          <p:nvPr/>
        </p:nvPicPr>
        <p:blipFill>
          <a:blip r:embed="rId2"/>
          <a:stretch>
            <a:fillRect/>
          </a:stretch>
        </p:blipFill>
        <p:spPr>
          <a:xfrm>
            <a:off x="8122935" y="290512"/>
            <a:ext cx="3564240" cy="2999535"/>
          </a:xfrm>
          <a:prstGeom prst="rect">
            <a:avLst/>
          </a:prstGeom>
        </p:spPr>
      </p:pic>
      <p:pic>
        <p:nvPicPr>
          <p:cNvPr id="5" name="Grafik 4">
            <a:extLst>
              <a:ext uri="{FF2B5EF4-FFF2-40B4-BE49-F238E27FC236}">
                <a16:creationId xmlns:a16="http://schemas.microsoft.com/office/drawing/2014/main" id="{A162C17C-CADC-41B2-A1D6-3B7BD389CB2C}"/>
              </a:ext>
            </a:extLst>
          </p:cNvPr>
          <p:cNvPicPr>
            <a:picLocks noChangeAspect="1"/>
          </p:cNvPicPr>
          <p:nvPr/>
        </p:nvPicPr>
        <p:blipFill>
          <a:blip r:embed="rId3"/>
          <a:stretch>
            <a:fillRect/>
          </a:stretch>
        </p:blipFill>
        <p:spPr>
          <a:xfrm>
            <a:off x="6891057" y="3055284"/>
            <a:ext cx="4057650" cy="2952750"/>
          </a:xfrm>
          <a:prstGeom prst="rect">
            <a:avLst/>
          </a:prstGeom>
          <a:effectLst>
            <a:outerShdw blurRad="50800" dist="38100" dir="8100000" algn="tr" rotWithShape="0">
              <a:prstClr val="black">
                <a:alpha val="40000"/>
              </a:prstClr>
            </a:outerShdw>
          </a:effectLst>
        </p:spPr>
      </p:pic>
      <p:cxnSp>
        <p:nvCxnSpPr>
          <p:cNvPr id="8" name="Gerade Verbindung mit Pfeil 7">
            <a:extLst>
              <a:ext uri="{FF2B5EF4-FFF2-40B4-BE49-F238E27FC236}">
                <a16:creationId xmlns:a16="http://schemas.microsoft.com/office/drawing/2014/main" id="{8FCCA2C9-0D74-420C-A197-0598D9A5DE11}"/>
              </a:ext>
            </a:extLst>
          </p:cNvPr>
          <p:cNvCxnSpPr>
            <a:cxnSpLocks/>
          </p:cNvCxnSpPr>
          <p:nvPr/>
        </p:nvCxnSpPr>
        <p:spPr>
          <a:xfrm flipH="1">
            <a:off x="8973672" y="1192306"/>
            <a:ext cx="1192304" cy="2752165"/>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5113547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453E055-AD46-4026-B0A9-94D2D154D616}"/>
              </a:ext>
            </a:extLst>
          </p:cNvPr>
          <p:cNvSpPr>
            <a:spLocks noGrp="1"/>
          </p:cNvSpPr>
          <p:nvPr>
            <p:ph type="title"/>
          </p:nvPr>
        </p:nvSpPr>
        <p:spPr/>
        <p:txBody>
          <a:bodyPr/>
          <a:lstStyle/>
          <a:p>
            <a:r>
              <a:rPr lang="de-DE" dirty="0"/>
              <a:t>Simulation</a:t>
            </a:r>
            <a:br>
              <a:rPr lang="de-DE" dirty="0"/>
            </a:br>
            <a:r>
              <a:rPr lang="de-DE" sz="2000" dirty="0"/>
              <a:t> </a:t>
            </a:r>
            <a:br>
              <a:rPr lang="de-DE" sz="4400" dirty="0"/>
            </a:br>
            <a:r>
              <a:rPr lang="de-DE" sz="2400" dirty="0" err="1"/>
              <a:t>Capacity</a:t>
            </a:r>
            <a:r>
              <a:rPr lang="de-DE" sz="2400" dirty="0"/>
              <a:t> &amp; Workload </a:t>
            </a:r>
            <a:r>
              <a:rPr lang="de-DE" sz="2400" dirty="0" err="1"/>
              <a:t>Analyses</a:t>
            </a:r>
            <a:endParaRPr lang="de-DE" dirty="0"/>
          </a:p>
        </p:txBody>
      </p:sp>
      <p:sp>
        <p:nvSpPr>
          <p:cNvPr id="4" name="Textplatzhalter 3">
            <a:extLst>
              <a:ext uri="{FF2B5EF4-FFF2-40B4-BE49-F238E27FC236}">
                <a16:creationId xmlns:a16="http://schemas.microsoft.com/office/drawing/2014/main" id="{AE7AA2AC-AE84-46B0-8C0B-41EEFBA62587}"/>
              </a:ext>
            </a:extLst>
          </p:cNvPr>
          <p:cNvSpPr>
            <a:spLocks noGrp="1"/>
          </p:cNvSpPr>
          <p:nvPr>
            <p:ph type="body" sz="quarter" idx="11"/>
          </p:nvPr>
        </p:nvSpPr>
        <p:spPr/>
        <p:txBody>
          <a:bodyPr/>
          <a:lstStyle/>
          <a:p>
            <a:r>
              <a:rPr lang="de-DE" dirty="0"/>
              <a:t>In </a:t>
            </a:r>
            <a:r>
              <a:rPr lang="de-DE" dirty="0" err="1"/>
              <a:t>order</a:t>
            </a:r>
            <a:r>
              <a:rPr lang="de-DE" dirty="0"/>
              <a:t> </a:t>
            </a:r>
            <a:r>
              <a:rPr lang="de-DE" dirty="0" err="1"/>
              <a:t>to</a:t>
            </a:r>
            <a:r>
              <a:rPr lang="de-DE" dirty="0"/>
              <a:t> </a:t>
            </a:r>
            <a:r>
              <a:rPr lang="de-DE" dirty="0" err="1"/>
              <a:t>make</a:t>
            </a:r>
            <a:r>
              <a:rPr lang="de-DE" dirty="0"/>
              <a:t> a </a:t>
            </a:r>
            <a:r>
              <a:rPr lang="de-DE" b="1" dirty="0" err="1"/>
              <a:t>Capacity</a:t>
            </a:r>
            <a:r>
              <a:rPr lang="de-DE" dirty="0"/>
              <a:t> </a:t>
            </a:r>
            <a:r>
              <a:rPr lang="de-DE" dirty="0" err="1"/>
              <a:t>or</a:t>
            </a:r>
            <a:r>
              <a:rPr lang="de-DE" dirty="0"/>
              <a:t> </a:t>
            </a:r>
            <a:r>
              <a:rPr lang="de-DE" b="1" dirty="0"/>
              <a:t>Workload Analysis</a:t>
            </a:r>
            <a:r>
              <a:rPr lang="de-DE" dirty="0"/>
              <a:t>, </a:t>
            </a:r>
            <a:r>
              <a:rPr lang="de-DE" dirty="0" err="1"/>
              <a:t>it</a:t>
            </a:r>
            <a:r>
              <a:rPr lang="de-DE" dirty="0"/>
              <a:t> </a:t>
            </a:r>
            <a:r>
              <a:rPr lang="de-DE" dirty="0" err="1"/>
              <a:t>is</a:t>
            </a:r>
            <a:r>
              <a:rPr lang="de-DE" dirty="0"/>
              <a:t> </a:t>
            </a:r>
            <a:r>
              <a:rPr lang="de-DE" dirty="0" err="1"/>
              <a:t>necessary</a:t>
            </a:r>
            <a:r>
              <a:rPr lang="de-DE" dirty="0"/>
              <a:t> </a:t>
            </a:r>
            <a:r>
              <a:rPr lang="de-DE" dirty="0" err="1"/>
              <a:t>to</a:t>
            </a:r>
            <a:r>
              <a:rPr lang="de-DE" dirty="0"/>
              <a:t> </a:t>
            </a:r>
            <a:r>
              <a:rPr lang="de-DE" dirty="0" err="1"/>
              <a:t>combine</a:t>
            </a:r>
            <a:r>
              <a:rPr lang="de-DE" dirty="0"/>
              <a:t> </a:t>
            </a:r>
            <a:r>
              <a:rPr lang="de-DE" dirty="0" err="1"/>
              <a:t>the</a:t>
            </a:r>
            <a:r>
              <a:rPr lang="de-DE" dirty="0"/>
              <a:t> </a:t>
            </a:r>
            <a:r>
              <a:rPr lang="de-DE" b="1" dirty="0"/>
              <a:t>BPMN</a:t>
            </a:r>
            <a:r>
              <a:rPr lang="de-DE" dirty="0"/>
              <a:t> </a:t>
            </a:r>
            <a:r>
              <a:rPr lang="de-DE" dirty="0" err="1"/>
              <a:t>with</a:t>
            </a:r>
            <a:r>
              <a:rPr lang="de-DE" dirty="0"/>
              <a:t> a </a:t>
            </a:r>
            <a:r>
              <a:rPr lang="de-DE" b="1" dirty="0"/>
              <a:t>Working Environment Model</a:t>
            </a:r>
            <a:r>
              <a:rPr lang="de-DE" dirty="0"/>
              <a:t>.</a:t>
            </a:r>
          </a:p>
          <a:p>
            <a:endParaRPr lang="de-DE" dirty="0"/>
          </a:p>
          <a:p>
            <a:r>
              <a:rPr lang="de-DE" b="1" dirty="0"/>
              <a:t>Information on </a:t>
            </a:r>
            <a:r>
              <a:rPr lang="de-DE" b="1" dirty="0" err="1"/>
              <a:t>how</a:t>
            </a:r>
            <a:r>
              <a:rPr lang="de-DE" b="1" dirty="0"/>
              <a:t> </a:t>
            </a:r>
            <a:r>
              <a:rPr lang="de-DE" b="1" dirty="0" err="1"/>
              <a:t>to</a:t>
            </a:r>
            <a:r>
              <a:rPr lang="de-DE" b="1" dirty="0"/>
              <a:t> do </a:t>
            </a:r>
            <a:r>
              <a:rPr lang="de-DE" b="1" dirty="0" err="1"/>
              <a:t>this</a:t>
            </a:r>
            <a:r>
              <a:rPr lang="de-DE" b="1" dirty="0"/>
              <a:t> will b </a:t>
            </a:r>
            <a:r>
              <a:rPr lang="de-DE" b="1" dirty="0" err="1"/>
              <a:t>provided</a:t>
            </a:r>
            <a:r>
              <a:rPr lang="de-DE" b="1" dirty="0"/>
              <a:t> </a:t>
            </a:r>
            <a:r>
              <a:rPr lang="de-DE" b="1" dirty="0" err="1"/>
              <a:t>later</a:t>
            </a:r>
            <a:r>
              <a:rPr lang="de-DE" b="1" dirty="0"/>
              <a:t> on.</a:t>
            </a:r>
          </a:p>
        </p:txBody>
      </p:sp>
      <p:grpSp>
        <p:nvGrpSpPr>
          <p:cNvPr id="8" name="Gruppieren 7">
            <a:extLst>
              <a:ext uri="{FF2B5EF4-FFF2-40B4-BE49-F238E27FC236}">
                <a16:creationId xmlns:a16="http://schemas.microsoft.com/office/drawing/2014/main" id="{D58B6EBD-E919-49DF-A796-C519575AD60B}"/>
              </a:ext>
            </a:extLst>
          </p:cNvPr>
          <p:cNvGrpSpPr/>
          <p:nvPr/>
        </p:nvGrpSpPr>
        <p:grpSpPr>
          <a:xfrm>
            <a:off x="8052154" y="1232267"/>
            <a:ext cx="2152972" cy="1133813"/>
            <a:chOff x="7451519" y="889408"/>
            <a:chExt cx="1609950" cy="847843"/>
          </a:xfrm>
        </p:grpSpPr>
        <p:pic>
          <p:nvPicPr>
            <p:cNvPr id="6" name="Grafik 5">
              <a:extLst>
                <a:ext uri="{FF2B5EF4-FFF2-40B4-BE49-F238E27FC236}">
                  <a16:creationId xmlns:a16="http://schemas.microsoft.com/office/drawing/2014/main" id="{CF17E190-51E3-4824-BF6E-90C8E7FD96B2}"/>
                </a:ext>
              </a:extLst>
            </p:cNvPr>
            <p:cNvPicPr>
              <a:picLocks noChangeAspect="1"/>
            </p:cNvPicPr>
            <p:nvPr/>
          </p:nvPicPr>
          <p:blipFill>
            <a:blip r:embed="rId2"/>
            <a:stretch>
              <a:fillRect/>
            </a:stretch>
          </p:blipFill>
          <p:spPr>
            <a:xfrm>
              <a:off x="7451519" y="889408"/>
              <a:ext cx="1609950" cy="847843"/>
            </a:xfrm>
            <a:prstGeom prst="rect">
              <a:avLst/>
            </a:prstGeom>
          </p:spPr>
        </p:pic>
        <p:sp>
          <p:nvSpPr>
            <p:cNvPr id="7" name="Ellipse 6">
              <a:extLst>
                <a:ext uri="{FF2B5EF4-FFF2-40B4-BE49-F238E27FC236}">
                  <a16:creationId xmlns:a16="http://schemas.microsoft.com/office/drawing/2014/main" id="{8803DD24-A8A0-4A56-8C55-69433C45D87F}"/>
                </a:ext>
              </a:extLst>
            </p:cNvPr>
            <p:cNvSpPr/>
            <p:nvPr/>
          </p:nvSpPr>
          <p:spPr>
            <a:xfrm>
              <a:off x="7879976" y="889408"/>
              <a:ext cx="797859" cy="491157"/>
            </a:xfrm>
            <a:prstGeom prst="ellipse">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grpSp>
      <p:pic>
        <p:nvPicPr>
          <p:cNvPr id="12" name="Grafik 11">
            <a:extLst>
              <a:ext uri="{FF2B5EF4-FFF2-40B4-BE49-F238E27FC236}">
                <a16:creationId xmlns:a16="http://schemas.microsoft.com/office/drawing/2014/main" id="{F636A198-11C7-4444-AE00-141FA6573689}"/>
              </a:ext>
            </a:extLst>
          </p:cNvPr>
          <p:cNvPicPr>
            <a:picLocks noChangeAspect="1"/>
          </p:cNvPicPr>
          <p:nvPr/>
        </p:nvPicPr>
        <p:blipFill>
          <a:blip r:embed="rId3"/>
          <a:stretch>
            <a:fillRect/>
          </a:stretch>
        </p:blipFill>
        <p:spPr>
          <a:xfrm>
            <a:off x="7757328" y="2889629"/>
            <a:ext cx="2742623" cy="2763348"/>
          </a:xfrm>
          <a:prstGeom prst="rect">
            <a:avLst/>
          </a:prstGeom>
          <a:ln>
            <a:solidFill>
              <a:schemeClr val="tx1"/>
            </a:solidFill>
          </a:ln>
        </p:spPr>
      </p:pic>
      <p:cxnSp>
        <p:nvCxnSpPr>
          <p:cNvPr id="14" name="Gerade Verbindung mit Pfeil 13">
            <a:extLst>
              <a:ext uri="{FF2B5EF4-FFF2-40B4-BE49-F238E27FC236}">
                <a16:creationId xmlns:a16="http://schemas.microsoft.com/office/drawing/2014/main" id="{603BDD28-E42D-4BAB-9BFF-D1AE740A10F9}"/>
              </a:ext>
            </a:extLst>
          </p:cNvPr>
          <p:cNvCxnSpPr>
            <a:cxnSpLocks/>
            <a:endCxn id="12" idx="1"/>
          </p:cNvCxnSpPr>
          <p:nvPr/>
        </p:nvCxnSpPr>
        <p:spPr>
          <a:xfrm>
            <a:off x="4580965" y="3299012"/>
            <a:ext cx="3176363" cy="972291"/>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3371389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AC6EEF2-05FC-4EA1-A665-622965D5EDEE}"/>
              </a:ext>
            </a:extLst>
          </p:cNvPr>
          <p:cNvSpPr>
            <a:spLocks noGrp="1"/>
          </p:cNvSpPr>
          <p:nvPr>
            <p:ph type="title"/>
          </p:nvPr>
        </p:nvSpPr>
        <p:spPr>
          <a:xfrm>
            <a:off x="1676400" y="441314"/>
            <a:ext cx="10075333" cy="717344"/>
          </a:xfrm>
        </p:spPr>
        <p:txBody>
          <a:bodyPr/>
          <a:lstStyle/>
          <a:p>
            <a:r>
              <a:rPr lang="de-DE" dirty="0"/>
              <a:t>Further Information</a:t>
            </a:r>
            <a:br>
              <a:rPr lang="de-DE" dirty="0"/>
            </a:br>
            <a:endParaRPr lang="de-DE" dirty="0"/>
          </a:p>
        </p:txBody>
      </p:sp>
      <p:sp>
        <p:nvSpPr>
          <p:cNvPr id="4" name="Textplatzhalter 2">
            <a:extLst>
              <a:ext uri="{FF2B5EF4-FFF2-40B4-BE49-F238E27FC236}">
                <a16:creationId xmlns:a16="http://schemas.microsoft.com/office/drawing/2014/main" id="{74E53AA1-29CE-48C4-AAA8-442E8B11C184}"/>
              </a:ext>
            </a:extLst>
          </p:cNvPr>
          <p:cNvSpPr txBox="1">
            <a:spLocks/>
          </p:cNvSpPr>
          <p:nvPr/>
        </p:nvSpPr>
        <p:spPr>
          <a:xfrm>
            <a:off x="1676400" y="1302707"/>
            <a:ext cx="10075333" cy="5216679"/>
          </a:xfrm>
          <a:prstGeom prst="rect">
            <a:avLst/>
          </a:prstGeom>
        </p:spPr>
        <p:txBody>
          <a:bodyPr/>
          <a:lstStyle>
            <a:lvl1pPr marL="228577" indent="-228577" algn="l" defTabSz="914309">
              <a:lnSpc>
                <a:spcPct val="90000"/>
              </a:lnSpc>
              <a:spcBef>
                <a:spcPts val="1000"/>
              </a:spcBef>
              <a:buFont typeface="Arial"/>
              <a:buChar char="•"/>
              <a:defRPr sz="2800">
                <a:solidFill>
                  <a:schemeClr val="tx1"/>
                </a:solidFill>
                <a:latin typeface="+mn-lt"/>
                <a:ea typeface="+mn-ea"/>
                <a:cs typeface="+mn-cs"/>
              </a:defRPr>
            </a:lvl1pPr>
            <a:lvl2pPr marL="685731" indent="-228577" algn="l" defTabSz="914309">
              <a:lnSpc>
                <a:spcPct val="90000"/>
              </a:lnSpc>
              <a:spcBef>
                <a:spcPts val="500"/>
              </a:spcBef>
              <a:buFont typeface="Arial"/>
              <a:buChar char="•"/>
              <a:defRPr sz="2400">
                <a:solidFill>
                  <a:schemeClr val="tx1"/>
                </a:solidFill>
                <a:latin typeface="+mn-lt"/>
                <a:ea typeface="+mn-ea"/>
                <a:cs typeface="+mn-cs"/>
              </a:defRPr>
            </a:lvl2pPr>
            <a:lvl3pPr marL="1142886" indent="-228577" algn="l" defTabSz="914309">
              <a:lnSpc>
                <a:spcPct val="90000"/>
              </a:lnSpc>
              <a:spcBef>
                <a:spcPts val="500"/>
              </a:spcBef>
              <a:buFont typeface="Arial"/>
              <a:buChar char="•"/>
              <a:defRPr sz="2000">
                <a:solidFill>
                  <a:schemeClr val="tx1"/>
                </a:solidFill>
                <a:latin typeface="+mn-lt"/>
                <a:ea typeface="+mn-ea"/>
                <a:cs typeface="+mn-cs"/>
              </a:defRPr>
            </a:lvl3pPr>
            <a:lvl4pPr marL="1600040" indent="-228577" algn="l" defTabSz="914309">
              <a:lnSpc>
                <a:spcPct val="90000"/>
              </a:lnSpc>
              <a:spcBef>
                <a:spcPts val="500"/>
              </a:spcBef>
              <a:buFont typeface="Arial"/>
              <a:buChar char="•"/>
              <a:defRPr sz="1800">
                <a:solidFill>
                  <a:schemeClr val="tx1"/>
                </a:solidFill>
                <a:latin typeface="+mn-lt"/>
                <a:ea typeface="+mn-ea"/>
                <a:cs typeface="+mn-cs"/>
              </a:defRPr>
            </a:lvl4pPr>
            <a:lvl5pPr marL="2057194" indent="-228577" algn="l" defTabSz="914309">
              <a:lnSpc>
                <a:spcPct val="90000"/>
              </a:lnSpc>
              <a:spcBef>
                <a:spcPts val="500"/>
              </a:spcBef>
              <a:buFont typeface="Arial"/>
              <a:buChar char="•"/>
              <a:defRPr sz="1800">
                <a:solidFill>
                  <a:schemeClr val="tx1"/>
                </a:solidFill>
                <a:latin typeface="+mn-lt"/>
                <a:ea typeface="+mn-ea"/>
                <a:cs typeface="+mn-cs"/>
              </a:defRPr>
            </a:lvl5pPr>
            <a:lvl6pPr marL="2514349" indent="-228577" algn="l" defTabSz="914309">
              <a:lnSpc>
                <a:spcPct val="90000"/>
              </a:lnSpc>
              <a:spcBef>
                <a:spcPts val="500"/>
              </a:spcBef>
              <a:buFont typeface="Arial"/>
              <a:buChar char="•"/>
              <a:defRPr sz="1800">
                <a:solidFill>
                  <a:schemeClr val="tx1"/>
                </a:solidFill>
                <a:latin typeface="+mn-lt"/>
                <a:ea typeface="+mn-ea"/>
                <a:cs typeface="+mn-cs"/>
              </a:defRPr>
            </a:lvl6pPr>
            <a:lvl7pPr marL="2971503" indent="-228577" algn="l" defTabSz="914309">
              <a:lnSpc>
                <a:spcPct val="90000"/>
              </a:lnSpc>
              <a:spcBef>
                <a:spcPts val="500"/>
              </a:spcBef>
              <a:buFont typeface="Arial"/>
              <a:buChar char="•"/>
              <a:defRPr sz="1800">
                <a:solidFill>
                  <a:schemeClr val="tx1"/>
                </a:solidFill>
                <a:latin typeface="+mn-lt"/>
                <a:ea typeface="+mn-ea"/>
                <a:cs typeface="+mn-cs"/>
              </a:defRPr>
            </a:lvl7pPr>
            <a:lvl8pPr marL="3428657" indent="-228577" algn="l" defTabSz="914309">
              <a:lnSpc>
                <a:spcPct val="90000"/>
              </a:lnSpc>
              <a:spcBef>
                <a:spcPts val="500"/>
              </a:spcBef>
              <a:buFont typeface="Arial"/>
              <a:buChar char="•"/>
              <a:defRPr sz="1800">
                <a:solidFill>
                  <a:schemeClr val="tx1"/>
                </a:solidFill>
                <a:latin typeface="+mn-lt"/>
                <a:ea typeface="+mn-ea"/>
                <a:cs typeface="+mn-cs"/>
              </a:defRPr>
            </a:lvl8pPr>
            <a:lvl9pPr marL="3885811" indent="-228577" algn="l" defTabSz="914309">
              <a:lnSpc>
                <a:spcPct val="90000"/>
              </a:lnSpc>
              <a:spcBef>
                <a:spcPts val="500"/>
              </a:spcBef>
              <a:buFont typeface="Arial"/>
              <a:buChar char="•"/>
              <a:defRPr sz="1800">
                <a:solidFill>
                  <a:schemeClr val="tx1"/>
                </a:solidFill>
                <a:latin typeface="+mn-lt"/>
                <a:ea typeface="+mn-ea"/>
                <a:cs typeface="+mn-cs"/>
              </a:defRPr>
            </a:lvl9pPr>
          </a:lstStyle>
          <a:p>
            <a:pPr marL="0" indent="0">
              <a:buNone/>
            </a:pPr>
            <a:r>
              <a:rPr lang="de-DE" sz="2133" dirty="0">
                <a:solidFill>
                  <a:srgbClr val="003399"/>
                </a:solidFill>
              </a:rPr>
              <a:t>Additional </a:t>
            </a:r>
            <a:r>
              <a:rPr lang="de-DE" sz="2133" dirty="0" err="1">
                <a:solidFill>
                  <a:srgbClr val="003399"/>
                </a:solidFill>
              </a:rPr>
              <a:t>hints</a:t>
            </a:r>
            <a:r>
              <a:rPr lang="de-DE" sz="2133" dirty="0">
                <a:solidFill>
                  <a:srgbClr val="003399"/>
                </a:solidFill>
              </a:rPr>
              <a:t> and </a:t>
            </a:r>
            <a:r>
              <a:rPr lang="de-DE" sz="2133" dirty="0" err="1">
                <a:solidFill>
                  <a:srgbClr val="003399"/>
                </a:solidFill>
              </a:rPr>
              <a:t>information</a:t>
            </a:r>
            <a:r>
              <a:rPr lang="de-DE" sz="2133" dirty="0">
                <a:solidFill>
                  <a:srgbClr val="003399"/>
                </a:solidFill>
              </a:rPr>
              <a:t> on BPMN </a:t>
            </a:r>
            <a:r>
              <a:rPr lang="de-DE" sz="2133" dirty="0" err="1">
                <a:solidFill>
                  <a:srgbClr val="003399"/>
                </a:solidFill>
              </a:rPr>
              <a:t>modeling</a:t>
            </a:r>
            <a:r>
              <a:rPr lang="de-DE" sz="2133" dirty="0">
                <a:solidFill>
                  <a:srgbClr val="003399"/>
                </a:solidFill>
              </a:rPr>
              <a:t> and </a:t>
            </a:r>
            <a:r>
              <a:rPr lang="de-DE" sz="2133" dirty="0" err="1">
                <a:solidFill>
                  <a:srgbClr val="003399"/>
                </a:solidFill>
              </a:rPr>
              <a:t>simulation</a:t>
            </a:r>
            <a:r>
              <a:rPr lang="de-DE" sz="2133" dirty="0">
                <a:solidFill>
                  <a:srgbClr val="003399"/>
                </a:solidFill>
              </a:rPr>
              <a:t> in </a:t>
            </a:r>
            <a:r>
              <a:rPr lang="de-DE" sz="2133" dirty="0" err="1">
                <a:solidFill>
                  <a:srgbClr val="003399"/>
                </a:solidFill>
              </a:rPr>
              <a:t>ADOxx</a:t>
            </a:r>
            <a:r>
              <a:rPr lang="de-DE" sz="2133" dirty="0">
                <a:solidFill>
                  <a:srgbClr val="003399"/>
                </a:solidFill>
              </a:rPr>
              <a:t> </a:t>
            </a:r>
            <a:r>
              <a:rPr lang="de-DE" sz="2133" dirty="0" err="1">
                <a:solidFill>
                  <a:srgbClr val="003399"/>
                </a:solidFill>
              </a:rPr>
              <a:t>can</a:t>
            </a:r>
            <a:r>
              <a:rPr lang="de-DE" sz="2133" dirty="0">
                <a:solidFill>
                  <a:srgbClr val="003399"/>
                </a:solidFill>
              </a:rPr>
              <a:t> </a:t>
            </a:r>
            <a:r>
              <a:rPr lang="de-DE" sz="2133" dirty="0" err="1">
                <a:solidFill>
                  <a:srgbClr val="003399"/>
                </a:solidFill>
              </a:rPr>
              <a:t>be</a:t>
            </a:r>
            <a:r>
              <a:rPr lang="de-DE" sz="2133" dirty="0">
                <a:solidFill>
                  <a:srgbClr val="003399"/>
                </a:solidFill>
              </a:rPr>
              <a:t> </a:t>
            </a:r>
            <a:r>
              <a:rPr lang="de-DE" sz="2133" dirty="0" err="1">
                <a:solidFill>
                  <a:srgbClr val="003399"/>
                </a:solidFill>
              </a:rPr>
              <a:t>found</a:t>
            </a:r>
            <a:r>
              <a:rPr lang="de-DE" sz="2133" dirty="0">
                <a:solidFill>
                  <a:srgbClr val="003399"/>
                </a:solidFill>
              </a:rPr>
              <a:t> </a:t>
            </a:r>
            <a:r>
              <a:rPr lang="de-DE" sz="2133" dirty="0" err="1">
                <a:solidFill>
                  <a:srgbClr val="003399"/>
                </a:solidFill>
              </a:rPr>
              <a:t>here</a:t>
            </a:r>
            <a:r>
              <a:rPr lang="de-DE" sz="2133" dirty="0">
                <a:solidFill>
                  <a:srgbClr val="003399"/>
                </a:solidFill>
              </a:rPr>
              <a:t>: </a:t>
            </a:r>
            <a:r>
              <a:rPr lang="de-DE" sz="2133" dirty="0" err="1">
                <a:solidFill>
                  <a:srgbClr val="003399"/>
                </a:solidFill>
                <a:hlinkClick r:id="rId2"/>
              </a:rPr>
              <a:t>Omilab</a:t>
            </a:r>
            <a:r>
              <a:rPr lang="de-DE" sz="2133" dirty="0">
                <a:solidFill>
                  <a:srgbClr val="003399"/>
                </a:solidFill>
                <a:hlinkClick r:id="rId2"/>
              </a:rPr>
              <a:t> Case Study</a:t>
            </a:r>
            <a:r>
              <a:rPr lang="de-DE" sz="2133" dirty="0">
                <a:solidFill>
                  <a:srgbClr val="003399"/>
                </a:solidFill>
              </a:rPr>
              <a:t> (pp.41)</a:t>
            </a:r>
          </a:p>
          <a:p>
            <a:pPr marL="0" indent="0">
              <a:spcBef>
                <a:spcPts val="1800"/>
              </a:spcBef>
              <a:buNone/>
            </a:pPr>
            <a:r>
              <a:rPr lang="de-DE" sz="2133" dirty="0" err="1">
                <a:solidFill>
                  <a:srgbClr val="003399"/>
                </a:solidFill>
              </a:rPr>
              <a:t>For</a:t>
            </a:r>
            <a:r>
              <a:rPr lang="de-DE" sz="2133" dirty="0">
                <a:solidFill>
                  <a:srgbClr val="003399"/>
                </a:solidFill>
              </a:rPr>
              <a:t> an </a:t>
            </a:r>
            <a:r>
              <a:rPr lang="de-DE" sz="2133" dirty="0" err="1">
                <a:solidFill>
                  <a:srgbClr val="003399"/>
                </a:solidFill>
              </a:rPr>
              <a:t>overview</a:t>
            </a:r>
            <a:r>
              <a:rPr lang="de-DE" sz="2133" dirty="0">
                <a:solidFill>
                  <a:srgbClr val="003399"/>
                </a:solidFill>
              </a:rPr>
              <a:t> </a:t>
            </a:r>
            <a:r>
              <a:rPr lang="de-DE" sz="2133" dirty="0" err="1">
                <a:solidFill>
                  <a:srgbClr val="003399"/>
                </a:solidFill>
              </a:rPr>
              <a:t>of</a:t>
            </a:r>
            <a:r>
              <a:rPr lang="de-DE" sz="2133" dirty="0">
                <a:solidFill>
                  <a:srgbClr val="003399"/>
                </a:solidFill>
              </a:rPr>
              <a:t> </a:t>
            </a:r>
            <a:r>
              <a:rPr lang="de-DE" sz="2133" dirty="0" err="1">
                <a:solidFill>
                  <a:srgbClr val="003399"/>
                </a:solidFill>
              </a:rPr>
              <a:t>the</a:t>
            </a:r>
            <a:r>
              <a:rPr lang="de-DE" sz="2133" dirty="0">
                <a:solidFill>
                  <a:srgbClr val="003399"/>
                </a:solidFill>
              </a:rPr>
              <a:t> BPM Notation and a </a:t>
            </a:r>
            <a:r>
              <a:rPr lang="de-DE" sz="2133" dirty="0" err="1">
                <a:solidFill>
                  <a:srgbClr val="003399"/>
                </a:solidFill>
              </a:rPr>
              <a:t>detailed</a:t>
            </a:r>
            <a:r>
              <a:rPr lang="de-DE" sz="2133" dirty="0">
                <a:solidFill>
                  <a:srgbClr val="003399"/>
                </a:solidFill>
              </a:rPr>
              <a:t> </a:t>
            </a:r>
            <a:r>
              <a:rPr lang="de-DE" sz="2133" dirty="0" err="1">
                <a:solidFill>
                  <a:srgbClr val="003399"/>
                </a:solidFill>
              </a:rPr>
              <a:t>description</a:t>
            </a:r>
            <a:r>
              <a:rPr lang="de-DE" sz="2133" dirty="0">
                <a:solidFill>
                  <a:srgbClr val="003399"/>
                </a:solidFill>
              </a:rPr>
              <a:t> </a:t>
            </a:r>
            <a:r>
              <a:rPr lang="de-DE" sz="2133" dirty="0" err="1">
                <a:solidFill>
                  <a:srgbClr val="003399"/>
                </a:solidFill>
              </a:rPr>
              <a:t>of</a:t>
            </a:r>
            <a:r>
              <a:rPr lang="de-DE" sz="2133" dirty="0">
                <a:solidFill>
                  <a:srgbClr val="003399"/>
                </a:solidFill>
              </a:rPr>
              <a:t> all </a:t>
            </a:r>
            <a:r>
              <a:rPr lang="de-DE" sz="2133" dirty="0" err="1">
                <a:solidFill>
                  <a:srgbClr val="003399"/>
                </a:solidFill>
              </a:rPr>
              <a:t>elements</a:t>
            </a:r>
            <a:r>
              <a:rPr lang="de-DE" sz="2133" dirty="0">
                <a:solidFill>
                  <a:srgbClr val="003399"/>
                </a:solidFill>
              </a:rPr>
              <a:t>, </a:t>
            </a:r>
            <a:r>
              <a:rPr lang="de-DE" sz="2133" dirty="0" err="1">
                <a:solidFill>
                  <a:srgbClr val="003399"/>
                </a:solidFill>
              </a:rPr>
              <a:t>please</a:t>
            </a:r>
            <a:r>
              <a:rPr lang="de-DE" sz="2133" dirty="0">
                <a:solidFill>
                  <a:srgbClr val="003399"/>
                </a:solidFill>
              </a:rPr>
              <a:t> </a:t>
            </a:r>
            <a:r>
              <a:rPr lang="de-DE" sz="2133" dirty="0" err="1">
                <a:solidFill>
                  <a:srgbClr val="003399"/>
                </a:solidFill>
              </a:rPr>
              <a:t>refer</a:t>
            </a:r>
            <a:r>
              <a:rPr lang="de-DE" sz="2133" dirty="0">
                <a:solidFill>
                  <a:srgbClr val="003399"/>
                </a:solidFill>
              </a:rPr>
              <a:t> </a:t>
            </a:r>
            <a:r>
              <a:rPr lang="de-DE" sz="2133" dirty="0" err="1">
                <a:solidFill>
                  <a:srgbClr val="003399"/>
                </a:solidFill>
              </a:rPr>
              <a:t>to</a:t>
            </a:r>
            <a:r>
              <a:rPr lang="de-DE" sz="2133" dirty="0">
                <a:solidFill>
                  <a:srgbClr val="003399"/>
                </a:solidFill>
              </a:rPr>
              <a:t> </a:t>
            </a:r>
            <a:r>
              <a:rPr lang="de-DE" sz="2133" dirty="0" err="1">
                <a:solidFill>
                  <a:srgbClr val="003399"/>
                </a:solidFill>
              </a:rPr>
              <a:t>the</a:t>
            </a:r>
            <a:r>
              <a:rPr lang="de-DE" sz="2133" dirty="0">
                <a:solidFill>
                  <a:srgbClr val="003399"/>
                </a:solidFill>
              </a:rPr>
              <a:t> </a:t>
            </a:r>
            <a:r>
              <a:rPr lang="de-DE" sz="2133" dirty="0">
                <a:solidFill>
                  <a:srgbClr val="003399"/>
                </a:solidFill>
                <a:hlinkClick r:id="rId3"/>
              </a:rPr>
              <a:t>BPMN </a:t>
            </a:r>
            <a:r>
              <a:rPr lang="de-DE" sz="2133" dirty="0" err="1">
                <a:solidFill>
                  <a:srgbClr val="003399"/>
                </a:solidFill>
                <a:hlinkClick r:id="rId3"/>
              </a:rPr>
              <a:t>Specs</a:t>
            </a:r>
            <a:r>
              <a:rPr lang="de-DE" sz="2133" dirty="0">
                <a:solidFill>
                  <a:srgbClr val="003399"/>
                </a:solidFill>
              </a:rPr>
              <a:t>.</a:t>
            </a:r>
          </a:p>
          <a:p>
            <a:pPr marL="0" indent="0">
              <a:spcBef>
                <a:spcPts val="1800"/>
              </a:spcBef>
              <a:buNone/>
            </a:pPr>
            <a:r>
              <a:rPr lang="de-DE" sz="2133" dirty="0" err="1">
                <a:solidFill>
                  <a:srgbClr val="003399"/>
                </a:solidFill>
              </a:rPr>
              <a:t>Additionally</a:t>
            </a:r>
            <a:r>
              <a:rPr lang="de-DE" sz="2133" dirty="0">
                <a:solidFill>
                  <a:srgbClr val="003399"/>
                </a:solidFill>
              </a:rPr>
              <a:t>, </a:t>
            </a:r>
            <a:r>
              <a:rPr lang="de-DE" sz="2133" dirty="0" err="1">
                <a:solidFill>
                  <a:srgbClr val="003399"/>
                </a:solidFill>
                <a:hlinkClick r:id="rId4"/>
              </a:rPr>
              <a:t>Camunda</a:t>
            </a:r>
            <a:r>
              <a:rPr lang="de-DE" sz="2133" dirty="0">
                <a:solidFill>
                  <a:srgbClr val="003399"/>
                </a:solidFill>
              </a:rPr>
              <a:t> </a:t>
            </a:r>
            <a:r>
              <a:rPr lang="de-DE" sz="2133" dirty="0" err="1">
                <a:solidFill>
                  <a:srgbClr val="003399"/>
                </a:solidFill>
              </a:rPr>
              <a:t>explains</a:t>
            </a:r>
            <a:r>
              <a:rPr lang="de-DE" sz="2133" dirty="0">
                <a:solidFill>
                  <a:srgbClr val="003399"/>
                </a:solidFill>
              </a:rPr>
              <a:t> </a:t>
            </a:r>
            <a:r>
              <a:rPr lang="de-DE" sz="2133" dirty="0" err="1">
                <a:solidFill>
                  <a:srgbClr val="003399"/>
                </a:solidFill>
              </a:rPr>
              <a:t>the</a:t>
            </a:r>
            <a:r>
              <a:rPr lang="de-DE" sz="2133" dirty="0">
                <a:solidFill>
                  <a:srgbClr val="003399"/>
                </a:solidFill>
              </a:rPr>
              <a:t> </a:t>
            </a:r>
            <a:r>
              <a:rPr lang="de-DE" sz="2133" dirty="0" err="1">
                <a:solidFill>
                  <a:srgbClr val="003399"/>
                </a:solidFill>
              </a:rPr>
              <a:t>usage</a:t>
            </a:r>
            <a:r>
              <a:rPr lang="de-DE" sz="2133" dirty="0">
                <a:solidFill>
                  <a:srgbClr val="003399"/>
                </a:solidFill>
              </a:rPr>
              <a:t> </a:t>
            </a:r>
            <a:r>
              <a:rPr lang="de-DE" sz="2133" dirty="0" err="1">
                <a:solidFill>
                  <a:srgbClr val="003399"/>
                </a:solidFill>
              </a:rPr>
              <a:t>of</a:t>
            </a:r>
            <a:r>
              <a:rPr lang="de-DE" sz="2133" dirty="0">
                <a:solidFill>
                  <a:srgbClr val="003399"/>
                </a:solidFill>
              </a:rPr>
              <a:t> </a:t>
            </a:r>
            <a:r>
              <a:rPr lang="de-DE" sz="2133" dirty="0" err="1">
                <a:solidFill>
                  <a:srgbClr val="003399"/>
                </a:solidFill>
              </a:rPr>
              <a:t>the</a:t>
            </a:r>
            <a:r>
              <a:rPr lang="de-DE" sz="2133" dirty="0">
                <a:solidFill>
                  <a:srgbClr val="003399"/>
                </a:solidFill>
              </a:rPr>
              <a:t> individual BPMN </a:t>
            </a:r>
            <a:r>
              <a:rPr lang="de-DE" sz="2133" dirty="0" err="1">
                <a:solidFill>
                  <a:srgbClr val="003399"/>
                </a:solidFill>
              </a:rPr>
              <a:t>elements</a:t>
            </a:r>
            <a:r>
              <a:rPr lang="de-DE" sz="2133" dirty="0">
                <a:solidFill>
                  <a:srgbClr val="003399"/>
                </a:solidFill>
              </a:rPr>
              <a:t> on an </a:t>
            </a:r>
            <a:r>
              <a:rPr lang="de-DE" sz="2133" dirty="0" err="1">
                <a:solidFill>
                  <a:srgbClr val="003399"/>
                </a:solidFill>
              </a:rPr>
              <a:t>example</a:t>
            </a:r>
            <a:r>
              <a:rPr lang="de-DE" sz="2133" dirty="0">
                <a:solidFill>
                  <a:srgbClr val="003399"/>
                </a:solidFill>
              </a:rPr>
              <a:t>-base.</a:t>
            </a:r>
          </a:p>
          <a:p>
            <a:pPr marL="0" indent="0">
              <a:buNone/>
            </a:pPr>
            <a:endParaRPr lang="de-DE" sz="2133" dirty="0">
              <a:solidFill>
                <a:srgbClr val="003399"/>
              </a:solidFill>
            </a:endParaRPr>
          </a:p>
        </p:txBody>
      </p:sp>
    </p:spTree>
    <p:extLst>
      <p:ext uri="{BB962C8B-B14F-4D97-AF65-F5344CB8AC3E}">
        <p14:creationId xmlns:p14="http://schemas.microsoft.com/office/powerpoint/2010/main" val="1087490392"/>
      </p:ext>
    </p:extLst>
  </p:cSld>
  <p:clrMapOvr>
    <a:masterClrMapping/>
  </p:clrMapOvr>
</p:sld>
</file>

<file path=ppt/theme/theme1.xml><?xml version="1.0" encoding="utf-8"?>
<a:theme xmlns:a="http://schemas.openxmlformats.org/drawingml/2006/main" name="1_Office-téma">
  <a:themeElements>
    <a:clrScheme name="Office-téma">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1. egyéni séma">
      <a:majorFont>
        <a:latin typeface="Open Sans"/>
        <a:ea typeface="Arial"/>
        <a:cs typeface="Arial"/>
      </a:majorFont>
      <a:minorFont>
        <a:latin typeface="Open Sans"/>
        <a:ea typeface="Arial"/>
        <a:cs typeface="Arial"/>
      </a:minorFont>
    </a:fontScheme>
    <a:fmtScheme name="Office-téma">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9c642b00-82eb-4310-a86b-99343f535c9e">
      <Terms xmlns="http://schemas.microsoft.com/office/infopath/2007/PartnerControls"/>
    </lcf76f155ced4ddcb4097134ff3c332f>
    <TaxCatchAll xmlns="1f36c8dc-9efc-4660-963f-c7e2f29c9f75" xsi:nil="true"/>
    <Details xmlns="9c642b00-82eb-4310-a86b-99343f535c9e"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kument" ma:contentTypeID="0x010100BE60F93FC61461408EC6F41A83D095A7" ma:contentTypeVersion="16" ma:contentTypeDescription="Ein neues Dokument erstellen." ma:contentTypeScope="" ma:versionID="d0009f49c7761262f43f5eaf3f0c33f4">
  <xsd:schema xmlns:xsd="http://www.w3.org/2001/XMLSchema" xmlns:xs="http://www.w3.org/2001/XMLSchema" xmlns:p="http://schemas.microsoft.com/office/2006/metadata/properties" xmlns:ns2="9c642b00-82eb-4310-a86b-99343f535c9e" xmlns:ns3="1f36c8dc-9efc-4660-963f-c7e2f29c9f75" targetNamespace="http://schemas.microsoft.com/office/2006/metadata/properties" ma:root="true" ma:fieldsID="5df22cdf2b9d468ae6039835eab97ddd" ns2:_="" ns3:_="">
    <xsd:import namespace="9c642b00-82eb-4310-a86b-99343f535c9e"/>
    <xsd:import namespace="1f36c8dc-9efc-4660-963f-c7e2f29c9f75"/>
    <xsd:element name="properties">
      <xsd:complexType>
        <xsd:sequence>
          <xsd:element name="documentManagement">
            <xsd:complexType>
              <xsd:all>
                <xsd:element ref="ns2:lcf76f155ced4ddcb4097134ff3c332f" minOccurs="0"/>
                <xsd:element ref="ns3:TaxCatchAll" minOccurs="0"/>
                <xsd:element ref="ns2:MediaServiceMetadata" minOccurs="0"/>
                <xsd:element ref="ns2:MediaServiceFastMetadata" minOccurs="0"/>
                <xsd:element ref="ns2:MediaServiceSearchProperties" minOccurs="0"/>
                <xsd:element ref="ns2:MediaServiceObjectDetectorVersions" minOccurs="0"/>
                <xsd:element ref="ns2:MediaServiceOCR" minOccurs="0"/>
                <xsd:element ref="ns2:MediaServiceGenerationTime" minOccurs="0"/>
                <xsd:element ref="ns2:MediaServiceEventHashCode" minOccurs="0"/>
                <xsd:element ref="ns2:Details" minOccurs="0"/>
                <xsd:element ref="ns3:SharedWithUsers" minOccurs="0"/>
                <xsd:element ref="ns3:SharedWithDetails" minOccurs="0"/>
                <xsd:element ref="ns2:MediaServiceDateTaken" minOccurs="0"/>
                <xsd:element ref="ns2:MediaLengthInSecond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c642b00-82eb-4310-a86b-99343f535c9e" elementFormDefault="qualified">
    <xsd:import namespace="http://schemas.microsoft.com/office/2006/documentManagement/types"/>
    <xsd:import namespace="http://schemas.microsoft.com/office/infopath/2007/PartnerControls"/>
    <xsd:element name="lcf76f155ced4ddcb4097134ff3c332f" ma:index="9" nillable="true" ma:taxonomy="true" ma:internalName="lcf76f155ced4ddcb4097134ff3c332f" ma:taxonomyFieldName="MediaServiceImageTags" ma:displayName="Bildmarkierungen" ma:readOnly="false" ma:fieldId="{5cf76f15-5ced-4ddc-b409-7134ff3c332f}" ma:taxonomyMulti="true" ma:sspId="c6159e26-e387-4955-8c38-302e604e49cb" ma:termSetId="09814cd3-568e-fe90-9814-8d621ff8fb84" ma:anchorId="fba54fb3-c3e1-fe81-a776-ca4b69148c4d" ma:open="true" ma:isKeyword="false">
      <xsd:complexType>
        <xsd:sequence>
          <xsd:element ref="pc:Terms" minOccurs="0" maxOccurs="1"/>
        </xsd:sequence>
      </xsd:complexType>
    </xsd:element>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SearchProperties" ma:index="13" nillable="true" ma:displayName="MediaServiceSearchProperties" ma:hidden="true" ma:internalName="MediaServiceSearchProperties" ma:readOnly="true">
      <xsd:simpleType>
        <xsd:restriction base="dms:Note"/>
      </xsd:simpleType>
    </xsd:element>
    <xsd:element name="MediaServiceObjectDetectorVersions" ma:index="14" nillable="true" ma:displayName="MediaServiceObjectDetectorVersions" ma:hidden="true" ma:indexed="true" ma:internalName="MediaServiceObjectDetectorVersion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Details" ma:index="18" nillable="true" ma:displayName="Details" ma:description="Information regarding the content of files &amp; folders" ma:format="Dropdown" ma:internalName="Details">
      <xsd:simpleType>
        <xsd:restriction base="dms:Note">
          <xsd:maxLength value="255"/>
        </xsd:restriction>
      </xsd:simpleType>
    </xsd:element>
    <xsd:element name="MediaServiceDateTaken" ma:index="21" nillable="true" ma:displayName="MediaServiceDateTaken" ma:hidden="true" ma:indexed="true" ma:internalName="MediaServiceDateTaken" ma:readOnly="true">
      <xsd:simpleType>
        <xsd:restriction base="dms:Text"/>
      </xsd:simpleType>
    </xsd:element>
    <xsd:element name="MediaLengthInSeconds" ma:index="22" nillable="true" ma:displayName="MediaLengthInSeconds" ma:hidden="true" ma:internalName="MediaLengthInSeconds" ma:readOnly="true">
      <xsd:simpleType>
        <xsd:restriction base="dms:Unknown"/>
      </xsd:simpleType>
    </xsd:element>
    <xsd:element name="MediaServiceLocation" ma:index="23"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f36c8dc-9efc-4660-963f-c7e2f29c9f75" elementFormDefault="qualified">
    <xsd:import namespace="http://schemas.microsoft.com/office/2006/documentManagement/types"/>
    <xsd:import namespace="http://schemas.microsoft.com/office/infopath/2007/PartnerControls"/>
    <xsd:element name="TaxCatchAll" ma:index="10" nillable="true" ma:displayName="Taxonomy Catch All Column" ma:hidden="true" ma:list="{ae5e2c36-b0a9-43f1-af99-7d8809ee7206}" ma:internalName="TaxCatchAll" ma:showField="CatchAllData" ma:web="1f36c8dc-9efc-4660-963f-c7e2f29c9f75">
      <xsd:complexType>
        <xsd:complexContent>
          <xsd:extension base="dms:MultiChoiceLookup">
            <xsd:sequence>
              <xsd:element name="Value" type="dms:Lookup" maxOccurs="unbounded" minOccurs="0" nillable="true"/>
            </xsd:sequence>
          </xsd:extension>
        </xsd:complexContent>
      </xsd:complexType>
    </xsd:element>
    <xsd:element name="SharedWithUsers" ma:index="19" nillable="true" ma:displayName="Freigegeben für"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0" nillable="true" ma:displayName="Freigegeben für -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527B5BD-89C4-4E73-9ED1-1997DAC2DD89}">
  <ds:schemaRefs>
    <ds:schemaRef ds:uri="http://purl.org/dc/terms/"/>
    <ds:schemaRef ds:uri="http://purl.org/dc/dcmitype/"/>
    <ds:schemaRef ds:uri="http://www.w3.org/XML/1998/namespace"/>
    <ds:schemaRef ds:uri="http://purl.org/dc/elements/1.1/"/>
    <ds:schemaRef ds:uri="http://schemas.microsoft.com/office/infopath/2007/PartnerControls"/>
    <ds:schemaRef ds:uri="http://schemas.microsoft.com/office/2006/documentManagement/types"/>
    <ds:schemaRef ds:uri="http://schemas.openxmlformats.org/package/2006/metadata/core-properties"/>
    <ds:schemaRef ds:uri="1f36c8dc-9efc-4660-963f-c7e2f29c9f75"/>
    <ds:schemaRef ds:uri="9c642b00-82eb-4310-a86b-99343f535c9e"/>
    <ds:schemaRef ds:uri="http://schemas.microsoft.com/office/2006/metadata/properties"/>
  </ds:schemaRefs>
</ds:datastoreItem>
</file>

<file path=customXml/itemProps2.xml><?xml version="1.0" encoding="utf-8"?>
<ds:datastoreItem xmlns:ds="http://schemas.openxmlformats.org/officeDocument/2006/customXml" ds:itemID="{477A43B0-62E1-4117-AF8F-62E0E44E4A00}">
  <ds:schemaRefs>
    <ds:schemaRef ds:uri="http://schemas.microsoft.com/sharepoint/v3/contenttype/forms"/>
  </ds:schemaRefs>
</ds:datastoreItem>
</file>

<file path=customXml/itemProps3.xml><?xml version="1.0" encoding="utf-8"?>
<ds:datastoreItem xmlns:ds="http://schemas.openxmlformats.org/officeDocument/2006/customXml" ds:itemID="{0FCCE6CC-C213-4132-9BEB-CB6651B8708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c642b00-82eb-4310-a86b-99343f535c9e"/>
    <ds:schemaRef ds:uri="1f36c8dc-9efc-4660-963f-c7e2f29c9f7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0</TotalTime>
  <Words>1717</Words>
  <Application>Microsoft Office PowerPoint</Application>
  <PresentationFormat>Widescreen</PresentationFormat>
  <Paragraphs>112</Paragraphs>
  <Slides>27</Slides>
  <Notes>0</Notes>
  <HiddenSlides>0</HiddenSlides>
  <MMClips>0</MMClips>
  <ScaleCrop>false</ScaleCrop>
  <HeadingPairs>
    <vt:vector size="4" baseType="variant">
      <vt:variant>
        <vt:lpstr>Theme</vt:lpstr>
      </vt:variant>
      <vt:variant>
        <vt:i4>1</vt:i4>
      </vt:variant>
      <vt:variant>
        <vt:lpstr>Slide Titles</vt:lpstr>
      </vt:variant>
      <vt:variant>
        <vt:i4>27</vt:i4>
      </vt:variant>
    </vt:vector>
  </HeadingPairs>
  <TitlesOfParts>
    <vt:vector size="28" baseType="lpstr">
      <vt:lpstr>1_Office-téma</vt:lpstr>
      <vt:lpstr>ADOxx HowTo BPMN Modeling     PP2, HSRT </vt:lpstr>
      <vt:lpstr>Getting Started</vt:lpstr>
      <vt:lpstr>Getting Started</vt:lpstr>
      <vt:lpstr>Modeling BPMN</vt:lpstr>
      <vt:lpstr>Modeling BPMN</vt:lpstr>
      <vt:lpstr>Modeling BPMN</vt:lpstr>
      <vt:lpstr>Modeling BPMN</vt:lpstr>
      <vt:lpstr>Modeling BPMN</vt:lpstr>
      <vt:lpstr>Activities</vt:lpstr>
      <vt:lpstr>Events</vt:lpstr>
      <vt:lpstr>Gateways   ”The term “gateway” implies that there is a gating mechanism that either allows or disallows passage through the Gateway; that is, as tokens arrive at a Gateway, they can be merged together on input and/or split apart on output as the Gateway mechanisms are invoked.”</vt:lpstr>
      <vt:lpstr>Gateways   „Exclusive Gateway“  Data-based</vt:lpstr>
      <vt:lpstr>Gateways   „Exclusive Gateway“  Event-based</vt:lpstr>
      <vt:lpstr>Gateways   „Non-exclusive Gateways“  Inclusive</vt:lpstr>
      <vt:lpstr>Gateways   „Non-exclusive Gateways“  Parallel</vt:lpstr>
      <vt:lpstr>Gateways   „Non-exclusive Gateways“  Complex</vt:lpstr>
      <vt:lpstr>Gateways   „Non-exclusive Gateways (converging) “</vt:lpstr>
      <vt:lpstr>Gateways   „Non-exclusive Gateways (converging) “</vt:lpstr>
      <vt:lpstr>Simulation   Can help to answer the following questions:</vt:lpstr>
      <vt:lpstr>Simulation</vt:lpstr>
      <vt:lpstr>Simulation</vt:lpstr>
      <vt:lpstr>Simulation</vt:lpstr>
      <vt:lpstr>Simulation   Time &amp; Cost</vt:lpstr>
      <vt:lpstr>Simulation   Path Analysis</vt:lpstr>
      <vt:lpstr>Simulation   Path Analysis</vt:lpstr>
      <vt:lpstr>Simulation   Capacity &amp; Workload Analyses</vt:lpstr>
      <vt:lpstr>Further Information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DECIDE Integration Session  Training &amp; Workshop Concept</dc:title>
  <dc:creator>Tamara.Korovin@Reutlingen-University.DE</dc:creator>
  <cp:lastModifiedBy>Fauser, Jan</cp:lastModifiedBy>
  <cp:revision>34</cp:revision>
  <dcterms:created xsi:type="dcterms:W3CDTF">2024-11-17T20:36:29Z</dcterms:created>
  <dcterms:modified xsi:type="dcterms:W3CDTF">2025-07-19T11:50:03Z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0x010100BE60F93FC61461408EC6F41A83D095A7</vt:lpwstr>
  </property>
  <property fmtid="{D5CDD505-2E9C-101B-9397-08002B2CF9AE}" pid="3" name="MediaServiceImageTags">
    <vt:lpwstr/>
  </property>
</Properties>
</file>